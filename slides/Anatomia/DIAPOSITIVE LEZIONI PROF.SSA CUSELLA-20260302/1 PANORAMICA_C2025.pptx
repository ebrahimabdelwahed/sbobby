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57"/>
  </p:notesMasterIdLst>
  <p:handoutMasterIdLst>
    <p:handoutMasterId r:id="rId58"/>
  </p:handoutMasterIdLst>
  <p:sldIdLst>
    <p:sldId id="898" r:id="rId2"/>
    <p:sldId id="886" r:id="rId3"/>
    <p:sldId id="767" r:id="rId4"/>
    <p:sldId id="854" r:id="rId5"/>
    <p:sldId id="853" r:id="rId6"/>
    <p:sldId id="904" r:id="rId7"/>
    <p:sldId id="887" r:id="rId8"/>
    <p:sldId id="811" r:id="rId9"/>
    <p:sldId id="821" r:id="rId10"/>
    <p:sldId id="822" r:id="rId11"/>
    <p:sldId id="781" r:id="rId12"/>
    <p:sldId id="782" r:id="rId13"/>
    <p:sldId id="783" r:id="rId14"/>
    <p:sldId id="827" r:id="rId15"/>
    <p:sldId id="891" r:id="rId16"/>
    <p:sldId id="865" r:id="rId17"/>
    <p:sldId id="899" r:id="rId18"/>
    <p:sldId id="900" r:id="rId19"/>
    <p:sldId id="896" r:id="rId20"/>
    <p:sldId id="888" r:id="rId21"/>
    <p:sldId id="859" r:id="rId22"/>
    <p:sldId id="883" r:id="rId23"/>
    <p:sldId id="884" r:id="rId24"/>
    <p:sldId id="895" r:id="rId25"/>
    <p:sldId id="901" r:id="rId26"/>
    <p:sldId id="873" r:id="rId27"/>
    <p:sldId id="748" r:id="rId28"/>
    <p:sldId id="751" r:id="rId29"/>
    <p:sldId id="750" r:id="rId30"/>
    <p:sldId id="856" r:id="rId31"/>
    <p:sldId id="861" r:id="rId32"/>
    <p:sldId id="860" r:id="rId33"/>
    <p:sldId id="807" r:id="rId34"/>
    <p:sldId id="806" r:id="rId35"/>
    <p:sldId id="897" r:id="rId36"/>
    <p:sldId id="845" r:id="rId37"/>
    <p:sldId id="810" r:id="rId38"/>
    <p:sldId id="903" r:id="rId39"/>
    <p:sldId id="787" r:id="rId40"/>
    <p:sldId id="784" r:id="rId41"/>
    <p:sldId id="785" r:id="rId42"/>
    <p:sldId id="786" r:id="rId43"/>
    <p:sldId id="849" r:id="rId44"/>
    <p:sldId id="879" r:id="rId45"/>
    <p:sldId id="881" r:id="rId46"/>
    <p:sldId id="880" r:id="rId47"/>
    <p:sldId id="790" r:id="rId48"/>
    <p:sldId id="876" r:id="rId49"/>
    <p:sldId id="877" r:id="rId50"/>
    <p:sldId id="813" r:id="rId51"/>
    <p:sldId id="814" r:id="rId52"/>
    <p:sldId id="815" r:id="rId53"/>
    <p:sldId id="878" r:id="rId54"/>
    <p:sldId id="825" r:id="rId55"/>
    <p:sldId id="823" r:id="rId56"/>
  </p:sldIdLst>
  <p:sldSz cx="9144000" cy="6858000" type="screen4x3"/>
  <p:notesSz cx="6858000" cy="9144000"/>
  <p:custDataLst>
    <p:tags r:id="rId59"/>
  </p:custDataLst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0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60B2DB-D617-4127-9146-7DFB1CDE46F0}" v="79" dt="2024-09-29T17:21:37.6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82" autoAdjust="0"/>
    <p:restoredTop sz="93957" autoAdjust="0"/>
  </p:normalViewPr>
  <p:slideViewPr>
    <p:cSldViewPr>
      <p:cViewPr varScale="1">
        <p:scale>
          <a:sx n="113" d="100"/>
          <a:sy n="113" d="100"/>
        </p:scale>
        <p:origin x="154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40" d="100"/>
        <a:sy n="140" d="100"/>
      </p:scale>
      <p:origin x="0" y="-7944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8.xml"/><Relationship Id="rId2" Type="http://schemas.openxmlformats.org/officeDocument/2006/relationships/slide" Target="slides/slide17.xml"/><Relationship Id="rId1" Type="http://schemas.openxmlformats.org/officeDocument/2006/relationships/slide" Target="slides/slide16.xml"/><Relationship Id="rId5" Type="http://schemas.openxmlformats.org/officeDocument/2006/relationships/slide" Target="slides/slide26.xml"/><Relationship Id="rId4" Type="http://schemas.openxmlformats.org/officeDocument/2006/relationships/slide" Target="slides/slide2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6B54881-C9B0-4AA8-8CD4-37B98522F57F}" type="datetimeFigureOut">
              <a:rPr lang="it-IT"/>
              <a:pPr>
                <a:defRPr/>
              </a:pPr>
              <a:t>23/02/2026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7016BC1-F8C1-4000-A48F-AFC89C48C386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19251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2F4E7D0-10AC-4E60-B596-8270F2F1AE8A}" type="datetimeFigureOut">
              <a:rPr lang="it-IT"/>
              <a:pPr>
                <a:defRPr/>
              </a:pPr>
              <a:t>23/02/2026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noProof="0"/>
              <a:t>Fare clic per modificare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52C6A7B-718C-40C1-BDD7-16E4705EFD7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789200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t.wikipedia.org/wiki/Radiodensit%C3%A0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t.wikipedia.org/wiki/Radiodensit%C3%A0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QUAL’E’ LA CONVENZIONE PER LEGGERE LE «LASTRE» (RADIOGRAFIE!)?</a:t>
            </a:r>
          </a:p>
          <a:p>
            <a:endParaRPr lang="it-IT" dirty="0"/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osservi una lastra, ricordati che si tratta di un'immagine bidimensionale di una struttura tridimensionale. 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L’altezza e la larghezza vengono rispettate, ma si perde la profondità. </a:t>
            </a:r>
          </a:p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lato sinistro dell’immagine rappresenta il lato destro della persona, e viceversa. L’aria appare di colore nero, il grasso è grigio, i tessuti molli sono indicati con varie sfumature di grigio, le ossa e le protesi metalliche appaiono di colore bianco. Maggiore è la densità di un tessuto, più chiara è la sua immagine sulla lastra. I tessuti più densi sono radiopachi, mentre quelli meno densi sono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radiolucenti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 neri sulla lastra.</a:t>
            </a:r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C6A7B-718C-40C1-BDD7-16E4705EFD79}" type="slidenum">
              <a:rPr lang="it-IT" smtClean="0"/>
              <a:pPr>
                <a:defRPr/>
              </a:pPr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9605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lato sinistro dell’immagine rappresenta il lato destro della persona, e viceversa. L’aria appare di colore nero, il grasso è grigio, i tessuti molli sono indicati con varie sfumature di grigio, le ossa e le protesi metalliche appaiono di colore bianco. Maggiore è la densità, più chiara è la sua immagine sulla lastra. I tessuti più densi sono radiopachi, mentre quelli meno densi sono </a:t>
            </a:r>
            <a:r>
              <a:rPr lang="it-IT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radiolucenti</a:t>
            </a:r>
            <a:r>
              <a:rPr lang="it-IT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 neri sulla lastra.</a:t>
            </a:r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C6A7B-718C-40C1-BDD7-16E4705EFD79}" type="slidenum">
              <a:rPr lang="it-IT" smtClean="0"/>
              <a:pPr>
                <a:defRPr/>
              </a:pPr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87764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C6A7B-718C-40C1-BDD7-16E4705EFD79}" type="slidenum">
              <a:rPr lang="it-IT" smtClean="0"/>
              <a:pPr>
                <a:defRPr/>
              </a:pPr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79721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ALTRI PIANI APPOSITAMENTE CREATI E DIVENUTI POI CONVENZIONALI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C6A7B-718C-40C1-BDD7-16E4705EFD79}" type="slidenum">
              <a:rPr lang="it-IT" smtClean="0"/>
              <a:pPr>
                <a:defRPr/>
              </a:pPr>
              <a:t>11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29679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Trovare i limiti anatomici precisi!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C6A7B-718C-40C1-BDD7-16E4705EFD79}" type="slidenum">
              <a:rPr lang="it-IT" smtClean="0"/>
              <a:pPr>
                <a:defRPr/>
              </a:pPr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622327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2C6A7B-718C-40C1-BDD7-16E4705EFD79}" type="slidenum">
              <a:rPr lang="it-IT" smtClean="0"/>
              <a:pPr>
                <a:defRPr/>
              </a:pPr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5768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Fascia: strato di tessuto connettivo visibile all’atto della dissezione.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C6A7B-718C-40C1-BDD7-16E4705EFD79}" type="slidenum">
              <a:rPr lang="it-IT" smtClean="0"/>
              <a:pPr>
                <a:defRPr/>
              </a:pPr>
              <a:t>26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7401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it-IT" altLang="it-IT"/>
              <a:t>Importante per l’ESAME OBIETTIVO del paziente.</a:t>
            </a:r>
          </a:p>
        </p:txBody>
      </p:sp>
      <p:sp>
        <p:nvSpPr>
          <p:cNvPr id="40964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/>
            <a:fld id="{59FC5989-3A57-4308-81B6-ABBAA28A34C6}" type="slidenum">
              <a:rPr lang="it-IT" altLang="it-IT" smtClean="0"/>
              <a:pPr eaLnBrk="1" hangingPunct="1"/>
              <a:t>34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68533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2127-961B-4995-506F-130D15649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egnaposto immagine diapositiva 1">
            <a:extLst>
              <a:ext uri="{FF2B5EF4-FFF2-40B4-BE49-F238E27FC236}">
                <a16:creationId xmlns:a16="http://schemas.microsoft.com/office/drawing/2014/main" id="{E18108DA-35CF-1889-6885-76480AC0FC8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Segnaposto note 2">
            <a:extLst>
              <a:ext uri="{FF2B5EF4-FFF2-40B4-BE49-F238E27FC236}">
                <a16:creationId xmlns:a16="http://schemas.microsoft.com/office/drawing/2014/main" id="{F0347F1D-0F5E-4483-67E9-3C64568DCD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t-IT" altLang="it-IT" dirty="0"/>
          </a:p>
        </p:txBody>
      </p:sp>
      <p:sp>
        <p:nvSpPr>
          <p:cNvPr id="44036" name="Segnaposto numero diapositiva 3">
            <a:extLst>
              <a:ext uri="{FF2B5EF4-FFF2-40B4-BE49-F238E27FC236}">
                <a16:creationId xmlns:a16="http://schemas.microsoft.com/office/drawing/2014/main" id="{D1276F68-D85C-8924-2075-B0ECD8C35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29A1658-A065-40A7-898B-B718357F3265}" type="slidenum">
              <a:rPr lang="it-IT" altLang="it-IT" smtClean="0">
                <a:latin typeface="Tahoma" charset="0"/>
              </a:rPr>
              <a:pPr eaLnBrk="1" hangingPunct="1">
                <a:spcBef>
                  <a:spcPct val="0"/>
                </a:spcBef>
              </a:pPr>
              <a:t>38</a:t>
            </a:fld>
            <a:endParaRPr lang="it-IT" altLang="it-IT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800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egnaposto immagin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Segnaposto note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it-IT" altLang="it-IT" dirty="0"/>
          </a:p>
        </p:txBody>
      </p:sp>
      <p:sp>
        <p:nvSpPr>
          <p:cNvPr id="44036" name="Segnaposto numero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A29A1658-A065-40A7-898B-B718357F3265}" type="slidenum">
              <a:rPr lang="it-IT" altLang="it-IT" smtClean="0">
                <a:latin typeface="Tahoma" charset="0"/>
              </a:rPr>
              <a:pPr eaLnBrk="1" hangingPunct="1">
                <a:spcBef>
                  <a:spcPct val="0"/>
                </a:spcBef>
              </a:pPr>
              <a:t>54</a:t>
            </a:fld>
            <a:endParaRPr lang="it-IT" altLang="it-IT">
              <a:latin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755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7" descr="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0" y="5949950"/>
            <a:ext cx="8953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46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947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470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68313" y="1989138"/>
            <a:ext cx="4038600" cy="367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59313" y="1989138"/>
            <a:ext cx="4038600" cy="367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1653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58006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880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1511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877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2941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555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5394325"/>
          </a:xfrm>
          <a:prstGeom prst="rect">
            <a:avLst/>
          </a:prstGeom>
        </p:spPr>
        <p:txBody>
          <a:bodyPr vert="eaVert"/>
          <a:lstStyle/>
          <a:p>
            <a:r>
              <a:rPr lang="it-IT" dirty="0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535005"/>
            <a:ext cx="6029325" cy="5394325"/>
          </a:xfrm>
        </p:spPr>
        <p:txBody>
          <a:bodyPr vert="eaVert"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95233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785794"/>
            <a:ext cx="8240713" cy="5394325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2114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1_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677881"/>
            <a:ext cx="8240713" cy="5394325"/>
          </a:xfrm>
        </p:spPr>
        <p:txBody>
          <a:bodyPr/>
          <a:lstStyle/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65102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989138"/>
            <a:ext cx="8229600" cy="367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4820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4822" name="Text Box 6"/>
          <p:cNvSpPr txBox="1">
            <a:spLocks noChangeArrowheads="1"/>
          </p:cNvSpPr>
          <p:nvPr userDrawn="1"/>
        </p:nvSpPr>
        <p:spPr bwMode="auto">
          <a:xfrm>
            <a:off x="323850" y="115888"/>
            <a:ext cx="8496300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de-DE" sz="1400" i="1" dirty="0"/>
              <a:t>Michael </a:t>
            </a:r>
            <a:r>
              <a:rPr lang="de-DE" sz="1400" i="1" dirty="0" err="1"/>
              <a:t>Schüenke</a:t>
            </a:r>
            <a:r>
              <a:rPr lang="de-DE" sz="1400" i="1" dirty="0"/>
              <a:t>, Erik Schulte, Udo Schumacher </a:t>
            </a:r>
            <a:r>
              <a:rPr lang="it-IT" sz="1400" i="1" dirty="0"/>
              <a:t>– </a:t>
            </a:r>
            <a:r>
              <a:rPr lang="it-IT" sz="1400" i="1" dirty="0" err="1"/>
              <a:t>Prometheus</a:t>
            </a:r>
            <a:r>
              <a:rPr lang="it-IT" sz="1400" i="1" dirty="0"/>
              <a:t> - Testo Atlante di Anatomia  - </a:t>
            </a:r>
          </a:p>
          <a:p>
            <a:pPr algn="ctr">
              <a:spcBef>
                <a:spcPct val="50000"/>
              </a:spcBef>
              <a:defRPr/>
            </a:pPr>
            <a:r>
              <a:rPr lang="it-IT" sz="1400" i="1" dirty="0"/>
              <a:t>Anatomia Generale e Apparato Locomotore – Capitolo 1.1</a:t>
            </a:r>
          </a:p>
        </p:txBody>
      </p:sp>
      <p:pic>
        <p:nvPicPr>
          <p:cNvPr id="1030" name="Picture 8" descr="logo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700" y="5949950"/>
            <a:ext cx="8953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4205" r:id="rId1"/>
    <p:sldLayoutId id="2147484193" r:id="rId2"/>
    <p:sldLayoutId id="2147484194" r:id="rId3"/>
    <p:sldLayoutId id="2147484195" r:id="rId4"/>
    <p:sldLayoutId id="2147484196" r:id="rId5"/>
    <p:sldLayoutId id="2147484197" r:id="rId6"/>
    <p:sldLayoutId id="2147484198" r:id="rId7"/>
    <p:sldLayoutId id="2147484199" r:id="rId8"/>
    <p:sldLayoutId id="2147484200" r:id="rId9"/>
    <p:sldLayoutId id="2147484201" r:id="rId10"/>
    <p:sldLayoutId id="2147484202" r:id="rId11"/>
    <p:sldLayoutId id="2147484203" r:id="rId12"/>
    <p:sldLayoutId id="2147484204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13" Type="http://schemas.openxmlformats.org/officeDocument/2006/relationships/hyperlink" Target="http://www.google.it/url?sa=i&amp;rct=j&amp;q=&amp;esrc=s&amp;source=images&amp;cd=&amp;cad=rja&amp;uact=8&amp;ved=0ahUKEwj_7KPo48vPAhUBlBQKHWvgAc0QjRwIBw&amp;url=http://www.pmi.it/impresa/contabilita-e-fisco/news/129179/controlli-fiscali-in-pausa-estiva.html&amp;psig=AFQjCNE7_fGoO2bDGxWdTV3QiMozwwjz6g&amp;ust=1476034453443183" TargetMode="External"/><Relationship Id="rId3" Type="http://schemas.openxmlformats.org/officeDocument/2006/relationships/hyperlink" Target="http://www.google.it/url?sa=i&amp;rct=j&amp;q=&amp;esrc=s&amp;source=images&amp;cd=&amp;cad=rja&amp;uact=8&amp;ved=0ahUKEwivk_Tj4svPAhWDtBQKHaAaCT4QjRwIBw&amp;url=http://nonsolomusicaericette.it/pausa-caffe-immagini-bellissime-frasi/&amp;psig=AFQjCNE7_fGoO2bDGxWdTV3QiMozwwjz6g&amp;ust=1476034453443183" TargetMode="External"/><Relationship Id="rId7" Type="http://schemas.openxmlformats.org/officeDocument/2006/relationships/hyperlink" Target="http://www.google.it/url?sa=i&amp;rct=j&amp;q=&amp;esrc=s&amp;source=images&amp;cd=&amp;cad=rja&amp;uact=8&amp;ved=0ahUKEwjW_smd48vPAhVEQBQKHaR0BjQQjRwIBw&amp;url=http://it.123rf.com/clipart-vettori/pausa_caffe.html&amp;psig=AFQjCNE7_fGoO2bDGxWdTV3QiMozwwjz6g&amp;ust=1476034453443183" TargetMode="External"/><Relationship Id="rId12" Type="http://schemas.openxmlformats.org/officeDocument/2006/relationships/image" Target="../media/image6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eg"/><Relationship Id="rId11" Type="http://schemas.openxmlformats.org/officeDocument/2006/relationships/hyperlink" Target="http://www.google.it/url?sa=i&amp;rct=j&amp;q=&amp;esrc=s&amp;source=images&amp;cd=&amp;cad=rja&amp;uact=8&amp;ved=0ahUKEwjfldzN48vPAhVJuhQKHWYdC9UQjRwIBw&amp;url=http://scienzaesalute.blogosfere.it/post/500548/lavoro-la-pausa-caffe-aiuta-la-produttivita&amp;psig=AFQjCNE7_fGoO2bDGxWdTV3QiMozwwjz6g&amp;ust=1476034453443183" TargetMode="External"/><Relationship Id="rId5" Type="http://schemas.openxmlformats.org/officeDocument/2006/relationships/hyperlink" Target="http://www.google.it/url?sa=i&amp;rct=j&amp;q=&amp;esrc=s&amp;source=images&amp;cd=&amp;cad=rja&amp;uact=8&amp;ved=0ahUKEwivk_Tj4svPAhWDtBQKHaAaCT4QjRwIBw&amp;url=http://scelteperamore.myblog.it/&amp;psig=AFQjCNE7_fGoO2bDGxWdTV3QiMozwwjz6g&amp;ust=1476034453443183" TargetMode="External"/><Relationship Id="rId10" Type="http://schemas.openxmlformats.org/officeDocument/2006/relationships/image" Target="../media/image66.jpeg"/><Relationship Id="rId4" Type="http://schemas.openxmlformats.org/officeDocument/2006/relationships/image" Target="../media/image63.jpeg"/><Relationship Id="rId9" Type="http://schemas.openxmlformats.org/officeDocument/2006/relationships/hyperlink" Target="http://www.google.it/url?sa=i&amp;rct=j&amp;q=&amp;esrc=s&amp;source=images&amp;cd=&amp;cad=rja&amp;uact=8&amp;ved=0ahUKEwjqoK6u48vPAhXF6RQKHUemD0gQjRwIBw&amp;url=http://it.123rf.com/archivio-fotografico/pausa_caffe.html&amp;psig=AFQjCNE7_fGoO2bDGxWdTV3QiMozwwjz6g&amp;ust=1476034453443183" TargetMode="External"/><Relationship Id="rId14" Type="http://schemas.openxmlformats.org/officeDocument/2006/relationships/image" Target="../media/image6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jpeg"/><Relationship Id="rId13" Type="http://schemas.openxmlformats.org/officeDocument/2006/relationships/hyperlink" Target="http://www.google.it/url?sa=i&amp;rct=j&amp;q=&amp;esrc=s&amp;source=images&amp;cd=&amp;cad=rja&amp;uact=8&amp;ved=0ahUKEwj_7KPo48vPAhUBlBQKHWvgAc0QjRwIBw&amp;url=http://www.pmi.it/impresa/contabilita-e-fisco/news/129179/controlli-fiscali-in-pausa-estiva.html&amp;psig=AFQjCNE7_fGoO2bDGxWdTV3QiMozwwjz6g&amp;ust=1476034453443183" TargetMode="External"/><Relationship Id="rId3" Type="http://schemas.openxmlformats.org/officeDocument/2006/relationships/hyperlink" Target="http://www.google.it/url?sa=i&amp;rct=j&amp;q=&amp;esrc=s&amp;source=images&amp;cd=&amp;cad=rja&amp;uact=8&amp;ved=0ahUKEwivk_Tj4svPAhWDtBQKHaAaCT4QjRwIBw&amp;url=http://nonsolomusicaericette.it/pausa-caffe-immagini-bellissime-frasi/&amp;psig=AFQjCNE7_fGoO2bDGxWdTV3QiMozwwjz6g&amp;ust=1476034453443183" TargetMode="External"/><Relationship Id="rId7" Type="http://schemas.openxmlformats.org/officeDocument/2006/relationships/hyperlink" Target="http://www.google.it/url?sa=i&amp;rct=j&amp;q=&amp;esrc=s&amp;source=images&amp;cd=&amp;cad=rja&amp;uact=8&amp;ved=0ahUKEwjW_smd48vPAhVEQBQKHaR0BjQQjRwIBw&amp;url=http://it.123rf.com/clipart-vettori/pausa_caffe.html&amp;psig=AFQjCNE7_fGoO2bDGxWdTV3QiMozwwjz6g&amp;ust=1476034453443183" TargetMode="External"/><Relationship Id="rId12" Type="http://schemas.openxmlformats.org/officeDocument/2006/relationships/image" Target="../media/image6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jpeg"/><Relationship Id="rId11" Type="http://schemas.openxmlformats.org/officeDocument/2006/relationships/hyperlink" Target="http://www.google.it/url?sa=i&amp;rct=j&amp;q=&amp;esrc=s&amp;source=images&amp;cd=&amp;cad=rja&amp;uact=8&amp;ved=0ahUKEwjfldzN48vPAhVJuhQKHWYdC9UQjRwIBw&amp;url=http://scienzaesalute.blogosfere.it/post/500548/lavoro-la-pausa-caffe-aiuta-la-produttivita&amp;psig=AFQjCNE7_fGoO2bDGxWdTV3QiMozwwjz6g&amp;ust=1476034453443183" TargetMode="External"/><Relationship Id="rId5" Type="http://schemas.openxmlformats.org/officeDocument/2006/relationships/hyperlink" Target="http://www.google.it/url?sa=i&amp;rct=j&amp;q=&amp;esrc=s&amp;source=images&amp;cd=&amp;cad=rja&amp;uact=8&amp;ved=0ahUKEwivk_Tj4svPAhWDtBQKHaAaCT4QjRwIBw&amp;url=http://scelteperamore.myblog.it/&amp;psig=AFQjCNE7_fGoO2bDGxWdTV3QiMozwwjz6g&amp;ust=1476034453443183" TargetMode="External"/><Relationship Id="rId10" Type="http://schemas.openxmlformats.org/officeDocument/2006/relationships/image" Target="../media/image66.jpeg"/><Relationship Id="rId4" Type="http://schemas.openxmlformats.org/officeDocument/2006/relationships/image" Target="../media/image63.jpeg"/><Relationship Id="rId9" Type="http://schemas.openxmlformats.org/officeDocument/2006/relationships/hyperlink" Target="http://www.google.it/url?sa=i&amp;rct=j&amp;q=&amp;esrc=s&amp;source=images&amp;cd=&amp;cad=rja&amp;uact=8&amp;ved=0ahUKEwjqoK6u48vPAhXF6RQKHUemD0gQjRwIBw&amp;url=http://it.123rf.com/archivio-fotografico/pausa_caffe.html&amp;psig=AFQjCNE7_fGoO2bDGxWdTV3QiMozwwjz6g&amp;ust=1476034453443183" TargetMode="External"/><Relationship Id="rId14" Type="http://schemas.openxmlformats.org/officeDocument/2006/relationships/image" Target="../media/image68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B952A3A6-FF5C-8C36-C55F-2EC3840F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3068960"/>
            <a:ext cx="7772400" cy="1362075"/>
          </a:xfrm>
        </p:spPr>
        <p:txBody>
          <a:bodyPr/>
          <a:lstStyle/>
          <a:p>
            <a:pPr algn="ctr"/>
            <a:r>
              <a:rPr lang="it-IT" dirty="0">
                <a:solidFill>
                  <a:schemeClr val="tx1"/>
                </a:solidFill>
              </a:rPr>
              <a:t>CODICE: 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E840D359-5A7C-7F4B-AABF-5D1EE1FD7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1340768"/>
            <a:ext cx="7772400" cy="1500187"/>
          </a:xfrm>
        </p:spPr>
        <p:txBody>
          <a:bodyPr/>
          <a:lstStyle/>
          <a:p>
            <a:pPr algn="ctr"/>
            <a:r>
              <a:rPr lang="it-IT" sz="4800" dirty="0"/>
              <a:t>RILEVAZIONE PRESENZE</a:t>
            </a:r>
          </a:p>
        </p:txBody>
      </p:sp>
    </p:spTree>
    <p:extLst>
      <p:ext uri="{BB962C8B-B14F-4D97-AF65-F5344CB8AC3E}">
        <p14:creationId xmlns:p14="http://schemas.microsoft.com/office/powerpoint/2010/main" val="630839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198" y="260648"/>
            <a:ext cx="8229600" cy="576064"/>
          </a:xfrm>
        </p:spPr>
        <p:txBody>
          <a:bodyPr/>
          <a:lstStyle/>
          <a:p>
            <a:r>
              <a:rPr lang="it-IT" sz="3200" dirty="0">
                <a:effectLst/>
              </a:rPr>
              <a:t>ANATOMIA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809580" y="980728"/>
            <a:ext cx="7524837" cy="5400600"/>
          </a:xfrm>
        </p:spPr>
        <p:txBody>
          <a:bodyPr/>
          <a:lstStyle/>
          <a:p>
            <a:pPr marL="0" indent="0">
              <a:buNone/>
            </a:pPr>
            <a:r>
              <a:rPr lang="it-IT" sz="1800" dirty="0">
                <a:effectLst/>
              </a:rPr>
              <a:t>Studio della </a:t>
            </a:r>
            <a:r>
              <a:rPr lang="it-IT" sz="1800" b="1" dirty="0">
                <a:solidFill>
                  <a:srgbClr val="FFFF00"/>
                </a:solidFill>
                <a:effectLst/>
              </a:rPr>
              <a:t>forma</a:t>
            </a:r>
            <a:r>
              <a:rPr lang="it-IT" sz="1800" dirty="0">
                <a:effectLst/>
              </a:rPr>
              <a:t> e della </a:t>
            </a:r>
            <a:r>
              <a:rPr lang="it-IT" sz="1800" b="1" dirty="0">
                <a:solidFill>
                  <a:srgbClr val="FFFF00"/>
                </a:solidFill>
                <a:effectLst/>
              </a:rPr>
              <a:t>struttura</a:t>
            </a:r>
            <a:r>
              <a:rPr lang="it-IT" sz="1800" dirty="0">
                <a:effectLst/>
              </a:rPr>
              <a:t> del corpo umano.</a:t>
            </a:r>
          </a:p>
          <a:p>
            <a:pPr marL="0" indent="0">
              <a:buNone/>
            </a:pPr>
            <a:endParaRPr lang="it-IT" sz="1800" dirty="0">
              <a:effectLst/>
            </a:endParaRPr>
          </a:p>
          <a:p>
            <a:pPr marL="0" indent="0" algn="ctr">
              <a:buNone/>
            </a:pPr>
            <a:r>
              <a:rPr lang="it-IT" sz="1800" dirty="0">
                <a:effectLst/>
              </a:rPr>
              <a:t>	In base ai </a:t>
            </a:r>
            <a:r>
              <a:rPr lang="it-IT" sz="1800" b="1" dirty="0">
                <a:effectLst/>
              </a:rPr>
              <a:t>metodi</a:t>
            </a:r>
            <a:r>
              <a:rPr lang="it-IT" sz="1800" dirty="0">
                <a:effectLst/>
              </a:rPr>
              <a:t> e alle </a:t>
            </a:r>
            <a:r>
              <a:rPr lang="it-IT" sz="1800" b="1" dirty="0">
                <a:effectLst/>
              </a:rPr>
              <a:t>finalità distingue in:</a:t>
            </a:r>
          </a:p>
          <a:p>
            <a:pPr marL="0" indent="0">
              <a:buNone/>
            </a:pPr>
            <a:endParaRPr lang="it-IT" sz="1800" dirty="0">
              <a:effectLst/>
            </a:endParaRPr>
          </a:p>
          <a:p>
            <a:pPr marL="0" indent="0">
              <a:buNone/>
            </a:pPr>
            <a:r>
              <a:rPr lang="it-IT" sz="1800" b="1" dirty="0">
                <a:effectLst/>
              </a:rPr>
              <a:t>- </a:t>
            </a:r>
            <a:r>
              <a:rPr lang="it-IT" sz="1800" b="1" dirty="0">
                <a:solidFill>
                  <a:srgbClr val="FFFF00"/>
                </a:solidFill>
                <a:effectLst/>
              </a:rPr>
              <a:t>SISTEMATICA</a:t>
            </a:r>
            <a:r>
              <a:rPr lang="it-IT" sz="1800" dirty="0">
                <a:effectLst/>
              </a:rPr>
              <a:t>: conformazione dei diversi organi e apparati del corpo</a:t>
            </a:r>
          </a:p>
          <a:p>
            <a:pPr marL="0" indent="0">
              <a:buNone/>
            </a:pPr>
            <a:r>
              <a:rPr lang="it-IT" sz="1800" dirty="0">
                <a:effectLst/>
              </a:rPr>
              <a:t>   </a:t>
            </a:r>
            <a:endParaRPr lang="it-IT" sz="1800" b="1" dirty="0">
              <a:effectLst/>
            </a:endParaRPr>
          </a:p>
          <a:p>
            <a:pPr marL="0" indent="0">
              <a:buNone/>
            </a:pPr>
            <a:r>
              <a:rPr lang="it-IT" sz="1800" b="1" dirty="0">
                <a:effectLst/>
              </a:rPr>
              <a:t>- </a:t>
            </a:r>
            <a:r>
              <a:rPr lang="it-IT" sz="1800" b="1" dirty="0">
                <a:solidFill>
                  <a:srgbClr val="FFFF00"/>
                </a:solidFill>
                <a:effectLst/>
              </a:rPr>
              <a:t>MACROSCOPICA</a:t>
            </a:r>
            <a:r>
              <a:rPr lang="it-IT" sz="1800" dirty="0">
                <a:effectLst/>
              </a:rPr>
              <a:t>:</a:t>
            </a:r>
            <a:r>
              <a:rPr lang="it-IT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it-IT" sz="1800" dirty="0">
                <a:effectLst/>
              </a:rPr>
              <a:t>(a occhio nudo): Forma, colore, consistenza,</a:t>
            </a:r>
          </a:p>
          <a:p>
            <a:pPr>
              <a:buFontTx/>
              <a:buChar char="-"/>
            </a:pPr>
            <a:r>
              <a:rPr lang="it-IT" sz="1800" dirty="0">
                <a:effectLst/>
              </a:rPr>
              <a:t>Struttura.  </a:t>
            </a:r>
            <a:r>
              <a:rPr lang="it-IT" sz="1800" dirty="0">
                <a:solidFill>
                  <a:srgbClr val="FFFF00"/>
                </a:solidFill>
                <a:effectLst/>
              </a:rPr>
              <a:t>ESAME OBIETTIVO / MEDICINA LEGALE</a:t>
            </a:r>
          </a:p>
          <a:p>
            <a:pPr marL="0" indent="0">
              <a:buNone/>
            </a:pPr>
            <a:endParaRPr lang="it-IT" sz="1800" dirty="0">
              <a:effectLst/>
            </a:endParaRPr>
          </a:p>
          <a:p>
            <a:pPr marL="0" indent="0">
              <a:buNone/>
            </a:pPr>
            <a:r>
              <a:rPr lang="it-IT" sz="1800" b="1" dirty="0">
                <a:effectLst/>
              </a:rPr>
              <a:t>- </a:t>
            </a:r>
            <a:r>
              <a:rPr lang="it-IT" sz="1800" b="1" dirty="0">
                <a:solidFill>
                  <a:srgbClr val="FFFF00"/>
                </a:solidFill>
                <a:effectLst/>
              </a:rPr>
              <a:t>MICROSCOPICA</a:t>
            </a:r>
            <a:r>
              <a:rPr lang="it-IT" sz="1800" b="1" dirty="0">
                <a:effectLst/>
              </a:rPr>
              <a:t>:</a:t>
            </a:r>
            <a:r>
              <a:rPr lang="it-IT" sz="1800" dirty="0">
                <a:effectLst/>
              </a:rPr>
              <a:t> cellula «specializzata», tessuti, organo</a:t>
            </a:r>
            <a:r>
              <a:rPr lang="it-IT" sz="1800" b="1" dirty="0">
                <a:effectLst/>
              </a:rPr>
              <a:t>. </a:t>
            </a:r>
          </a:p>
          <a:p>
            <a:pPr marL="0" indent="0">
              <a:buNone/>
            </a:pPr>
            <a:r>
              <a:rPr lang="it-IT" sz="1800" b="1" dirty="0">
                <a:effectLst/>
              </a:rPr>
              <a:t>		</a:t>
            </a:r>
            <a:r>
              <a:rPr lang="it-IT" sz="1800" dirty="0">
                <a:solidFill>
                  <a:srgbClr val="FFFF00"/>
                </a:solidFill>
                <a:effectLst/>
              </a:rPr>
              <a:t>ANAT. PATOLOGICA, FARMACOLOGIA</a:t>
            </a:r>
          </a:p>
          <a:p>
            <a:pPr marL="0" indent="0">
              <a:buNone/>
            </a:pPr>
            <a:r>
              <a:rPr lang="it-IT" sz="1800" dirty="0">
                <a:effectLst/>
              </a:rPr>
              <a:t>				</a:t>
            </a:r>
            <a:endParaRPr lang="it-IT" sz="1800" b="1" dirty="0">
              <a:effectLst/>
            </a:endParaRPr>
          </a:p>
          <a:p>
            <a:pPr marL="0" indent="0">
              <a:buNone/>
            </a:pPr>
            <a:r>
              <a:rPr lang="it-IT" sz="1800" b="1" dirty="0">
                <a:effectLst/>
              </a:rPr>
              <a:t>- </a:t>
            </a:r>
            <a:r>
              <a:rPr lang="it-IT" sz="1800" b="1" dirty="0">
                <a:solidFill>
                  <a:srgbClr val="FFFF00"/>
                </a:solidFill>
                <a:effectLst/>
              </a:rPr>
              <a:t>TOPOGRAFICA</a:t>
            </a:r>
            <a:r>
              <a:rPr lang="it-IT" sz="1800" b="1" dirty="0">
                <a:effectLst/>
              </a:rPr>
              <a:t>: </a:t>
            </a:r>
            <a:r>
              <a:rPr lang="it-IT" sz="1800" dirty="0">
                <a:effectLst/>
              </a:rPr>
              <a:t>sede, rapporti. </a:t>
            </a:r>
            <a:r>
              <a:rPr lang="it-IT" sz="1800" b="1" dirty="0">
                <a:effectLst/>
              </a:rPr>
              <a:t>REGIONI DEL CORPO.</a:t>
            </a:r>
          </a:p>
          <a:p>
            <a:pPr>
              <a:buFontTx/>
              <a:buChar char="-"/>
            </a:pPr>
            <a:r>
              <a:rPr lang="it-IT" sz="1800" b="1" dirty="0">
                <a:effectLst/>
              </a:rPr>
              <a:t>                                      </a:t>
            </a:r>
            <a:r>
              <a:rPr lang="it-IT" sz="1800" dirty="0">
                <a:solidFill>
                  <a:srgbClr val="FFFF00"/>
                </a:solidFill>
                <a:effectLst/>
              </a:rPr>
              <a:t>SEMEIOTICA MEDICA, CHIRURGIA</a:t>
            </a:r>
          </a:p>
          <a:p>
            <a:pPr marL="0" indent="0">
              <a:buNone/>
            </a:pPr>
            <a:endParaRPr lang="it-IT" sz="1800" dirty="0">
              <a:effectLst/>
            </a:endParaRPr>
          </a:p>
          <a:p>
            <a:pPr marL="0" indent="0">
              <a:buNone/>
            </a:pPr>
            <a:r>
              <a:rPr lang="it-IT" sz="1800" b="1" dirty="0">
                <a:solidFill>
                  <a:srgbClr val="FFFF00"/>
                </a:solidFill>
                <a:effectLst/>
              </a:rPr>
              <a:t>BASI FISIOPATOLOGICHE DELLE MALATTIE</a:t>
            </a:r>
          </a:p>
          <a:p>
            <a:pPr marL="0" indent="0">
              <a:buNone/>
            </a:pPr>
            <a:endParaRPr lang="it-IT" sz="1800" dirty="0">
              <a:solidFill>
                <a:srgbClr val="FFFF00"/>
              </a:solidFill>
              <a:effectLst/>
            </a:endParaRPr>
          </a:p>
          <a:p>
            <a:pPr marL="0" indent="0">
              <a:buNone/>
            </a:pPr>
            <a:endParaRPr lang="it-IT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70315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3" descr="0104.gif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0" t="44547" r="6895" b="12546"/>
          <a:stretch/>
        </p:blipFill>
        <p:spPr>
          <a:xfrm>
            <a:off x="530417" y="1052736"/>
            <a:ext cx="8270633" cy="4824536"/>
          </a:xfrm>
        </p:spPr>
      </p:pic>
      <p:pic>
        <p:nvPicPr>
          <p:cNvPr id="2" name="Immagin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882" y="2236279"/>
            <a:ext cx="971550" cy="1228725"/>
          </a:xfrm>
          <a:prstGeom prst="rect">
            <a:avLst/>
          </a:prstGeom>
        </p:spPr>
      </p:pic>
      <p:sp>
        <p:nvSpPr>
          <p:cNvPr id="3" name="Freccia in giù 2">
            <a:extLst>
              <a:ext uri="{FF2B5EF4-FFF2-40B4-BE49-F238E27FC236}">
                <a16:creationId xmlns:a16="http://schemas.microsoft.com/office/drawing/2014/main" id="{B49CD211-2E89-A1A4-7558-F2CE960794CB}"/>
              </a:ext>
            </a:extLst>
          </p:cNvPr>
          <p:cNvSpPr/>
          <p:nvPr/>
        </p:nvSpPr>
        <p:spPr>
          <a:xfrm rot="10800000">
            <a:off x="251521" y="692696"/>
            <a:ext cx="484632" cy="5184576"/>
          </a:xfrm>
          <a:prstGeom prst="downArrow">
            <a:avLst>
              <a:gd name="adj1" fmla="val 34906"/>
              <a:gd name="adj2" fmla="val 7264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F41F7C7-06D0-F7A0-2535-C740FF710073}"/>
              </a:ext>
            </a:extLst>
          </p:cNvPr>
          <p:cNvSpPr/>
          <p:nvPr/>
        </p:nvSpPr>
        <p:spPr>
          <a:xfrm>
            <a:off x="5148064" y="6021288"/>
            <a:ext cx="3652986" cy="36004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it-IT" sz="1600" i="1" dirty="0">
                <a:solidFill>
                  <a:schemeClr val="tx1"/>
                </a:solidFill>
              </a:rPr>
              <a:t>Martini, Anatomia Umana, EDISES</a:t>
            </a:r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57C1625F-48C6-4EA0-DADC-9CDA8B14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260648"/>
            <a:ext cx="8229600" cy="576064"/>
          </a:xfrm>
        </p:spPr>
        <p:txBody>
          <a:bodyPr/>
          <a:lstStyle/>
          <a:p>
            <a:r>
              <a:rPr lang="it-IT" sz="3200" dirty="0">
                <a:effectLst/>
              </a:rPr>
              <a:t>DIMENSIONI / ORGANIZZAZIONE</a:t>
            </a:r>
          </a:p>
        </p:txBody>
      </p:sp>
    </p:spTree>
    <p:extLst>
      <p:ext uri="{BB962C8B-B14F-4D97-AF65-F5344CB8AC3E}">
        <p14:creationId xmlns:p14="http://schemas.microsoft.com/office/powerpoint/2010/main" val="191384170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3" descr="0104.gif"/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2" t="1641" r="7095" b="48438"/>
          <a:stretch/>
        </p:blipFill>
        <p:spPr>
          <a:xfrm>
            <a:off x="578360" y="260648"/>
            <a:ext cx="8206135" cy="5616624"/>
          </a:xfrm>
        </p:spPr>
      </p:pic>
      <p:pic>
        <p:nvPicPr>
          <p:cNvPr id="7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51" y="260647"/>
            <a:ext cx="5432609" cy="576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reccia in giù 1">
            <a:extLst>
              <a:ext uri="{FF2B5EF4-FFF2-40B4-BE49-F238E27FC236}">
                <a16:creationId xmlns:a16="http://schemas.microsoft.com/office/drawing/2014/main" id="{CC63668C-441B-E220-78B5-BC23A2118C97}"/>
              </a:ext>
            </a:extLst>
          </p:cNvPr>
          <p:cNvSpPr/>
          <p:nvPr/>
        </p:nvSpPr>
        <p:spPr>
          <a:xfrm rot="10800000">
            <a:off x="323529" y="1268759"/>
            <a:ext cx="484632" cy="4608512"/>
          </a:xfrm>
          <a:prstGeom prst="downArrow">
            <a:avLst>
              <a:gd name="adj1" fmla="val 34906"/>
              <a:gd name="adj2" fmla="val 7264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27F4FF04-ECFF-0A3F-9197-CF91C78D0CE7}"/>
              </a:ext>
            </a:extLst>
          </p:cNvPr>
          <p:cNvSpPr/>
          <p:nvPr/>
        </p:nvSpPr>
        <p:spPr>
          <a:xfrm>
            <a:off x="5508104" y="6093296"/>
            <a:ext cx="3276391" cy="28803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it-IT" sz="1200" i="1" dirty="0">
                <a:solidFill>
                  <a:schemeClr val="tx1"/>
                </a:solidFill>
              </a:rPr>
              <a:t>Martini, Anatomia Umana, EDISES</a:t>
            </a:r>
          </a:p>
        </p:txBody>
      </p:sp>
      <p:sp>
        <p:nvSpPr>
          <p:cNvPr id="4" name="Titolo 4">
            <a:extLst>
              <a:ext uri="{FF2B5EF4-FFF2-40B4-BE49-F238E27FC236}">
                <a16:creationId xmlns:a16="http://schemas.microsoft.com/office/drawing/2014/main" id="{9308E2FE-850D-D105-6573-3BC84E3CE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3888" y="5157192"/>
            <a:ext cx="5184576" cy="720080"/>
          </a:xfrm>
          <a:solidFill>
            <a:schemeClr val="tx1"/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it-IT" sz="3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ANATOMIA SISTEMATICA</a:t>
            </a:r>
          </a:p>
        </p:txBody>
      </p:sp>
    </p:spTree>
    <p:extLst>
      <p:ext uri="{BB962C8B-B14F-4D97-AF65-F5344CB8AC3E}">
        <p14:creationId xmlns:p14="http://schemas.microsoft.com/office/powerpoint/2010/main" val="271093349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199" y="44624"/>
            <a:ext cx="8229600" cy="576064"/>
          </a:xfrm>
        </p:spPr>
        <p:txBody>
          <a:bodyPr/>
          <a:lstStyle/>
          <a:p>
            <a:r>
              <a:rPr lang="it-IT" sz="3200" dirty="0">
                <a:effectLst/>
              </a:rPr>
              <a:t>ANATOMIA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1043609" y="692696"/>
            <a:ext cx="7416823" cy="2160240"/>
          </a:xfrm>
        </p:spPr>
        <p:txBody>
          <a:bodyPr/>
          <a:lstStyle/>
          <a:p>
            <a:pPr marL="0" indent="0">
              <a:buNone/>
            </a:pPr>
            <a:r>
              <a:rPr lang="it-IT" sz="2000" b="1" dirty="0">
                <a:solidFill>
                  <a:srgbClr val="FFFF00"/>
                </a:solidFill>
                <a:effectLst/>
              </a:rPr>
              <a:t>FUNZIONALE</a:t>
            </a:r>
            <a:r>
              <a:rPr lang="it-IT" sz="2000" b="1" dirty="0">
                <a:effectLst/>
              </a:rPr>
              <a:t>: </a:t>
            </a:r>
            <a:r>
              <a:rPr lang="it-IT" sz="2000" dirty="0">
                <a:effectLst/>
              </a:rPr>
              <a:t>conformazione di ossa, superfici articolari.</a:t>
            </a:r>
          </a:p>
          <a:p>
            <a:pPr marL="0" indent="0">
              <a:buNone/>
            </a:pPr>
            <a:r>
              <a:rPr lang="it-IT" sz="2000" dirty="0">
                <a:effectLst/>
              </a:rPr>
              <a:t>			</a:t>
            </a:r>
            <a:r>
              <a:rPr lang="it-IT" sz="2000" b="1" dirty="0">
                <a:effectLst/>
              </a:rPr>
              <a:t>Biomeccanica del movimento</a:t>
            </a:r>
            <a:r>
              <a:rPr lang="it-IT" sz="2000" dirty="0">
                <a:effectLst/>
              </a:rPr>
              <a:t>.</a:t>
            </a:r>
          </a:p>
          <a:p>
            <a:pPr marL="0" indent="0">
              <a:buNone/>
            </a:pPr>
            <a:endParaRPr lang="it-IT" sz="2000" dirty="0">
              <a:effectLst/>
            </a:endParaRPr>
          </a:p>
          <a:p>
            <a:pPr marL="0" indent="0">
              <a:buNone/>
            </a:pPr>
            <a:r>
              <a:rPr lang="it-IT" sz="2000" b="1" dirty="0">
                <a:effectLst/>
              </a:rPr>
              <a:t>LA FORMA E’ FUNZIONE:</a:t>
            </a:r>
            <a:endParaRPr lang="it-IT" sz="2000" dirty="0">
              <a:effectLst/>
            </a:endParaRPr>
          </a:p>
          <a:p>
            <a:pPr marL="0" indent="0">
              <a:buNone/>
            </a:pPr>
            <a:endParaRPr lang="it-IT" sz="2000" dirty="0">
              <a:effectLst/>
            </a:endParaRPr>
          </a:p>
          <a:p>
            <a:pPr marL="0" indent="0">
              <a:buNone/>
            </a:pPr>
            <a:endParaRPr lang="it-IT" sz="2000" dirty="0">
              <a:effectLst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1A5AB46-0B09-F9E5-E1DC-F878D70AC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628800"/>
            <a:ext cx="1047949" cy="110941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023D27BE-A8CA-1A9A-8915-43EE88AFA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005" y="1628800"/>
            <a:ext cx="1152128" cy="111372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3AB0432-8883-BC69-A9FB-477A06113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551" y="2996952"/>
            <a:ext cx="2230545" cy="317792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F5828C6-D3EF-FEF1-293C-57BED927E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054" y="2996952"/>
            <a:ext cx="3782293" cy="318551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8870F946-5DB9-FE53-1115-190D926669C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886"/>
          <a:stretch/>
        </p:blipFill>
        <p:spPr>
          <a:xfrm>
            <a:off x="955479" y="2996953"/>
            <a:ext cx="1904381" cy="3185513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61A2400F-6F47-88B2-0850-CA420971C90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81097"/>
          <a:stretch/>
        </p:blipFill>
        <p:spPr>
          <a:xfrm>
            <a:off x="188839" y="2996952"/>
            <a:ext cx="854770" cy="3185513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A0227A1-F06B-AC34-6CAE-551E4AC32AE1}"/>
              </a:ext>
            </a:extLst>
          </p:cNvPr>
          <p:cNvSpPr/>
          <p:nvPr/>
        </p:nvSpPr>
        <p:spPr>
          <a:xfrm>
            <a:off x="4752020" y="6309320"/>
            <a:ext cx="3652986" cy="36004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it-IT" sz="1600" i="1" dirty="0">
                <a:solidFill>
                  <a:schemeClr val="tx1"/>
                </a:solidFill>
              </a:rPr>
              <a:t>Da  qualche sito WEB…  </a:t>
            </a:r>
          </a:p>
        </p:txBody>
      </p:sp>
      <p:pic>
        <p:nvPicPr>
          <p:cNvPr id="8" name="Immagine 7" descr="Immagine che contiene sorridente, emoticon, giallo, giocattolo&#10;&#10;Descrizione generata automaticamente">
            <a:extLst>
              <a:ext uri="{FF2B5EF4-FFF2-40B4-BE49-F238E27FC236}">
                <a16:creationId xmlns:a16="http://schemas.microsoft.com/office/drawing/2014/main" id="{2F2EB7DD-3373-10B5-2C58-A959FA951D4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4782" y="6225389"/>
            <a:ext cx="899592" cy="5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32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4">
            <a:extLst>
              <a:ext uri="{FF2B5EF4-FFF2-40B4-BE49-F238E27FC236}">
                <a16:creationId xmlns:a16="http://schemas.microsoft.com/office/drawing/2014/main" id="{3BBA1C4E-AB52-3C41-2BB8-84B8CD05F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622"/>
            <a:ext cx="8229600" cy="778098"/>
          </a:xfrm>
        </p:spPr>
        <p:txBody>
          <a:bodyPr/>
          <a:lstStyle/>
          <a:p>
            <a:r>
              <a:rPr lang="it-IT" sz="4000" dirty="0"/>
              <a:t>ANATOMIA TOPOGRAFICA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98DBB42-1750-52A2-6686-218EBE7090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528" y="1052736"/>
            <a:ext cx="8496944" cy="51706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altLang="it-IT" sz="28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(o </a:t>
            </a:r>
            <a:r>
              <a:rPr kumimoji="0" lang="it-IT" altLang="it-IT" sz="28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REGIONALE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) studia Posizione, Rapporti spaziali e Proiezione sulla superficie corporea di organi e strutture, suddividendo il corpo in </a:t>
            </a:r>
            <a:r>
              <a:rPr kumimoji="0" lang="it-IT" altLang="it-IT" sz="28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REGIONI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it-IT" altLang="it-IT" sz="2800" b="1" dirty="0">
                <a:effectLst/>
                <a:latin typeface="Google Sans"/>
              </a:rPr>
              <a:t>P</a:t>
            </a:r>
            <a:r>
              <a:rPr kumimoji="0" lang="it-IT" altLang="it-IT" sz="28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unti di repere: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 auscultazione, palpazione.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8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Approccio Stratigrafico: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cute, tessuto sottocutaneo, fasce, muscoli, ossa e cavità interne.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8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Rapporti Anatomici: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Descrive la posizione reciproca delle strutture (cosa si trova sopra, sotto, accanto a un organo).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it-IT" altLang="it-IT" sz="2800" b="1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Applicazione Medica: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 indispensabile per medici e chirurghi,</a:t>
            </a:r>
            <a:r>
              <a:rPr kumimoji="0" lang="it-IT" altLang="it-IT" sz="2800" b="0" i="0" u="none" strike="noStrike" cap="none" normalizeH="0" dirty="0">
                <a:ln>
                  <a:noFill/>
                </a:ln>
                <a:effectLst/>
                <a:latin typeface="Google Sans"/>
              </a:rPr>
              <a:t> </a:t>
            </a:r>
            <a:r>
              <a:rPr kumimoji="0" lang="it-IT" altLang="it-IT" sz="28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per identificare vie d'accesso chirurgiche, localizzare formazioni vascolari o nervose e interpretare immagini diagnostiche (TAC, risonanza).</a:t>
            </a:r>
            <a:endParaRPr kumimoji="0" lang="it-IT" altLang="it-IT" sz="28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55626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199" y="332656"/>
            <a:ext cx="8229600" cy="576064"/>
          </a:xfrm>
        </p:spPr>
        <p:txBody>
          <a:bodyPr/>
          <a:lstStyle/>
          <a:p>
            <a:r>
              <a:rPr lang="it-IT" sz="3200" dirty="0">
                <a:effectLst/>
              </a:rPr>
              <a:t>ANATOMIA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1"/>
          </p:nvPr>
        </p:nvSpPr>
        <p:spPr>
          <a:xfrm>
            <a:off x="1043609" y="1196752"/>
            <a:ext cx="7416823" cy="5184576"/>
          </a:xfrm>
        </p:spPr>
        <p:txBody>
          <a:bodyPr/>
          <a:lstStyle/>
          <a:p>
            <a:pPr marL="0" indent="0">
              <a:buNone/>
            </a:pPr>
            <a:r>
              <a:rPr lang="it-IT" sz="2000" dirty="0">
                <a:effectLst/>
              </a:rPr>
              <a:t>PUNTI DI REPERE: </a:t>
            </a:r>
            <a:r>
              <a:rPr lang="it-IT" sz="2000" b="1" dirty="0">
                <a:solidFill>
                  <a:srgbClr val="FFFF00"/>
                </a:solidFill>
                <a:effectLst/>
              </a:rPr>
              <a:t>SEMEIOTICA</a:t>
            </a:r>
            <a:r>
              <a:rPr lang="it-IT" sz="2000" dirty="0">
                <a:effectLst/>
              </a:rPr>
              <a:t> </a:t>
            </a:r>
            <a:r>
              <a:rPr lang="it-IT" sz="2000" dirty="0">
                <a:solidFill>
                  <a:srgbClr val="FFFF00"/>
                </a:solidFill>
                <a:effectLst/>
              </a:rPr>
              <a:t>clinica, chirurgica</a:t>
            </a:r>
          </a:p>
          <a:p>
            <a:pPr marL="0" indent="0">
              <a:buNone/>
            </a:pPr>
            <a:endParaRPr lang="it-IT" sz="2000" dirty="0">
              <a:effectLst/>
            </a:endParaRPr>
          </a:p>
          <a:p>
            <a:pPr marL="0" indent="0">
              <a:buNone/>
            </a:pPr>
            <a:endParaRPr lang="it-IT" sz="2000" b="1" dirty="0">
              <a:effectLst/>
            </a:endParaRPr>
          </a:p>
          <a:p>
            <a:pPr marL="0" indent="0">
              <a:buNone/>
            </a:pPr>
            <a:endParaRPr lang="it-IT" sz="2000" b="1" dirty="0">
              <a:effectLst/>
            </a:endParaRPr>
          </a:p>
          <a:p>
            <a:pPr marL="0" indent="0">
              <a:buNone/>
            </a:pPr>
            <a:endParaRPr lang="it-IT" sz="2000" b="1" dirty="0">
              <a:effectLst/>
            </a:endParaRPr>
          </a:p>
          <a:p>
            <a:pPr marL="0" indent="0">
              <a:buNone/>
            </a:pPr>
            <a:endParaRPr lang="it-IT" sz="2000" b="1" dirty="0">
              <a:effectLst/>
            </a:endParaRPr>
          </a:p>
          <a:p>
            <a:pPr marL="0" indent="0">
              <a:buNone/>
            </a:pPr>
            <a:endParaRPr lang="it-IT" sz="2000" b="1" dirty="0">
              <a:effectLst/>
            </a:endParaRPr>
          </a:p>
          <a:p>
            <a:pPr marL="0" indent="0">
              <a:buNone/>
            </a:pPr>
            <a:r>
              <a:rPr lang="it-IT" sz="2000" b="1" dirty="0">
                <a:effectLst/>
              </a:rPr>
              <a:t>				</a:t>
            </a:r>
          </a:p>
          <a:p>
            <a:pPr marL="0" indent="0">
              <a:buNone/>
            </a:pPr>
            <a:endParaRPr lang="it-IT" sz="2000" dirty="0">
              <a:effectLst/>
            </a:endParaRPr>
          </a:p>
          <a:p>
            <a:pPr marL="0" indent="0">
              <a:buNone/>
            </a:pPr>
            <a:endParaRPr lang="it-IT" sz="2000" dirty="0">
              <a:effectLst/>
            </a:endParaRPr>
          </a:p>
          <a:p>
            <a:pPr marL="0" indent="0">
              <a:buNone/>
            </a:pPr>
            <a:r>
              <a:rPr lang="it-IT" sz="2000" dirty="0">
                <a:effectLst/>
              </a:rPr>
              <a:t>aspetto del cuore all’esame clinico e radiografico.</a:t>
            </a:r>
            <a:r>
              <a:rPr lang="it-IT" sz="2000" b="1" dirty="0">
                <a:effectLst/>
              </a:rPr>
              <a:t> </a:t>
            </a:r>
          </a:p>
          <a:p>
            <a:pPr marL="0" indent="0">
              <a:buNone/>
            </a:pPr>
            <a:endParaRPr lang="it-IT" sz="2000" dirty="0">
              <a:effectLst/>
            </a:endParaRPr>
          </a:p>
          <a:p>
            <a:pPr marL="0" indent="0">
              <a:buNone/>
            </a:pPr>
            <a:r>
              <a:rPr lang="it-IT" sz="2000" dirty="0">
                <a:solidFill>
                  <a:srgbClr val="FFFF00"/>
                </a:solidFill>
                <a:effectLst/>
              </a:rPr>
              <a:t>SEMEIOTICA </a:t>
            </a:r>
            <a:r>
              <a:rPr lang="it-IT" sz="2000" b="1" dirty="0">
                <a:solidFill>
                  <a:srgbClr val="FFFF00"/>
                </a:solidFill>
                <a:effectLst/>
              </a:rPr>
              <a:t>STRUMENTALE</a:t>
            </a:r>
            <a:r>
              <a:rPr lang="it-IT" sz="2000" dirty="0">
                <a:effectLst/>
              </a:rPr>
              <a:t>: RX, TC, RM, ECO</a:t>
            </a:r>
          </a:p>
          <a:p>
            <a:pPr marL="0" indent="0">
              <a:buNone/>
            </a:pPr>
            <a:endParaRPr lang="it-IT" sz="2000" b="1" dirty="0">
              <a:effectLst/>
            </a:endParaRPr>
          </a:p>
          <a:p>
            <a:pPr marL="0" indent="0">
              <a:buNone/>
            </a:pPr>
            <a:endParaRPr lang="it-IT" sz="2000" dirty="0">
              <a:effectLst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952B0E8-8E30-B420-333D-EB3F05923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1870683"/>
            <a:ext cx="2520280" cy="285446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DC190895-03DC-C5AA-D1FC-26A078047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870683"/>
            <a:ext cx="2417880" cy="2840423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72F3304-C55E-AC53-870D-5E88D09B88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4263" y="1870684"/>
            <a:ext cx="3146210" cy="2840422"/>
          </a:xfrm>
          <a:prstGeom prst="rect">
            <a:avLst/>
          </a:prstGeom>
        </p:spPr>
      </p:pic>
      <p:pic>
        <p:nvPicPr>
          <p:cNvPr id="3" name="Immagine 2" descr="Immagine che contiene sorridente, emoticon, giallo, giocattolo&#10;&#10;Descrizione generata automaticamente">
            <a:extLst>
              <a:ext uri="{FF2B5EF4-FFF2-40B4-BE49-F238E27FC236}">
                <a16:creationId xmlns:a16="http://schemas.microsoft.com/office/drawing/2014/main" id="{644FDD72-2CFD-0862-1102-545B51E14D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840" y="5780716"/>
            <a:ext cx="899592" cy="5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997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/>
          <p:cNvSpPr>
            <a:spLocks noGrp="1"/>
          </p:cNvSpPr>
          <p:nvPr>
            <p:ph type="title"/>
          </p:nvPr>
        </p:nvSpPr>
        <p:spPr>
          <a:xfrm>
            <a:off x="4355975" y="764704"/>
            <a:ext cx="4305275" cy="5400600"/>
          </a:xfrm>
        </p:spPr>
        <p:txBody>
          <a:bodyPr/>
          <a:lstStyle/>
          <a:p>
            <a:r>
              <a:rPr lang="it-IT" dirty="0"/>
              <a:t>RADIOGRAFIA</a:t>
            </a: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br>
              <a:rPr lang="it-IT" dirty="0"/>
            </a:br>
            <a:r>
              <a:rPr lang="it-IT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 CONVENZIONE »</a:t>
            </a:r>
            <a:endParaRPr lang="it-IT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Segnaposto contenuto 4"/>
          <p:cNvPicPr>
            <a:picLocks noGrp="1" noChangeAspect="1"/>
          </p:cNvPicPr>
          <p:nvPr>
            <p:ph sz="half" idx="1"/>
          </p:nvPr>
        </p:nvPicPr>
        <p:blipFill>
          <a:blip r:embed="rId3"/>
          <a:srcRect l="2174" b="8683"/>
          <a:stretch>
            <a:fillRect/>
          </a:stretch>
        </p:blipFill>
        <p:spPr>
          <a:xfrm>
            <a:off x="611560" y="107085"/>
            <a:ext cx="3528392" cy="6596727"/>
          </a:xfrm>
          <a:prstGeom prst="rect">
            <a:avLst/>
          </a:prstGeom>
        </p:spPr>
      </p:pic>
      <p:pic>
        <p:nvPicPr>
          <p:cNvPr id="6" name="Segnaposto contenuto 5"/>
          <p:cNvPicPr>
            <a:picLocks noGrp="1" noChangeAspect="1"/>
          </p:cNvPicPr>
          <p:nvPr>
            <p:ph sz="half" idx="2"/>
          </p:nvPr>
        </p:nvPicPr>
        <p:blipFill>
          <a:blip r:embed="rId4"/>
          <a:srcRect b="8092"/>
          <a:stretch>
            <a:fillRect/>
          </a:stretch>
        </p:blipFill>
        <p:spPr>
          <a:xfrm>
            <a:off x="4355976" y="1741651"/>
            <a:ext cx="4305275" cy="348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1727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7481"/>
          </a:xfrm>
        </p:spPr>
        <p:txBody>
          <a:bodyPr/>
          <a:lstStyle/>
          <a:p>
            <a:r>
              <a:rPr lang="it-IT" sz="2400" dirty="0"/>
              <a:t>https://www.wikihow.it/Leggere-una-Radiografia-Toracica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323528" y="1344167"/>
            <a:ext cx="4038600" cy="4893145"/>
          </a:xfrm>
        </p:spPr>
        <p:txBody>
          <a:bodyPr/>
          <a:lstStyle/>
          <a:p>
            <a:r>
              <a:rPr lang="it-IT" sz="1400" dirty="0">
                <a:effectLst/>
              </a:rPr>
              <a:t>si tratta di un'immagine </a:t>
            </a:r>
            <a:r>
              <a:rPr lang="it-IT" sz="1400" b="1" dirty="0">
                <a:effectLst/>
              </a:rPr>
              <a:t>bidimensionale</a:t>
            </a:r>
            <a:r>
              <a:rPr lang="it-IT" sz="1400" dirty="0">
                <a:effectLst/>
              </a:rPr>
              <a:t> di una struttura </a:t>
            </a:r>
            <a:r>
              <a:rPr lang="it-IT" sz="1400" b="1" dirty="0">
                <a:effectLst/>
              </a:rPr>
              <a:t>tridimensionale</a:t>
            </a:r>
            <a:r>
              <a:rPr lang="it-IT" sz="1400" dirty="0">
                <a:effectLst/>
              </a:rPr>
              <a:t>.</a:t>
            </a:r>
          </a:p>
          <a:p>
            <a:r>
              <a:rPr lang="it-IT" sz="1400" dirty="0">
                <a:effectLst/>
              </a:rPr>
              <a:t>L’altezza e la larghezza vengono rispettate, si perde la </a:t>
            </a:r>
            <a:r>
              <a:rPr lang="it-IT" sz="1400" b="1" dirty="0">
                <a:effectLst/>
              </a:rPr>
              <a:t>profondità</a:t>
            </a:r>
            <a:r>
              <a:rPr lang="it-IT" sz="1400" dirty="0">
                <a:effectLst/>
              </a:rPr>
              <a:t>. </a:t>
            </a:r>
          </a:p>
          <a:p>
            <a:r>
              <a:rPr lang="it-IT" sz="1400" b="1" dirty="0">
                <a:solidFill>
                  <a:srgbClr val="FFFF00"/>
                </a:solidFill>
                <a:effectLst/>
              </a:rPr>
              <a:t>Il lato sinistro dell’immagine rappresenta il lato destro del paziente e viceversa.</a:t>
            </a:r>
          </a:p>
          <a:p>
            <a:r>
              <a:rPr lang="it-IT" sz="1400" dirty="0">
                <a:effectLst/>
              </a:rPr>
              <a:t>L’aria appare di colore </a:t>
            </a:r>
            <a:r>
              <a:rPr lang="it-IT" sz="1400" b="1" dirty="0">
                <a:effectLst/>
              </a:rPr>
              <a:t>nero</a:t>
            </a:r>
            <a:r>
              <a:rPr lang="it-IT" sz="1400" dirty="0">
                <a:effectLst/>
              </a:rPr>
              <a:t>, </a:t>
            </a:r>
          </a:p>
          <a:p>
            <a:r>
              <a:rPr lang="it-IT" sz="1400" dirty="0">
                <a:effectLst/>
              </a:rPr>
              <a:t>il grasso è </a:t>
            </a:r>
            <a:r>
              <a:rPr lang="it-IT" sz="1400" b="1" dirty="0">
                <a:effectLst/>
              </a:rPr>
              <a:t>grigio</a:t>
            </a:r>
            <a:r>
              <a:rPr lang="it-IT" sz="1400" dirty="0">
                <a:effectLst/>
              </a:rPr>
              <a:t>, </a:t>
            </a:r>
          </a:p>
          <a:p>
            <a:r>
              <a:rPr lang="it-IT" sz="1400" dirty="0">
                <a:effectLst/>
              </a:rPr>
              <a:t>i tessuti molli sono indicati con varie </a:t>
            </a:r>
            <a:r>
              <a:rPr lang="it-IT" sz="1400" b="1" dirty="0">
                <a:effectLst/>
              </a:rPr>
              <a:t>sfumature di grigio</a:t>
            </a:r>
            <a:r>
              <a:rPr lang="it-IT" sz="1400" dirty="0">
                <a:effectLst/>
              </a:rPr>
              <a:t>, </a:t>
            </a:r>
          </a:p>
          <a:p>
            <a:r>
              <a:rPr lang="it-IT" sz="1400" dirty="0">
                <a:effectLst/>
              </a:rPr>
              <a:t>le ossa e le protesi metalliche appaiono di colore </a:t>
            </a:r>
            <a:r>
              <a:rPr lang="it-IT" sz="1400" b="1" dirty="0">
                <a:effectLst/>
              </a:rPr>
              <a:t>bianco</a:t>
            </a:r>
            <a:r>
              <a:rPr lang="it-IT" sz="1400" dirty="0">
                <a:effectLst/>
              </a:rPr>
              <a:t>.</a:t>
            </a:r>
          </a:p>
          <a:p>
            <a:r>
              <a:rPr lang="it-IT" sz="1400" dirty="0">
                <a:effectLst/>
              </a:rPr>
              <a:t>Maggiore è la </a:t>
            </a:r>
            <a:r>
              <a:rPr lang="it-IT" sz="1400" b="1" dirty="0">
                <a:effectLst/>
              </a:rPr>
              <a:t>DENSITA’</a:t>
            </a:r>
            <a:r>
              <a:rPr lang="it-IT" sz="1400" dirty="0">
                <a:effectLst/>
              </a:rPr>
              <a:t> di un tessuto, più </a:t>
            </a:r>
            <a:r>
              <a:rPr lang="it-IT" sz="1400" b="1" dirty="0">
                <a:effectLst/>
              </a:rPr>
              <a:t>chiara</a:t>
            </a:r>
            <a:r>
              <a:rPr lang="it-IT" sz="1400" dirty="0">
                <a:effectLst/>
              </a:rPr>
              <a:t> è la sua immagine sulla lastra. </a:t>
            </a:r>
          </a:p>
          <a:p>
            <a:endParaRPr lang="it-IT" sz="1400" dirty="0">
              <a:effectLst/>
            </a:endParaRPr>
          </a:p>
          <a:p>
            <a:r>
              <a:rPr lang="it-IT" sz="1400" dirty="0">
                <a:effectLst/>
              </a:rPr>
              <a:t>I tessuti più </a:t>
            </a:r>
            <a:r>
              <a:rPr lang="it-IT" sz="1400" b="1" dirty="0">
                <a:effectLst/>
              </a:rPr>
              <a:t>densi</a:t>
            </a:r>
            <a:r>
              <a:rPr lang="it-IT" sz="1400" dirty="0">
                <a:effectLst/>
              </a:rPr>
              <a:t> sono </a:t>
            </a:r>
            <a:r>
              <a:rPr lang="it-IT" sz="1400" b="1" dirty="0">
                <a:effectLst/>
              </a:rPr>
              <a:t>RADIOOPACHI</a:t>
            </a:r>
            <a:r>
              <a:rPr lang="it-IT" sz="1400" dirty="0">
                <a:effectLst/>
              </a:rPr>
              <a:t>, quindi più </a:t>
            </a:r>
            <a:r>
              <a:rPr lang="it-IT" sz="1400" b="1" dirty="0">
                <a:solidFill>
                  <a:srgbClr val="FFFF00"/>
                </a:solidFill>
                <a:effectLst/>
              </a:rPr>
              <a:t>chiari</a:t>
            </a:r>
            <a:r>
              <a:rPr lang="it-IT" sz="1400" dirty="0">
                <a:effectLst/>
              </a:rPr>
              <a:t>, mentre</a:t>
            </a:r>
          </a:p>
          <a:p>
            <a:r>
              <a:rPr lang="it-IT" sz="1400" dirty="0">
                <a:effectLst/>
              </a:rPr>
              <a:t>quelli </a:t>
            </a:r>
            <a:r>
              <a:rPr lang="it-IT" sz="1400" b="1" dirty="0">
                <a:effectLst/>
              </a:rPr>
              <a:t>meno</a:t>
            </a:r>
            <a:r>
              <a:rPr lang="it-IT" sz="1400" dirty="0">
                <a:effectLst/>
              </a:rPr>
              <a:t> densi sono </a:t>
            </a:r>
            <a:r>
              <a:rPr lang="it-IT" sz="1400" b="1" dirty="0">
                <a:effectLst/>
              </a:rPr>
              <a:t>RADIOLUCENTI</a:t>
            </a:r>
            <a:r>
              <a:rPr lang="it-IT" sz="1400" dirty="0">
                <a:effectLst/>
              </a:rPr>
              <a:t> o </a:t>
            </a:r>
            <a:r>
              <a:rPr lang="it-IT" sz="1400" b="1" dirty="0">
                <a:solidFill>
                  <a:srgbClr val="FFFF00"/>
                </a:solidFill>
                <a:effectLst/>
              </a:rPr>
              <a:t>NERI</a:t>
            </a:r>
            <a:r>
              <a:rPr lang="it-IT" sz="1400" dirty="0">
                <a:effectLst/>
              </a:rPr>
              <a:t> sulla lastra</a:t>
            </a:r>
            <a:endParaRPr lang="it-IT" sz="1400" dirty="0"/>
          </a:p>
        </p:txBody>
      </p:sp>
      <p:pic>
        <p:nvPicPr>
          <p:cNvPr id="9222" name="Picture 6" descr="https://pad1-www.cdnga.net/images_en/thumb/b/b7/Read-a-Chest-X-Ray-Step-5-Version-2.jpg/v4-900px-Read-a-Chest-X-Ray-Step-5-Version-2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633" y="836712"/>
            <a:ext cx="3835896" cy="287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https://pad1-www.cdnga.net/images_en/thumb/3/3a/Read-a-Chest-X-Ray-Step-7-Version-2.jpg/v4-900px-Read-a-Chest-X-Ray-Step-7-Version-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1633" y="3789041"/>
            <a:ext cx="3840426" cy="2880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tangolo 1"/>
          <p:cNvSpPr>
            <a:spLocks noChangeArrowheads="1"/>
          </p:cNvSpPr>
          <p:nvPr/>
        </p:nvSpPr>
        <p:spPr bwMode="auto">
          <a:xfrm>
            <a:off x="7073236" y="779284"/>
            <a:ext cx="1724124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/>
              <a:t>SOVRAESPOSTA</a:t>
            </a:r>
          </a:p>
        </p:txBody>
      </p:sp>
      <p:sp>
        <p:nvSpPr>
          <p:cNvPr id="11" name="Rettangolo 1"/>
          <p:cNvSpPr>
            <a:spLocks noChangeArrowheads="1"/>
          </p:cNvSpPr>
          <p:nvPr/>
        </p:nvSpPr>
        <p:spPr bwMode="auto">
          <a:xfrm>
            <a:off x="4788024" y="790182"/>
            <a:ext cx="17241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/>
              <a:t>SOTTOESPOSTA</a:t>
            </a:r>
          </a:p>
        </p:txBody>
      </p:sp>
      <p:pic>
        <p:nvPicPr>
          <p:cNvPr id="3" name="Immagine 2" descr="Immagine che contiene sorridente, emoticon, giallo, giocattolo&#10;&#10;Descrizione generata automaticamente">
            <a:extLst>
              <a:ext uri="{FF2B5EF4-FFF2-40B4-BE49-F238E27FC236}">
                <a16:creationId xmlns:a16="http://schemas.microsoft.com/office/drawing/2014/main" id="{A14A526E-DF26-2ED6-D8FA-F3E59DC61FD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282" y="6087836"/>
            <a:ext cx="899592" cy="5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094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https://pad1-www.cdnga.net/images_en/thumb/4/47/Read-a-Chest-X-Ray-Step-4-Version-2.jpg/v4-900px-Read-a-Chest-X-Ray-Step-4-Version-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4" y="44624"/>
            <a:ext cx="4416425" cy="331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 descr="https://pad1-www.cdnga.net/images_en/thumb/d/d7/Read-a-Chest-X-Ray-Step-6-Version-2.jpg/v4-900px-Read-a-Chest-X-Ray-Step-6-Version-2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020" y="61836"/>
            <a:ext cx="4393476" cy="329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pad1-www.cdnga.net/images_en/thumb/7/7e/Read-a-Chest-X-Ray-Step-8-Version-2.jpg/v4-900px-Read-a-Chest-X-Ray-Step-8-Version-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071" y="3429049"/>
            <a:ext cx="4416425" cy="331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ttps://pad1-www.cdnga.net/images_en/thumb/c/cf/Read-a-Chest-X-Ray-Step-15.jpg/v4-900px-Read-a-Chest-X-Ray-Step-15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3429049"/>
            <a:ext cx="4416425" cy="3312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tangolo 2"/>
          <p:cNvSpPr/>
          <p:nvPr/>
        </p:nvSpPr>
        <p:spPr>
          <a:xfrm>
            <a:off x="395536" y="260648"/>
            <a:ext cx="1440160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04080C"/>
                </a:solidFill>
              </a:rPr>
              <a:t>MORFOLOGIA OSSEA</a:t>
            </a:r>
          </a:p>
        </p:txBody>
      </p:sp>
      <p:sp>
        <p:nvSpPr>
          <p:cNvPr id="7" name="Rettangolo 6"/>
          <p:cNvSpPr/>
          <p:nvPr/>
        </p:nvSpPr>
        <p:spPr>
          <a:xfrm>
            <a:off x="5004048" y="404664"/>
            <a:ext cx="144016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04080C"/>
                </a:solidFill>
              </a:rPr>
              <a:t>SIMMETRIA</a:t>
            </a:r>
          </a:p>
        </p:txBody>
      </p:sp>
      <p:sp>
        <p:nvSpPr>
          <p:cNvPr id="8" name="Rettangolo 7"/>
          <p:cNvSpPr/>
          <p:nvPr/>
        </p:nvSpPr>
        <p:spPr>
          <a:xfrm>
            <a:off x="971600" y="3645024"/>
            <a:ext cx="115212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04080C"/>
                </a:solidFill>
              </a:rPr>
              <a:t>FRATTURE</a:t>
            </a:r>
          </a:p>
        </p:txBody>
      </p:sp>
      <p:sp>
        <p:nvSpPr>
          <p:cNvPr id="9" name="Rettangolo 8"/>
          <p:cNvSpPr/>
          <p:nvPr/>
        </p:nvSpPr>
        <p:spPr>
          <a:xfrm>
            <a:off x="5012779" y="5301208"/>
            <a:ext cx="1440160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04080C"/>
                </a:solidFill>
              </a:rPr>
              <a:t>DIMENSIONI</a:t>
            </a:r>
          </a:p>
        </p:txBody>
      </p:sp>
      <p:pic>
        <p:nvPicPr>
          <p:cNvPr id="4" name="Immagine 3" descr="Immagine che contiene sorridente, emoticon, giallo, giocattolo&#10;&#10;Descrizione generata automaticamente">
            <a:extLst>
              <a:ext uri="{FF2B5EF4-FFF2-40B4-BE49-F238E27FC236}">
                <a16:creationId xmlns:a16="http://schemas.microsoft.com/office/drawing/2014/main" id="{58805939-A3AB-1BD2-9613-4FCBB23B5D5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352" y="5937565"/>
            <a:ext cx="899592" cy="5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1202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Segnaposto contenuto 3" descr="pg28_a.gif"/>
          <p:cNvPicPr>
            <a:picLocks noGrp="1" noChangeAspect="1"/>
          </p:cNvPicPr>
          <p:nvPr>
            <p:ph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7" r="2567"/>
          <a:stretch/>
        </p:blipFill>
        <p:spPr>
          <a:xfrm>
            <a:off x="35496" y="1556792"/>
            <a:ext cx="9073008" cy="4556125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0" y="198438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PIANI PER LO  STUDIO RADIOGRAFICO</a:t>
            </a: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 (RX) DEL CRANIO</a:t>
            </a:r>
          </a:p>
        </p:txBody>
      </p:sp>
      <p:sp>
        <p:nvSpPr>
          <p:cNvPr id="5" name="Segnaposto contenuto 2"/>
          <p:cNvSpPr txBox="1">
            <a:spLocks/>
          </p:cNvSpPr>
          <p:nvPr/>
        </p:nvSpPr>
        <p:spPr>
          <a:xfrm>
            <a:off x="35496" y="4437063"/>
            <a:ext cx="9073008" cy="1584325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defRPr/>
            </a:pPr>
            <a:endParaRPr lang="it-IT" sz="2400" kern="0" dirty="0">
              <a:solidFill>
                <a:srgbClr val="000000"/>
              </a:solidFill>
              <a:effectLst/>
            </a:endParaRPr>
          </a:p>
          <a:p>
            <a:pPr>
              <a:defRPr/>
            </a:pPr>
            <a:r>
              <a:rPr lang="it-IT" sz="2400" kern="0" dirty="0">
                <a:solidFill>
                  <a:srgbClr val="000000"/>
                </a:solidFill>
                <a:effectLst/>
              </a:rPr>
              <a:t>Piano Orizzontale tedesco (di Francoforte) o </a:t>
            </a:r>
            <a:r>
              <a:rPr lang="it-IT" sz="2400" b="1" kern="0" dirty="0">
                <a:solidFill>
                  <a:srgbClr val="000000"/>
                </a:solidFill>
                <a:effectLst/>
              </a:rPr>
              <a:t>Orbito</a:t>
            </a:r>
            <a:r>
              <a:rPr lang="it-IT" sz="2400" kern="0" dirty="0">
                <a:solidFill>
                  <a:srgbClr val="000000"/>
                </a:solidFill>
                <a:effectLst/>
              </a:rPr>
              <a:t>-Meatale</a:t>
            </a:r>
          </a:p>
          <a:p>
            <a:pPr>
              <a:defRPr/>
            </a:pPr>
            <a:r>
              <a:rPr lang="it-IT" sz="2400" kern="0" dirty="0">
                <a:solidFill>
                  <a:srgbClr val="000000"/>
                </a:solidFill>
                <a:effectLst/>
              </a:rPr>
              <a:t>Inclinato per proteggere l’Occhio  </a:t>
            </a:r>
          </a:p>
        </p:txBody>
      </p:sp>
      <p:sp>
        <p:nvSpPr>
          <p:cNvPr id="6" name="Rettangolo 1"/>
          <p:cNvSpPr>
            <a:spLocks noChangeArrowheads="1"/>
          </p:cNvSpPr>
          <p:nvPr/>
        </p:nvSpPr>
        <p:spPr bwMode="auto">
          <a:xfrm>
            <a:off x="7956376" y="44624"/>
            <a:ext cx="1152128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/>
              <a:t>I NC1.2.1</a:t>
            </a:r>
          </a:p>
        </p:txBody>
      </p:sp>
    </p:spTree>
    <p:extLst>
      <p:ext uri="{BB962C8B-B14F-4D97-AF65-F5344CB8AC3E}">
        <p14:creationId xmlns:p14="http://schemas.microsoft.com/office/powerpoint/2010/main" val="1828108292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Segnaposto contenuto 3" descr="pg28_b.gif"/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743" y="44450"/>
            <a:ext cx="8240713" cy="5184750"/>
          </a:xfrm>
        </p:spPr>
      </p:pic>
      <p:pic>
        <p:nvPicPr>
          <p:cNvPr id="23555" name="Segnaposto contenuto 3" descr="pg28_c.gi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85"/>
          <a:stretch/>
        </p:blipFill>
        <p:spPr bwMode="auto">
          <a:xfrm>
            <a:off x="2051521" y="2636839"/>
            <a:ext cx="5112767" cy="417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Segnaposto contenuto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748" y="3789040"/>
            <a:ext cx="1178980" cy="1361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Ovale 5"/>
          <p:cNvSpPr/>
          <p:nvPr/>
        </p:nvSpPr>
        <p:spPr>
          <a:xfrm>
            <a:off x="2627784" y="2636838"/>
            <a:ext cx="1584176" cy="683741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7" name="Freccia a sinistra 6"/>
          <p:cNvSpPr/>
          <p:nvPr/>
        </p:nvSpPr>
        <p:spPr>
          <a:xfrm rot="10800000">
            <a:off x="2483768" y="5928196"/>
            <a:ext cx="288925" cy="165100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8" name="Freccia a sinistra 7"/>
          <p:cNvSpPr/>
          <p:nvPr/>
        </p:nvSpPr>
        <p:spPr>
          <a:xfrm rot="10800000">
            <a:off x="2483769" y="4725144"/>
            <a:ext cx="288925" cy="165100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456197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436096" y="3717032"/>
            <a:ext cx="3312368" cy="2808312"/>
          </a:xfrm>
        </p:spPr>
        <p:txBody>
          <a:bodyPr/>
          <a:lstStyle/>
          <a:p>
            <a:r>
              <a:rPr lang="it-IT" sz="2400" dirty="0">
                <a:latin typeface="Algerian" panose="04020705040A02060702" pitchFamily="82" charset="0"/>
              </a:rPr>
              <a:t>       CRISTO morto</a:t>
            </a:r>
            <a:br>
              <a:rPr lang="it-IT" sz="2400" dirty="0">
                <a:latin typeface="Algerian" panose="04020705040A02060702" pitchFamily="82" charset="0"/>
              </a:rPr>
            </a:br>
            <a:r>
              <a:rPr lang="it-IT" sz="2400" dirty="0">
                <a:latin typeface="Algerian" panose="04020705040A02060702" pitchFamily="82" charset="0"/>
              </a:rPr>
              <a:t>           Mantegna</a:t>
            </a:r>
            <a:br>
              <a:rPr lang="it-IT" sz="2400" dirty="0">
                <a:latin typeface="Algerian" panose="04020705040A02060702" pitchFamily="82" charset="0"/>
              </a:rPr>
            </a:br>
            <a:br>
              <a:rPr lang="it-IT" sz="2400" dirty="0">
                <a:latin typeface="Algerian" panose="04020705040A02060702" pitchFamily="82" charset="0"/>
              </a:rPr>
            </a:br>
            <a:r>
              <a:rPr lang="it-IT" sz="3200" b="1" dirty="0">
                <a:latin typeface="Arial" panose="020B0604020202020204" pitchFamily="34" charset="0"/>
                <a:cs typeface="Arial" panose="020B0604020202020204" pitchFamily="34" charset="0"/>
              </a:rPr>
              <a:t>T.C.</a:t>
            </a:r>
            <a:br>
              <a:rPr lang="it-IT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convenzione</a:t>
            </a:r>
            <a:r>
              <a:rPr lang="it-IT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it-IT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asse longitudinale</a:t>
            </a:r>
            <a:br>
              <a:rPr lang="it-IT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visione caudale</a:t>
            </a:r>
          </a:p>
        </p:txBody>
      </p:sp>
      <p:pic>
        <p:nvPicPr>
          <p:cNvPr id="4" name="Segnaposto contenuto 3" descr="pg29_d.gif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4" t="3968" r="9860" b="19842"/>
          <a:stretch/>
        </p:blipFill>
        <p:spPr bwMode="auto">
          <a:xfrm>
            <a:off x="539552" y="116632"/>
            <a:ext cx="4824536" cy="6696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16632"/>
            <a:ext cx="3672408" cy="3672408"/>
          </a:xfrm>
          <a:prstGeom prst="rect">
            <a:avLst/>
          </a:prstGeom>
        </p:spPr>
      </p:pic>
      <p:sp>
        <p:nvSpPr>
          <p:cNvPr id="7" name="Rettangolo 1">
            <a:extLst>
              <a:ext uri="{FF2B5EF4-FFF2-40B4-BE49-F238E27FC236}">
                <a16:creationId xmlns:a16="http://schemas.microsoft.com/office/drawing/2014/main" id="{9FFA3AB3-FF0B-01A4-F1B4-E0E2BADA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912" y="116632"/>
            <a:ext cx="3672408" cy="3650505"/>
          </a:xfrm>
          <a:prstGeom prst="rect">
            <a:avLst/>
          </a:prstGeom>
          <a:noFill/>
          <a:ln w="50800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600">
              <a:solidFill>
                <a:srgbClr val="FF0000"/>
              </a:solidFill>
            </a:endParaRPr>
          </a:p>
        </p:txBody>
      </p:sp>
      <p:sp>
        <p:nvSpPr>
          <p:cNvPr id="8" name="Rettangolo 1">
            <a:extLst>
              <a:ext uri="{FF2B5EF4-FFF2-40B4-BE49-F238E27FC236}">
                <a16:creationId xmlns:a16="http://schemas.microsoft.com/office/drawing/2014/main" id="{6B693A0E-D91F-37EE-483B-EFBAB00C0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8712" y="332656"/>
            <a:ext cx="1152128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 NC1.2.2</a:t>
            </a:r>
          </a:p>
        </p:txBody>
      </p:sp>
    </p:spTree>
    <p:extLst>
      <p:ext uri="{BB962C8B-B14F-4D97-AF65-F5344CB8AC3E}">
        <p14:creationId xmlns:p14="http://schemas.microsoft.com/office/powerpoint/2010/main" val="233248296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1"/>
          <p:cNvSpPr>
            <a:spLocks noChangeArrowheads="1"/>
          </p:cNvSpPr>
          <p:nvPr/>
        </p:nvSpPr>
        <p:spPr bwMode="auto">
          <a:xfrm>
            <a:off x="8316416" y="115888"/>
            <a:ext cx="721223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/>
              <a:t>I f1.1</a:t>
            </a:r>
          </a:p>
        </p:txBody>
      </p:sp>
      <p:sp>
        <p:nvSpPr>
          <p:cNvPr id="6" name="Titolo 1"/>
          <p:cNvSpPr txBox="1">
            <a:spLocks/>
          </p:cNvSpPr>
          <p:nvPr/>
        </p:nvSpPr>
        <p:spPr bwMode="auto">
          <a:xfrm>
            <a:off x="1547664" y="188640"/>
            <a:ext cx="5760640" cy="571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ANATOMIA TOPOGRAFICA</a:t>
            </a:r>
          </a:p>
        </p:txBody>
      </p:sp>
      <p:pic>
        <p:nvPicPr>
          <p:cNvPr id="2" name="Segnaposto contenuto 3" descr="pg24_a.gif">
            <a:extLst>
              <a:ext uri="{FF2B5EF4-FFF2-40B4-BE49-F238E27FC236}">
                <a16:creationId xmlns:a16="http://schemas.microsoft.com/office/drawing/2014/main" id="{59C004DA-06E3-6F41-F964-0964A46533A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38" b="31799"/>
          <a:stretch/>
        </p:blipFill>
        <p:spPr bwMode="auto">
          <a:xfrm>
            <a:off x="4139952" y="806306"/>
            <a:ext cx="4866664" cy="5887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4" name="Segnaposto contenuto 3" descr="pg24_b.gif"/>
          <p:cNvPicPr>
            <a:picLocks noGrp="1" noChangeAspect="1"/>
          </p:cNvPicPr>
          <p:nvPr>
            <p:ph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" t="1161" r="46335" b="32946"/>
          <a:stretch/>
        </p:blipFill>
        <p:spPr>
          <a:xfrm>
            <a:off x="323528" y="806305"/>
            <a:ext cx="4949105" cy="5887247"/>
          </a:xfr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51DE0BB1-CA10-0930-DB54-5CB7885FB43B}"/>
              </a:ext>
            </a:extLst>
          </p:cNvPr>
          <p:cNvSpPr/>
          <p:nvPr/>
        </p:nvSpPr>
        <p:spPr>
          <a:xfrm>
            <a:off x="5272633" y="6165304"/>
            <a:ext cx="3698036" cy="360040"/>
          </a:xfrm>
          <a:prstGeom prst="rect">
            <a:avLst/>
          </a:prstGeom>
          <a:solidFill>
            <a:schemeClr val="tx1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it-IT" sz="1600" i="1" dirty="0">
                <a:solidFill>
                  <a:srgbClr val="FF0000"/>
                </a:solidFill>
              </a:rPr>
              <a:t>Anatomia Umana, B.A.S.: EDISES</a:t>
            </a:r>
          </a:p>
        </p:txBody>
      </p:sp>
    </p:spTree>
    <p:extLst>
      <p:ext uri="{BB962C8B-B14F-4D97-AF65-F5344CB8AC3E}">
        <p14:creationId xmlns:p14="http://schemas.microsoft.com/office/powerpoint/2010/main" val="2743627071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egnaposto contenuto 3" descr="pg25_e.gif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7" r="2888" b="18120"/>
          <a:stretch/>
        </p:blipFill>
        <p:spPr bwMode="auto">
          <a:xfrm>
            <a:off x="179512" y="116631"/>
            <a:ext cx="5904656" cy="662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4"/>
          <p:cNvSpPr txBox="1">
            <a:spLocks noChangeArrowheads="1"/>
          </p:cNvSpPr>
          <p:nvPr/>
        </p:nvSpPr>
        <p:spPr bwMode="auto">
          <a:xfrm>
            <a:off x="107504" y="1491444"/>
            <a:ext cx="5976664" cy="4973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None/>
            </a:pPr>
            <a:r>
              <a:rPr lang="en-GB" altLang="it-IT" sz="2400" kern="0" dirty="0" err="1">
                <a:solidFill>
                  <a:srgbClr val="04080C"/>
                </a:solidFill>
                <a:effectLst/>
              </a:rPr>
              <a:t>Sagittale</a:t>
            </a:r>
            <a:r>
              <a:rPr lang="en-GB" altLang="it-IT" sz="2400" kern="0" dirty="0">
                <a:solidFill>
                  <a:srgbClr val="04080C"/>
                </a:solidFill>
                <a:effectLst/>
              </a:rPr>
              <a:t>          (</a:t>
            </a:r>
            <a:r>
              <a:rPr lang="en-GB" altLang="it-IT" sz="2400" kern="0" dirty="0" err="1">
                <a:solidFill>
                  <a:srgbClr val="04080C"/>
                </a:solidFill>
                <a:effectLst/>
              </a:rPr>
              <a:t>mediana</a:t>
            </a:r>
            <a:r>
              <a:rPr lang="en-GB" altLang="it-IT" sz="2400" kern="0" dirty="0">
                <a:solidFill>
                  <a:srgbClr val="04080C"/>
                </a:solidFill>
                <a:effectLst/>
              </a:rPr>
              <a:t>)        </a:t>
            </a:r>
            <a:r>
              <a:rPr lang="en-GB" altLang="it-IT" sz="2400" kern="0" dirty="0" err="1">
                <a:solidFill>
                  <a:srgbClr val="04080C"/>
                </a:solidFill>
                <a:effectLst/>
              </a:rPr>
              <a:t>trasversale</a:t>
            </a:r>
            <a:endParaRPr lang="en-GB" altLang="it-IT" sz="2400" kern="0" dirty="0">
              <a:solidFill>
                <a:srgbClr val="04080C"/>
              </a:solidFill>
              <a:effectLst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1763688" y="3609020"/>
            <a:ext cx="2016224" cy="12961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en-GB" altLang="it-IT" sz="2000" kern="0" dirty="0">
                <a:solidFill>
                  <a:srgbClr val="04080C"/>
                </a:solidFill>
                <a:effectLst/>
              </a:rPr>
              <a:t>ORGANI</a:t>
            </a:r>
          </a:p>
          <a:p>
            <a:pPr marL="0" indent="0" algn="ctr">
              <a:buNone/>
            </a:pPr>
            <a:r>
              <a:rPr lang="en-GB" altLang="it-IT" sz="2000" kern="0" dirty="0">
                <a:solidFill>
                  <a:srgbClr val="04080C"/>
                </a:solidFill>
                <a:effectLst/>
              </a:rPr>
              <a:t>RAPPORTI</a:t>
            </a:r>
          </a:p>
          <a:p>
            <a:pPr marL="0" indent="0" algn="ctr">
              <a:buNone/>
            </a:pPr>
            <a:r>
              <a:rPr lang="en-GB" altLang="it-IT" sz="2000" kern="0" dirty="0">
                <a:solidFill>
                  <a:srgbClr val="04080C"/>
                </a:solidFill>
                <a:effectLst/>
              </a:rPr>
              <a:t>“</a:t>
            </a:r>
            <a:r>
              <a:rPr lang="en-GB" altLang="it-IT" sz="2000" kern="0" dirty="0" err="1">
                <a:solidFill>
                  <a:srgbClr val="04080C"/>
                </a:solidFill>
                <a:effectLst/>
              </a:rPr>
              <a:t>compartimenti</a:t>
            </a:r>
            <a:r>
              <a:rPr lang="en-GB" altLang="it-IT" sz="2000" kern="0" dirty="0">
                <a:solidFill>
                  <a:srgbClr val="04080C"/>
                </a:solidFill>
                <a:effectLst/>
              </a:rPr>
              <a:t>”</a:t>
            </a:r>
          </a:p>
        </p:txBody>
      </p:sp>
      <p:sp>
        <p:nvSpPr>
          <p:cNvPr id="6" name="Stella a 4 punte 5"/>
          <p:cNvSpPr/>
          <p:nvPr/>
        </p:nvSpPr>
        <p:spPr>
          <a:xfrm>
            <a:off x="539552" y="5157192"/>
            <a:ext cx="216024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7" name="Stella a 4 punte 6"/>
          <p:cNvSpPr/>
          <p:nvPr/>
        </p:nvSpPr>
        <p:spPr>
          <a:xfrm>
            <a:off x="2051720" y="1628800"/>
            <a:ext cx="216024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8" name="Stella a 4 punte 7"/>
          <p:cNvSpPr/>
          <p:nvPr/>
        </p:nvSpPr>
        <p:spPr>
          <a:xfrm>
            <a:off x="5796136" y="476672"/>
            <a:ext cx="216024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9" name="Stella a 4 punte 8"/>
          <p:cNvSpPr/>
          <p:nvPr/>
        </p:nvSpPr>
        <p:spPr>
          <a:xfrm>
            <a:off x="251520" y="3861048"/>
            <a:ext cx="216024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10" name="Stella a 4 punte 9"/>
          <p:cNvSpPr/>
          <p:nvPr/>
        </p:nvSpPr>
        <p:spPr>
          <a:xfrm>
            <a:off x="285056" y="2276872"/>
            <a:ext cx="216024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12" name="Titolo 1"/>
          <p:cNvSpPr txBox="1">
            <a:spLocks/>
          </p:cNvSpPr>
          <p:nvPr/>
        </p:nvSpPr>
        <p:spPr bwMode="auto">
          <a:xfrm>
            <a:off x="6117704" y="1628800"/>
            <a:ext cx="2918792" cy="4824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buFontTx/>
              <a:buChar char="-"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COLLO           (Prof. Canzi)</a:t>
            </a:r>
          </a:p>
          <a:p>
            <a:pPr>
              <a:buFontTx/>
              <a:buChar char="-"/>
            </a:pPr>
            <a:endParaRPr lang="it-IT" sz="2000" b="1" kern="0" dirty="0">
              <a:effectLst/>
              <a:latin typeface="+mj-lt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3 CAVITA’:</a:t>
            </a:r>
          </a:p>
          <a:p>
            <a:pPr>
              <a:buFontTx/>
              <a:buChar char="-"/>
            </a:pPr>
            <a:endParaRPr lang="it-IT" sz="2000" b="1" kern="0" dirty="0">
              <a:effectLst/>
              <a:latin typeface="+mj-lt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TORACICA</a:t>
            </a:r>
          </a:p>
          <a:p>
            <a:pPr>
              <a:buFontTx/>
              <a:buChar char="-"/>
            </a:pPr>
            <a:endParaRPr lang="it-IT" sz="2000" b="1" kern="0" dirty="0">
              <a:effectLst/>
              <a:latin typeface="+mj-lt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PERITONEALE</a:t>
            </a:r>
          </a:p>
          <a:p>
            <a:pPr>
              <a:buFontTx/>
              <a:buChar char="-"/>
            </a:pPr>
            <a:endParaRPr lang="it-IT" sz="2000" b="1" kern="0" dirty="0">
              <a:effectLst/>
              <a:latin typeface="+mj-lt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PELVICA</a:t>
            </a:r>
          </a:p>
          <a:p>
            <a:pPr>
              <a:buFontTx/>
              <a:buChar char="-"/>
            </a:pPr>
            <a:endParaRPr lang="it-IT" sz="2000" b="1" kern="0" dirty="0">
              <a:effectLst/>
              <a:latin typeface="+mj-lt"/>
              <a:cs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it-IT" sz="2000" b="1" kern="0" dirty="0">
                <a:solidFill>
                  <a:srgbClr val="FFFF00"/>
                </a:solidFill>
                <a:effectLst/>
                <a:latin typeface="+mj-lt"/>
                <a:cs typeface="Arial" panose="020B0604020202020204" pitchFamily="34" charset="0"/>
              </a:rPr>
              <a:t>COME SI FORMANO?</a:t>
            </a:r>
          </a:p>
        </p:txBody>
      </p:sp>
      <p:sp>
        <p:nvSpPr>
          <p:cNvPr id="13" name="Rettangolo 1">
            <a:extLst>
              <a:ext uri="{FF2B5EF4-FFF2-40B4-BE49-F238E27FC236}">
                <a16:creationId xmlns:a16="http://schemas.microsoft.com/office/drawing/2014/main" id="{81D27B22-FAAF-DDFE-9EBA-9A3AB3D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416" y="115888"/>
            <a:ext cx="721223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f1.2</a:t>
            </a:r>
          </a:p>
        </p:txBody>
      </p:sp>
    </p:spTree>
    <p:extLst>
      <p:ext uri="{BB962C8B-B14F-4D97-AF65-F5344CB8AC3E}">
        <p14:creationId xmlns:p14="http://schemas.microsoft.com/office/powerpoint/2010/main" val="1336801527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EE0CCD91-E293-514B-4CE6-B0C8036FD1BA}"/>
              </a:ext>
            </a:extLst>
          </p:cNvPr>
          <p:cNvSpPr txBox="1">
            <a:spLocks/>
          </p:cNvSpPr>
          <p:nvPr/>
        </p:nvSpPr>
        <p:spPr bwMode="auto">
          <a:xfrm>
            <a:off x="457200" y="260648"/>
            <a:ext cx="8240713" cy="66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it-IT" kern="0" dirty="0"/>
              <a:t>SVILUPPO EMBRIONALE: POLLO</a:t>
            </a:r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EAC1DE2C-8FEA-39BC-EE4C-A6F1E65C319A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043608" y="980728"/>
            <a:ext cx="7056784" cy="5122011"/>
          </a:xfrm>
        </p:spPr>
      </p:pic>
      <p:pic>
        <p:nvPicPr>
          <p:cNvPr id="3" name="Immagine 2" descr="Immagine che contiene sorridente, emoticon, giallo, giocattolo&#10;&#10;Descrizione generata automaticamente">
            <a:extLst>
              <a:ext uri="{FF2B5EF4-FFF2-40B4-BE49-F238E27FC236}">
                <a16:creationId xmlns:a16="http://schemas.microsoft.com/office/drawing/2014/main" id="{DA59009D-2E77-B373-C712-AB1F653D38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636" y="6141874"/>
            <a:ext cx="899592" cy="5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837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07DFB-5B98-9BD3-3A59-4663FB121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0D9BE481-5909-495C-6F6D-DFA5FC333F2E}"/>
              </a:ext>
            </a:extLst>
          </p:cNvPr>
          <p:cNvSpPr txBox="1">
            <a:spLocks/>
          </p:cNvSpPr>
          <p:nvPr/>
        </p:nvSpPr>
        <p:spPr bwMode="auto">
          <a:xfrm>
            <a:off x="457200" y="260648"/>
            <a:ext cx="8240713" cy="66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it-IT" kern="0" dirty="0"/>
              <a:t>SVILUPPO EMBRIONALE MAMMIFERI:</a:t>
            </a:r>
          </a:p>
          <a:p>
            <a:pPr marL="0" indent="0" algn="ctr">
              <a:buFont typeface="Wingdings" pitchFamily="2" charset="2"/>
              <a:buNone/>
            </a:pPr>
            <a:r>
              <a:rPr lang="it-IT" kern="0" dirty="0"/>
              <a:t> Annidamento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24D03D7-76DB-A546-03E8-500F201BC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820004"/>
            <a:ext cx="3936421" cy="4201284"/>
          </a:xfrm>
          <a:prstGeom prst="rect">
            <a:avLst/>
          </a:prstGeom>
        </p:spPr>
      </p:pic>
      <p:pic>
        <p:nvPicPr>
          <p:cNvPr id="3" name="Immagine 2" descr="Immagine che contiene sorridente, emoticon, giallo, giocattolo&#10;&#10;Descrizione generata automaticamente">
            <a:extLst>
              <a:ext uri="{FF2B5EF4-FFF2-40B4-BE49-F238E27FC236}">
                <a16:creationId xmlns:a16="http://schemas.microsoft.com/office/drawing/2014/main" id="{E023B4FC-38BA-DB63-2535-F4653C0C7F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636" y="6141874"/>
            <a:ext cx="899592" cy="5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66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9CAC1-EB29-F3D9-2235-19BFBAC7A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B32D858A-613F-9903-2461-B4BBA59A6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052736"/>
            <a:ext cx="8801176" cy="4591430"/>
          </a:xfrm>
          <a:prstGeom prst="rect">
            <a:avLst/>
          </a:prstGeom>
        </p:spPr>
      </p:pic>
      <p:pic>
        <p:nvPicPr>
          <p:cNvPr id="3" name="Immagine 2" descr="Immagine che contiene sorridente, emoticon, giallo, giocattolo&#10;&#10;Descrizione generata automaticamente">
            <a:extLst>
              <a:ext uri="{FF2B5EF4-FFF2-40B4-BE49-F238E27FC236}">
                <a16:creationId xmlns:a16="http://schemas.microsoft.com/office/drawing/2014/main" id="{3E4BEB18-FF46-6A30-757F-3BE6BAA863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636" y="6141874"/>
            <a:ext cx="899592" cy="59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3901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egnaposto contenuto 3" descr="0327.gif">
            <a:extLst>
              <a:ext uri="{FF2B5EF4-FFF2-40B4-BE49-F238E27FC236}">
                <a16:creationId xmlns:a16="http://schemas.microsoft.com/office/drawing/2014/main" id="{BA1EA15D-2141-404D-E254-7BDAD3CDC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41" t="60942" r="10588" b="13161"/>
          <a:stretch/>
        </p:blipFill>
        <p:spPr>
          <a:xfrm>
            <a:off x="1331640" y="260648"/>
            <a:ext cx="6552728" cy="5495839"/>
          </a:xfrm>
          <a:prstGeom prst="rect">
            <a:avLst/>
          </a:prstGeom>
        </p:spPr>
      </p:pic>
      <p:pic>
        <p:nvPicPr>
          <p:cNvPr id="3" name="Segnaposto contenuto 3" descr="0327.gif">
            <a:extLst>
              <a:ext uri="{FF2B5EF4-FFF2-40B4-BE49-F238E27FC236}">
                <a16:creationId xmlns:a16="http://schemas.microsoft.com/office/drawing/2014/main" id="{6587CAD6-15D6-D572-DC99-11FFAB7F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t="90381" r="75348" b="2945"/>
          <a:stretch/>
        </p:blipFill>
        <p:spPr>
          <a:xfrm>
            <a:off x="6948264" y="5064103"/>
            <a:ext cx="1800200" cy="692384"/>
          </a:xfrm>
          <a:prstGeom prst="rect">
            <a:avLst/>
          </a:prstGeom>
        </p:spPr>
      </p:pic>
      <p:sp>
        <p:nvSpPr>
          <p:cNvPr id="5" name="Arco 4">
            <a:extLst>
              <a:ext uri="{FF2B5EF4-FFF2-40B4-BE49-F238E27FC236}">
                <a16:creationId xmlns:a16="http://schemas.microsoft.com/office/drawing/2014/main" id="{4C45936F-A1F4-74F9-5DFB-808BF3BD4877}"/>
              </a:ext>
            </a:extLst>
          </p:cNvPr>
          <p:cNvSpPr/>
          <p:nvPr/>
        </p:nvSpPr>
        <p:spPr>
          <a:xfrm rot="20583336">
            <a:off x="3467229" y="2436955"/>
            <a:ext cx="1089472" cy="2274028"/>
          </a:xfrm>
          <a:prstGeom prst="arc">
            <a:avLst>
              <a:gd name="adj1" fmla="val 15914181"/>
              <a:gd name="adj2" fmla="val 21106105"/>
            </a:avLst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1">
            <a:extLst>
              <a:ext uri="{FF2B5EF4-FFF2-40B4-BE49-F238E27FC236}">
                <a16:creationId xmlns:a16="http://schemas.microsoft.com/office/drawing/2014/main" id="{8D97B0AA-82A3-FBA0-8985-6AA4DFE80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944" y="4466193"/>
            <a:ext cx="1584176" cy="3385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 dirty="0">
                <a:solidFill>
                  <a:schemeClr val="bg1"/>
                </a:solidFill>
              </a:rPr>
              <a:t>DIAFRAMMA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3ADD0D8-B815-1241-6F4A-AB2567E77BF1}"/>
              </a:ext>
            </a:extLst>
          </p:cNvPr>
          <p:cNvSpPr txBox="1"/>
          <p:nvPr/>
        </p:nvSpPr>
        <p:spPr>
          <a:xfrm>
            <a:off x="2286000" y="602128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it-IT" sz="1800" b="1" dirty="0">
                <a:effectLst/>
              </a:rPr>
              <a:t>ORGANOGENESI</a:t>
            </a:r>
            <a:endParaRPr lang="it-IT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36627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Segnaposto contenuto 3" descr="0119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18" t="9740" r="5565" b="22081"/>
          <a:stretch/>
        </p:blipFill>
        <p:spPr>
          <a:xfrm>
            <a:off x="179512" y="1556792"/>
            <a:ext cx="8863412" cy="4392488"/>
          </a:xfrm>
        </p:spPr>
      </p:pic>
      <p:sp>
        <p:nvSpPr>
          <p:cNvPr id="2" name="Segnaposto contenuto 1">
            <a:extLst>
              <a:ext uri="{FF2B5EF4-FFF2-40B4-BE49-F238E27FC236}">
                <a16:creationId xmlns:a16="http://schemas.microsoft.com/office/drawing/2014/main" id="{EE0CCD91-E293-514B-4CE6-B0C8036FD1BA}"/>
              </a:ext>
            </a:extLst>
          </p:cNvPr>
          <p:cNvSpPr txBox="1">
            <a:spLocks/>
          </p:cNvSpPr>
          <p:nvPr/>
        </p:nvSpPr>
        <p:spPr bwMode="auto">
          <a:xfrm>
            <a:off x="457200" y="605873"/>
            <a:ext cx="8240713" cy="66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None/>
            </a:pPr>
            <a:r>
              <a:rPr lang="it-IT" kern="0" dirty="0">
                <a:solidFill>
                  <a:srgbClr val="FFFF00"/>
                </a:solidFill>
              </a:rPr>
              <a:t>CAVITA’ </a:t>
            </a:r>
            <a:r>
              <a:rPr lang="it-IT" kern="0" dirty="0"/>
              <a:t>EMBRIONALI</a:t>
            </a:r>
          </a:p>
        </p:txBody>
      </p:sp>
      <p:sp>
        <p:nvSpPr>
          <p:cNvPr id="3" name="Rettangolo 1">
            <a:extLst>
              <a:ext uri="{FF2B5EF4-FFF2-40B4-BE49-F238E27FC236}">
                <a16:creationId xmlns:a16="http://schemas.microsoft.com/office/drawing/2014/main" id="{08C1E042-8A30-88F9-955D-50CD930896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3968" y="2204865"/>
            <a:ext cx="1872208" cy="28803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600">
              <a:solidFill>
                <a:srgbClr val="FF0000"/>
              </a:solidFill>
            </a:endParaRPr>
          </a:p>
        </p:txBody>
      </p:sp>
      <p:pic>
        <p:nvPicPr>
          <p:cNvPr id="6" name="Segnaposto contenuto 3" descr="0327.gif">
            <a:extLst>
              <a:ext uri="{FF2B5EF4-FFF2-40B4-BE49-F238E27FC236}">
                <a16:creationId xmlns:a16="http://schemas.microsoft.com/office/drawing/2014/main" id="{2CFD2097-A22F-27CD-18AA-8F5D51E6E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t="91388" r="75348" b="3654"/>
          <a:stretch>
            <a:fillRect/>
          </a:stretch>
        </p:blipFill>
        <p:spPr>
          <a:xfrm>
            <a:off x="7014900" y="6093296"/>
            <a:ext cx="2016224" cy="57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459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44624"/>
            <a:ext cx="8229600" cy="850900"/>
          </a:xfrm>
        </p:spPr>
        <p:txBody>
          <a:bodyPr/>
          <a:lstStyle/>
          <a:p>
            <a:r>
              <a:rPr lang="en-GB" altLang="it-IT" dirty="0"/>
              <a:t>CAVITA </a:t>
            </a:r>
            <a:r>
              <a:rPr lang="en-GB" altLang="it-IT" dirty="0" err="1"/>
              <a:t>corporee</a:t>
            </a:r>
            <a:r>
              <a:rPr lang="en-GB" altLang="it-IT" dirty="0"/>
              <a:t> e “SIEROSE”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E6CA35F2-92CA-345C-701B-D499E3757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820573"/>
            <a:ext cx="6724228" cy="5416739"/>
          </a:xfrm>
          <a:prstGeom prst="rect">
            <a:avLst/>
          </a:prstGeom>
        </p:spPr>
      </p:pic>
      <p:pic>
        <p:nvPicPr>
          <p:cNvPr id="4" name="Segnaposto contenuto 3" descr="0327.gif">
            <a:extLst>
              <a:ext uri="{FF2B5EF4-FFF2-40B4-BE49-F238E27FC236}">
                <a16:creationId xmlns:a16="http://schemas.microsoft.com/office/drawing/2014/main" id="{FFBBCA77-5417-3D3B-4FC0-E6AE507236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t="91621" r="75348" b="4041"/>
          <a:stretch>
            <a:fillRect/>
          </a:stretch>
        </p:blipFill>
        <p:spPr>
          <a:xfrm>
            <a:off x="6876256" y="5985284"/>
            <a:ext cx="2016224" cy="50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53657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Segnaposto contenuto 3" descr="pg24_d.gif"/>
          <p:cNvPicPr>
            <a:picLocks noGrp="1" noChangeAspect="1"/>
          </p:cNvPicPr>
          <p:nvPr>
            <p:ph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67411"/>
          <a:stretch/>
        </p:blipFill>
        <p:spPr>
          <a:xfrm>
            <a:off x="300397" y="476672"/>
            <a:ext cx="8609577" cy="3384376"/>
          </a:xfrm>
        </p:spPr>
      </p:pic>
      <p:cxnSp>
        <p:nvCxnSpPr>
          <p:cNvPr id="3" name="Connettore 1 2"/>
          <p:cNvCxnSpPr/>
          <p:nvPr/>
        </p:nvCxnSpPr>
        <p:spPr>
          <a:xfrm>
            <a:off x="539552" y="1988840"/>
            <a:ext cx="302433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1 3"/>
          <p:cNvCxnSpPr/>
          <p:nvPr/>
        </p:nvCxnSpPr>
        <p:spPr>
          <a:xfrm>
            <a:off x="4120744" y="1628800"/>
            <a:ext cx="4411696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1 4"/>
          <p:cNvCxnSpPr/>
          <p:nvPr/>
        </p:nvCxnSpPr>
        <p:spPr>
          <a:xfrm>
            <a:off x="6591345" y="2276872"/>
            <a:ext cx="741068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ttangolo 1"/>
          <p:cNvSpPr/>
          <p:nvPr/>
        </p:nvSpPr>
        <p:spPr>
          <a:xfrm>
            <a:off x="2565930" y="548679"/>
            <a:ext cx="4526350" cy="50405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Segnaposto contenuto 3" descr="0320.gif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16" t="28002" r="6416" b="59560"/>
          <a:stretch/>
        </p:blipFill>
        <p:spPr bwMode="auto">
          <a:xfrm>
            <a:off x="395536" y="4221086"/>
            <a:ext cx="8424936" cy="1728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B9152CED-8756-6A7A-09C1-9EFF92887CE7}"/>
              </a:ext>
            </a:extLst>
          </p:cNvPr>
          <p:cNvSpPr/>
          <p:nvPr/>
        </p:nvSpPr>
        <p:spPr>
          <a:xfrm>
            <a:off x="395536" y="4221086"/>
            <a:ext cx="1800200" cy="4320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9932416"/>
      </p:ext>
    </p:extLst>
  </p:cSld>
  <p:clrMapOvr>
    <a:masterClrMapping/>
  </p:clrMapOvr>
  <p:transition spd="med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egnaposto contenuto 2"/>
          <p:cNvPicPr>
            <a:picLocks noGrp="1" noChangeAspect="1"/>
          </p:cNvPicPr>
          <p:nvPr>
            <p:ph/>
          </p:nvPr>
        </p:nvPicPr>
        <p:blipFill rotWithShape="1">
          <a:blip r:embed="rId2"/>
          <a:srcRect l="3980" t="6349" r="5292" b="4761"/>
          <a:stretch/>
        </p:blipFill>
        <p:spPr>
          <a:xfrm>
            <a:off x="467545" y="2005928"/>
            <a:ext cx="8136904" cy="4467319"/>
          </a:xfrm>
          <a:prstGeom prst="rect">
            <a:avLst/>
          </a:prstGeom>
        </p:spPr>
      </p:pic>
      <p:pic>
        <p:nvPicPr>
          <p:cNvPr id="7" name="Segnaposto contenuto 3" descr="pg24_d.gi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" t="33281" r="3164" b="50079"/>
          <a:stretch>
            <a:fillRect/>
          </a:stretch>
        </p:blipFill>
        <p:spPr bwMode="auto">
          <a:xfrm>
            <a:off x="467545" y="116632"/>
            <a:ext cx="8136904" cy="1728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544889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egnaposto contenuto 3" descr="2102.gif">
            <a:extLst>
              <a:ext uri="{FF2B5EF4-FFF2-40B4-BE49-F238E27FC236}">
                <a16:creationId xmlns:a16="http://schemas.microsoft.com/office/drawing/2014/main" id="{B2FBBBB4-791B-F616-AC0A-0EC5E3010331}"/>
              </a:ext>
            </a:extLst>
          </p:cNvPr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61" t="4275" r="8780" b="76456"/>
          <a:stretch/>
        </p:blipFill>
        <p:spPr>
          <a:xfrm>
            <a:off x="467544" y="1124744"/>
            <a:ext cx="8265266" cy="3960440"/>
          </a:xfrm>
        </p:spPr>
      </p:pic>
      <p:pic>
        <p:nvPicPr>
          <p:cNvPr id="4" name="Segnaposto contenuto 2">
            <a:extLst>
              <a:ext uri="{FF2B5EF4-FFF2-40B4-BE49-F238E27FC236}">
                <a16:creationId xmlns:a16="http://schemas.microsoft.com/office/drawing/2014/main" id="{42EAF7E3-8529-1691-9ACA-75E6BB0C99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132856"/>
            <a:ext cx="1152128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Segnaposto contenuto 2">
            <a:extLst>
              <a:ext uri="{FF2B5EF4-FFF2-40B4-BE49-F238E27FC236}">
                <a16:creationId xmlns:a16="http://schemas.microsoft.com/office/drawing/2014/main" id="{D771AA53-7468-9572-0BCE-95269D2894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288" y="4365104"/>
            <a:ext cx="296416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Segnaposto contenuto 3" descr="0327.gif">
            <a:extLst>
              <a:ext uri="{FF2B5EF4-FFF2-40B4-BE49-F238E27FC236}">
                <a16:creationId xmlns:a16="http://schemas.microsoft.com/office/drawing/2014/main" id="{12292DA0-F2E1-8486-73CA-8D86B2F008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t="90381" r="75348" b="2945"/>
          <a:stretch/>
        </p:blipFill>
        <p:spPr>
          <a:xfrm>
            <a:off x="6716586" y="5173810"/>
            <a:ext cx="2016224" cy="77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86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FBEF1-E4E1-CB75-476A-55951A7F7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egnaposto contenuto 3" descr="pg25_e.gif">
            <a:extLst>
              <a:ext uri="{FF2B5EF4-FFF2-40B4-BE49-F238E27FC236}">
                <a16:creationId xmlns:a16="http://schemas.microsoft.com/office/drawing/2014/main" id="{A1904389-6B31-BCFB-7F4E-820FBF096A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17" r="51996" b="18120"/>
          <a:stretch>
            <a:fillRect/>
          </a:stretch>
        </p:blipFill>
        <p:spPr bwMode="auto">
          <a:xfrm>
            <a:off x="1115616" y="206063"/>
            <a:ext cx="3672408" cy="6432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itolo 1">
            <a:extLst>
              <a:ext uri="{FF2B5EF4-FFF2-40B4-BE49-F238E27FC236}">
                <a16:creationId xmlns:a16="http://schemas.microsoft.com/office/drawing/2014/main" id="{355BB76B-4961-0215-B21E-3C33B13A341E}"/>
              </a:ext>
            </a:extLst>
          </p:cNvPr>
          <p:cNvSpPr txBox="1">
            <a:spLocks/>
          </p:cNvSpPr>
          <p:nvPr/>
        </p:nvSpPr>
        <p:spPr bwMode="auto">
          <a:xfrm>
            <a:off x="5004048" y="764704"/>
            <a:ext cx="3744416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None/>
            </a:pPr>
            <a:r>
              <a:rPr lang="it-IT" sz="2000" b="1" kern="0" dirty="0">
                <a:solidFill>
                  <a:srgbClr val="FFFF00"/>
                </a:solidFill>
                <a:effectLst/>
                <a:latin typeface="+mj-lt"/>
                <a:cs typeface="Arial" panose="020B0604020202020204" pitchFamily="34" charset="0"/>
              </a:rPr>
              <a:t>LOGGIA</a:t>
            </a: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: </a:t>
            </a:r>
            <a:r>
              <a:rPr lang="it-IT" sz="2000" dirty="0">
                <a:effectLst/>
                <a:latin typeface="+mj-lt"/>
              </a:rPr>
              <a:t>spazio o cavità, non comunicante con l’esterno, contenente organi o formazioni</a:t>
            </a:r>
          </a:p>
          <a:p>
            <a:pPr marL="0" indent="0">
              <a:buNone/>
            </a:pPr>
            <a:endParaRPr lang="it-IT" sz="2000" dirty="0">
              <a:effectLst/>
              <a:latin typeface="+mj-lt"/>
            </a:endParaRPr>
          </a:p>
          <a:p>
            <a:pPr marL="0" indent="0">
              <a:buNone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- POLMONARE</a:t>
            </a:r>
          </a:p>
          <a:p>
            <a:pPr marL="0" indent="0">
              <a:buNone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- MEDIASTINICA</a:t>
            </a:r>
          </a:p>
          <a:p>
            <a:pPr marL="0" indent="0">
              <a:buNone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- RENALE</a:t>
            </a:r>
          </a:p>
          <a:p>
            <a:pPr>
              <a:buFontTx/>
              <a:buChar char="-"/>
            </a:pPr>
            <a:endParaRPr lang="it-IT" sz="2000" b="1" kern="0" dirty="0">
              <a:effectLst/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«SPAZI»:</a:t>
            </a:r>
          </a:p>
          <a:p>
            <a:pPr marL="0" indent="0">
              <a:buNone/>
            </a:pPr>
            <a:r>
              <a:rPr lang="it-IT" sz="2000" b="1" kern="0" dirty="0"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lang="it-IT" sz="2000" kern="0" dirty="0">
                <a:effectLst/>
                <a:latin typeface="+mj-lt"/>
                <a:cs typeface="Arial" panose="020B0604020202020204" pitchFamily="34" charset="0"/>
              </a:rPr>
              <a:t>  RETRO-PERITONEALE</a:t>
            </a:r>
          </a:p>
          <a:p>
            <a:pPr marL="0" indent="0">
              <a:buNone/>
            </a:pPr>
            <a:r>
              <a:rPr lang="it-IT" sz="2000" kern="0" dirty="0">
                <a:effectLst/>
                <a:latin typeface="+mj-lt"/>
                <a:cs typeface="Arial" panose="020B0604020202020204" pitchFamily="34" charset="0"/>
              </a:rPr>
              <a:t>   SOTTO-PERITONEALE</a:t>
            </a:r>
          </a:p>
          <a:p>
            <a:pPr marL="0" indent="0">
              <a:buNone/>
            </a:pPr>
            <a:endParaRPr lang="it-IT" sz="2000" b="1" kern="0" dirty="0">
              <a:effectLst/>
              <a:latin typeface="+mj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sz="2000" b="1" kern="0" dirty="0">
                <a:effectLst/>
                <a:cs typeface="Arial" panose="020B0604020202020204" pitchFamily="34" charset="0"/>
              </a:rPr>
              <a:t> «FASCE»:</a:t>
            </a:r>
          </a:p>
          <a:p>
            <a:pPr marL="0" indent="0">
              <a:buNone/>
            </a:pPr>
            <a:r>
              <a:rPr lang="it-IT" sz="2000" b="1" kern="0" dirty="0">
                <a:effectLst/>
                <a:cs typeface="Arial" panose="020B0604020202020204" pitchFamily="34" charset="0"/>
              </a:rPr>
              <a:t> IL CONNETTIVO…</a:t>
            </a:r>
            <a:endParaRPr lang="it-IT" sz="2000" b="1" kern="0" dirty="0">
              <a:effectLst/>
              <a:latin typeface="+mj-lt"/>
              <a:cs typeface="Arial" panose="020B0604020202020204" pitchFamily="34" charset="0"/>
            </a:endParaRPr>
          </a:p>
        </p:txBody>
      </p:sp>
      <p:sp>
        <p:nvSpPr>
          <p:cNvPr id="13" name="Rettangolo 1">
            <a:extLst>
              <a:ext uri="{FF2B5EF4-FFF2-40B4-BE49-F238E27FC236}">
                <a16:creationId xmlns:a16="http://schemas.microsoft.com/office/drawing/2014/main" id="{F505F9FF-0E8C-FB2D-F5DA-1C23DC5C6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416" y="115888"/>
            <a:ext cx="721223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f1.2</a:t>
            </a:r>
          </a:p>
        </p:txBody>
      </p:sp>
    </p:spTree>
    <p:extLst>
      <p:ext uri="{BB962C8B-B14F-4D97-AF65-F5344CB8AC3E}">
        <p14:creationId xmlns:p14="http://schemas.microsoft.com/office/powerpoint/2010/main" val="3510120993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Segnaposto contenuto 3" descr="0321.gif"/>
          <p:cNvPicPr>
            <a:picLocks noGrp="1" noChangeAspect="1"/>
          </p:cNvPicPr>
          <p:nvPr>
            <p:ph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9" r="2431"/>
          <a:stretch/>
        </p:blipFill>
        <p:spPr>
          <a:xfrm>
            <a:off x="35495" y="1196752"/>
            <a:ext cx="9073009" cy="5400600"/>
          </a:xfrm>
        </p:spPr>
      </p:pic>
      <p:pic>
        <p:nvPicPr>
          <p:cNvPr id="3" name="Segnaposto contenuto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5" y="5646180"/>
            <a:ext cx="1039658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olo 1"/>
          <p:cNvSpPr txBox="1">
            <a:spLocks/>
          </p:cNvSpPr>
          <p:nvPr/>
        </p:nvSpPr>
        <p:spPr bwMode="auto">
          <a:xfrm>
            <a:off x="179512" y="303826"/>
            <a:ext cx="8856984" cy="964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kern="0" dirty="0">
                <a:effectLst/>
              </a:rPr>
              <a:t>CONNETTIVO: Collegamento organi, cavità, stabilità, 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2400" kern="0" dirty="0">
                <a:effectLst/>
              </a:rPr>
              <a:t>fissazione, distribuzione di vasi, nervi e vasi linfatici </a:t>
            </a:r>
          </a:p>
        </p:txBody>
      </p:sp>
      <p:sp>
        <p:nvSpPr>
          <p:cNvPr id="6" name="Titolo 1"/>
          <p:cNvSpPr txBox="1">
            <a:spLocks/>
          </p:cNvSpPr>
          <p:nvPr/>
        </p:nvSpPr>
        <p:spPr bwMode="auto">
          <a:xfrm>
            <a:off x="4571999" y="1928518"/>
            <a:ext cx="144016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400" kern="0" dirty="0">
                <a:solidFill>
                  <a:srgbClr val="04080C"/>
                </a:solidFill>
                <a:effectLst/>
              </a:rPr>
              <a:t>IPODERMA</a:t>
            </a:r>
          </a:p>
        </p:txBody>
      </p:sp>
      <p:sp>
        <p:nvSpPr>
          <p:cNvPr id="9" name="Titolo 1"/>
          <p:cNvSpPr txBox="1">
            <a:spLocks/>
          </p:cNvSpPr>
          <p:nvPr/>
        </p:nvSpPr>
        <p:spPr bwMode="auto">
          <a:xfrm>
            <a:off x="7233128" y="1299313"/>
            <a:ext cx="1875376" cy="877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400" kern="0" dirty="0">
                <a:solidFill>
                  <a:srgbClr val="04080C"/>
                </a:solidFill>
                <a:effectLst/>
              </a:rPr>
              <a:t>Isolamento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400" kern="0" dirty="0">
                <a:solidFill>
                  <a:srgbClr val="04080C"/>
                </a:solidFill>
                <a:effectLst/>
              </a:rPr>
              <a:t>Ammortizzamento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400" kern="0" dirty="0">
                <a:solidFill>
                  <a:srgbClr val="04080C"/>
                </a:solidFill>
                <a:effectLst/>
              </a:rPr>
              <a:t>Movimento cute</a:t>
            </a:r>
          </a:p>
        </p:txBody>
      </p:sp>
      <p:sp>
        <p:nvSpPr>
          <p:cNvPr id="10" name="Titolo 1"/>
          <p:cNvSpPr txBox="1">
            <a:spLocks/>
          </p:cNvSpPr>
          <p:nvPr/>
        </p:nvSpPr>
        <p:spPr bwMode="auto">
          <a:xfrm>
            <a:off x="2513148" y="3296670"/>
            <a:ext cx="144016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200" kern="0" dirty="0">
                <a:solidFill>
                  <a:srgbClr val="04080C"/>
                </a:solidFill>
                <a:effectLst/>
              </a:rPr>
              <a:t>LASSO</a:t>
            </a:r>
          </a:p>
        </p:txBody>
      </p:sp>
      <p:sp>
        <p:nvSpPr>
          <p:cNvPr id="11" name="Titolo 1"/>
          <p:cNvSpPr txBox="1">
            <a:spLocks/>
          </p:cNvSpPr>
          <p:nvPr/>
        </p:nvSpPr>
        <p:spPr bwMode="auto">
          <a:xfrm>
            <a:off x="2513148" y="4649396"/>
            <a:ext cx="144016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200" kern="0" dirty="0">
                <a:solidFill>
                  <a:srgbClr val="04080C"/>
                </a:solidFill>
                <a:effectLst/>
              </a:rPr>
              <a:t>DENSO</a:t>
            </a:r>
          </a:p>
        </p:txBody>
      </p:sp>
      <p:sp>
        <p:nvSpPr>
          <p:cNvPr id="12" name="Titolo 1"/>
          <p:cNvSpPr txBox="1">
            <a:spLocks/>
          </p:cNvSpPr>
          <p:nvPr/>
        </p:nvSpPr>
        <p:spPr bwMode="auto">
          <a:xfrm>
            <a:off x="2542528" y="5642170"/>
            <a:ext cx="1440160" cy="28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200" kern="0" dirty="0">
                <a:solidFill>
                  <a:srgbClr val="04080C"/>
                </a:solidFill>
                <a:effectLst/>
              </a:rPr>
              <a:t>LASSO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79163399-E3C0-EF4A-16E3-DE0B99C01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568828"/>
            <a:ext cx="3456383" cy="49202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600">
              <a:solidFill>
                <a:srgbClr val="FF0000"/>
              </a:solidFill>
            </a:endParaRPr>
          </a:p>
        </p:txBody>
      </p:sp>
      <p:pic>
        <p:nvPicPr>
          <p:cNvPr id="7" name="Segnaposto contenuto 3" descr="0327.gif">
            <a:extLst>
              <a:ext uri="{FF2B5EF4-FFF2-40B4-BE49-F238E27FC236}">
                <a16:creationId xmlns:a16="http://schemas.microsoft.com/office/drawing/2014/main" id="{82A1DCF7-BB7C-8F5F-3554-5A85C2249D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t="90381" r="75348" b="2945"/>
          <a:stretch/>
        </p:blipFill>
        <p:spPr>
          <a:xfrm>
            <a:off x="7092280" y="5805264"/>
            <a:ext cx="2016224" cy="77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627211"/>
      </p:ext>
    </p:extLst>
  </p:cSld>
  <p:clrMapOvr>
    <a:masterClrMapping/>
  </p:clrMapOvr>
  <p:transition spd="med">
    <p:pull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Segnaposto contenuto 3" descr="pg26_b.gif"/>
          <p:cNvPicPr>
            <a:picLocks noGrp="1" noChangeAspect="1"/>
          </p:cNvPicPr>
          <p:nvPr>
            <p:ph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927"/>
          <a:stretch/>
        </p:blipFill>
        <p:spPr>
          <a:xfrm>
            <a:off x="1618853" y="44450"/>
            <a:ext cx="4105275" cy="6768926"/>
          </a:xfrm>
        </p:spPr>
      </p:pic>
      <p:sp>
        <p:nvSpPr>
          <p:cNvPr id="3" name="Segnaposto contenuto 2"/>
          <p:cNvSpPr txBox="1">
            <a:spLocks/>
          </p:cNvSpPr>
          <p:nvPr/>
        </p:nvSpPr>
        <p:spPr>
          <a:xfrm>
            <a:off x="5876891" y="980728"/>
            <a:ext cx="2871573" cy="28083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None/>
              <a:defRPr/>
            </a:pPr>
            <a:r>
              <a:rPr lang="it-IT" sz="3600" kern="0" dirty="0">
                <a:effectLst/>
              </a:rPr>
              <a:t>POSIZIONE</a:t>
            </a:r>
          </a:p>
          <a:p>
            <a:pPr marL="0" indent="0" algn="ctr">
              <a:buNone/>
              <a:defRPr/>
            </a:pPr>
            <a:r>
              <a:rPr lang="it-IT" sz="3600" kern="0" dirty="0">
                <a:effectLst/>
              </a:rPr>
              <a:t> ANATOMICA</a:t>
            </a:r>
          </a:p>
          <a:p>
            <a:pPr marL="0" indent="0" algn="ctr">
              <a:buNone/>
              <a:defRPr/>
            </a:pPr>
            <a:r>
              <a:rPr lang="it-IT" sz="3600" kern="0" dirty="0">
                <a:effectLst/>
              </a:rPr>
              <a:t>di</a:t>
            </a:r>
          </a:p>
          <a:p>
            <a:pPr marL="0" indent="0" algn="ctr">
              <a:buNone/>
              <a:defRPr/>
            </a:pPr>
            <a:r>
              <a:rPr lang="it-IT" sz="3600" kern="0" dirty="0">
                <a:effectLst/>
              </a:rPr>
              <a:t>riferimento</a:t>
            </a:r>
          </a:p>
        </p:txBody>
      </p:sp>
      <p:sp>
        <p:nvSpPr>
          <p:cNvPr id="7" name="Segnaposto contenuto 2"/>
          <p:cNvSpPr txBox="1">
            <a:spLocks/>
          </p:cNvSpPr>
          <p:nvPr/>
        </p:nvSpPr>
        <p:spPr>
          <a:xfrm>
            <a:off x="1690985" y="116632"/>
            <a:ext cx="1583407" cy="66967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None/>
            </a:pPr>
            <a:r>
              <a:rPr lang="it-IT" sz="1400" kern="0" dirty="0">
                <a:solidFill>
                  <a:srgbClr val="FF0000"/>
                </a:solidFill>
                <a:effectLst/>
              </a:rPr>
              <a:t>TESTA</a:t>
            </a: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r>
              <a:rPr lang="it-IT" sz="1400" kern="0" dirty="0">
                <a:solidFill>
                  <a:srgbClr val="FF0000"/>
                </a:solidFill>
                <a:effectLst/>
              </a:rPr>
              <a:t>COLLO</a:t>
            </a: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r>
              <a:rPr lang="it-IT" sz="1400" kern="0" dirty="0">
                <a:solidFill>
                  <a:srgbClr val="FF0000"/>
                </a:solidFill>
                <a:effectLst/>
              </a:rPr>
              <a:t>ARTO SUP</a:t>
            </a: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r>
              <a:rPr lang="it-IT" sz="1400" kern="0" dirty="0">
                <a:solidFill>
                  <a:srgbClr val="FF0000"/>
                </a:solidFill>
                <a:effectLst/>
              </a:rPr>
              <a:t>TRONCO</a:t>
            </a: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endParaRPr lang="it-IT" sz="1400" kern="0" dirty="0">
              <a:solidFill>
                <a:srgbClr val="FF0000"/>
              </a:solidFill>
              <a:effectLst/>
            </a:endParaRPr>
          </a:p>
          <a:p>
            <a:pPr marL="0" indent="0">
              <a:buNone/>
            </a:pPr>
            <a:r>
              <a:rPr lang="it-IT" sz="1400" kern="0" dirty="0">
                <a:solidFill>
                  <a:srgbClr val="FF0000"/>
                </a:solidFill>
                <a:effectLst/>
              </a:rPr>
              <a:t>ARTO INF</a:t>
            </a:r>
          </a:p>
        </p:txBody>
      </p:sp>
      <p:sp>
        <p:nvSpPr>
          <p:cNvPr id="8" name="Rettangolo 1"/>
          <p:cNvSpPr>
            <a:spLocks noChangeArrowheads="1"/>
          </p:cNvSpPr>
          <p:nvPr/>
        </p:nvSpPr>
        <p:spPr bwMode="auto">
          <a:xfrm>
            <a:off x="4283273" y="683985"/>
            <a:ext cx="1436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VISIONE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FRONTALE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5AB9A124-04F7-159E-2845-EF3D99BCD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416" y="115888"/>
            <a:ext cx="721223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f1.3</a:t>
            </a:r>
          </a:p>
        </p:txBody>
      </p:sp>
    </p:spTree>
    <p:extLst>
      <p:ext uri="{BB962C8B-B14F-4D97-AF65-F5344CB8AC3E}">
        <p14:creationId xmlns:p14="http://schemas.microsoft.com/office/powerpoint/2010/main" val="985234260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olo 1"/>
          <p:cNvSpPr>
            <a:spLocks noGrp="1"/>
          </p:cNvSpPr>
          <p:nvPr>
            <p:ph type="title"/>
          </p:nvPr>
        </p:nvSpPr>
        <p:spPr bwMode="auto">
          <a:xfrm>
            <a:off x="210584" y="44624"/>
            <a:ext cx="3744416" cy="165618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algn="ctr"/>
            <a:r>
              <a:rPr lang="it-IT" altLang="it-IT" dirty="0">
                <a:effectLst/>
              </a:rPr>
              <a:t>SISTEMI DI RIFERIMENTO </a:t>
            </a:r>
            <a:br>
              <a:rPr lang="it-IT" altLang="it-IT" dirty="0">
                <a:effectLst/>
              </a:rPr>
            </a:br>
            <a:r>
              <a:rPr lang="it-IT" altLang="it-IT" dirty="0">
                <a:effectLst/>
              </a:rPr>
              <a:t>  </a:t>
            </a:r>
            <a:r>
              <a:rPr lang="it-IT" altLang="it-IT" sz="4000" b="0" dirty="0">
                <a:solidFill>
                  <a:srgbClr val="FFFF00"/>
                </a:solidFill>
                <a:effectLst/>
              </a:rPr>
              <a:t>PIANI </a:t>
            </a:r>
            <a:br>
              <a:rPr lang="it-IT" altLang="it-IT" sz="4000" b="0" dirty="0">
                <a:solidFill>
                  <a:srgbClr val="FFFF00"/>
                </a:solidFill>
                <a:effectLst/>
              </a:rPr>
            </a:br>
            <a:r>
              <a:rPr lang="it-IT" altLang="it-IT" b="0" dirty="0">
                <a:solidFill>
                  <a:srgbClr val="FFFF00"/>
                </a:solidFill>
                <a:effectLst/>
              </a:rPr>
              <a:t>(</a:t>
            </a:r>
            <a:r>
              <a:rPr lang="it-IT" altLang="it-IT" dirty="0">
                <a:solidFill>
                  <a:srgbClr val="FFFF00"/>
                </a:solidFill>
                <a:effectLst/>
              </a:rPr>
              <a:t>fondamentali</a:t>
            </a:r>
            <a:r>
              <a:rPr lang="it-IT" altLang="it-IT" b="0" dirty="0">
                <a:solidFill>
                  <a:srgbClr val="FFFF00"/>
                </a:solidFill>
                <a:effectLst/>
              </a:rPr>
              <a:t>) posizione </a:t>
            </a:r>
            <a:endParaRPr lang="it-IT" altLang="it-IT" dirty="0">
              <a:solidFill>
                <a:srgbClr val="FF0000"/>
              </a:solidFill>
              <a:effectLst/>
            </a:endParaRPr>
          </a:p>
        </p:txBody>
      </p:sp>
      <p:pic>
        <p:nvPicPr>
          <p:cNvPr id="15363" name="Segnaposto contenuto 3" descr="pg27_d.gi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2" r="4468" b="19769"/>
          <a:stretch/>
        </p:blipFill>
        <p:spPr>
          <a:xfrm>
            <a:off x="4140200" y="44624"/>
            <a:ext cx="4968304" cy="6768752"/>
          </a:xfrm>
        </p:spPr>
      </p:pic>
      <p:sp>
        <p:nvSpPr>
          <p:cNvPr id="15364" name="Segnaposto testo 2"/>
          <p:cNvSpPr>
            <a:spLocks noGrp="1"/>
          </p:cNvSpPr>
          <p:nvPr>
            <p:ph type="body" sz="half" idx="2"/>
          </p:nvPr>
        </p:nvSpPr>
        <p:spPr>
          <a:xfrm>
            <a:off x="107504" y="1831791"/>
            <a:ext cx="4176713" cy="4765561"/>
          </a:xfrm>
        </p:spPr>
        <p:txBody>
          <a:bodyPr/>
          <a:lstStyle/>
          <a:p>
            <a:r>
              <a:rPr lang="it-IT" altLang="it-IT" sz="2000" b="1" dirty="0">
                <a:effectLst/>
                <a:latin typeface="Calibri" pitchFamily="34" charset="0"/>
              </a:rPr>
              <a:t>SAGITTALE</a:t>
            </a:r>
            <a:r>
              <a:rPr lang="it-IT" altLang="it-IT" sz="2000" dirty="0">
                <a:effectLst/>
                <a:latin typeface="Calibri" pitchFamily="34" charset="0"/>
              </a:rPr>
              <a:t> </a:t>
            </a:r>
          </a:p>
          <a:p>
            <a:r>
              <a:rPr lang="it-IT" altLang="it-IT" sz="2000" dirty="0">
                <a:effectLst/>
                <a:latin typeface="Calibri" pitchFamily="34" charset="0"/>
              </a:rPr>
              <a:t>(</a:t>
            </a:r>
            <a:r>
              <a:rPr lang="it-IT" altLang="it-IT" sz="2000" i="1" dirty="0">
                <a:effectLst/>
                <a:latin typeface="Calibri" pitchFamily="34" charset="0"/>
              </a:rPr>
              <a:t>sutura sagittale </a:t>
            </a:r>
            <a:r>
              <a:rPr lang="it-IT" altLang="it-IT" sz="2000" dirty="0">
                <a:effectLst/>
                <a:latin typeface="Calibri" pitchFamily="34" charset="0"/>
              </a:rPr>
              <a:t>del cranio):</a:t>
            </a:r>
          </a:p>
          <a:p>
            <a:r>
              <a:rPr lang="it-IT" altLang="it-IT" sz="2000" dirty="0">
                <a:effectLst/>
                <a:latin typeface="Calibri" pitchFamily="34" charset="0"/>
              </a:rPr>
              <a:t>     MEDIANO = </a:t>
            </a:r>
          </a:p>
          <a:p>
            <a:r>
              <a:rPr lang="it-IT" altLang="it-IT" sz="2000" dirty="0">
                <a:effectLst/>
                <a:latin typeface="Calibri" pitchFamily="34" charset="0"/>
              </a:rPr>
              <a:t>     DUE META’ </a:t>
            </a:r>
            <a:r>
              <a:rPr lang="it-IT" altLang="it-IT" sz="2000" dirty="0">
                <a:solidFill>
                  <a:srgbClr val="FFFF00"/>
                </a:solidFill>
                <a:effectLst/>
                <a:latin typeface="Calibri" pitchFamily="34" charset="0"/>
              </a:rPr>
              <a:t>SIMMETRICHE</a:t>
            </a:r>
          </a:p>
          <a:p>
            <a:r>
              <a:rPr lang="it-IT" altLang="it-IT" sz="2000" dirty="0">
                <a:solidFill>
                  <a:srgbClr val="FFFF00"/>
                </a:solidFill>
                <a:effectLst/>
                <a:latin typeface="Calibri" pitchFamily="34" charset="0"/>
              </a:rPr>
              <a:t>    </a:t>
            </a:r>
            <a:r>
              <a:rPr lang="it-IT" altLang="it-IT" sz="2000" dirty="0">
                <a:effectLst/>
                <a:latin typeface="Calibri" pitchFamily="34" charset="0"/>
              </a:rPr>
              <a:t> (in superficie)</a:t>
            </a:r>
          </a:p>
          <a:p>
            <a:endParaRPr lang="it-IT" altLang="it-IT" sz="2000" dirty="0">
              <a:effectLst/>
              <a:latin typeface="Calibri" pitchFamily="34" charset="0"/>
            </a:endParaRPr>
          </a:p>
          <a:p>
            <a:r>
              <a:rPr lang="it-IT" altLang="it-IT" sz="2000" b="1" dirty="0">
                <a:effectLst/>
                <a:latin typeface="Calibri" pitchFamily="34" charset="0"/>
              </a:rPr>
              <a:t>FRONTALE</a:t>
            </a:r>
            <a:r>
              <a:rPr lang="it-IT" altLang="it-IT" sz="2000" dirty="0">
                <a:effectLst/>
                <a:latin typeface="Calibri" pitchFamily="34" charset="0"/>
              </a:rPr>
              <a:t> o </a:t>
            </a:r>
            <a:r>
              <a:rPr lang="it-IT" altLang="it-IT" sz="2000" b="1" dirty="0">
                <a:effectLst/>
                <a:latin typeface="Calibri" pitchFamily="34" charset="0"/>
              </a:rPr>
              <a:t>CORONALE</a:t>
            </a:r>
          </a:p>
          <a:p>
            <a:r>
              <a:rPr lang="it-IT" altLang="it-IT" sz="2000" dirty="0">
                <a:effectLst/>
                <a:latin typeface="Calibri" pitchFamily="34" charset="0"/>
              </a:rPr>
              <a:t>(</a:t>
            </a:r>
            <a:r>
              <a:rPr lang="it-IT" altLang="it-IT" sz="2000" i="1" dirty="0">
                <a:effectLst/>
                <a:latin typeface="Calibri" pitchFamily="34" charset="0"/>
              </a:rPr>
              <a:t>sutura coronale</a:t>
            </a:r>
            <a:r>
              <a:rPr lang="it-IT" altLang="it-IT" sz="2000" dirty="0">
                <a:effectLst/>
                <a:latin typeface="Calibri" pitchFamily="34" charset="0"/>
              </a:rPr>
              <a:t> del cranio) </a:t>
            </a:r>
          </a:p>
          <a:p>
            <a:r>
              <a:rPr lang="it-IT" altLang="it-IT" sz="2000" dirty="0">
                <a:effectLst/>
                <a:latin typeface="Calibri" pitchFamily="34" charset="0"/>
              </a:rPr>
              <a:t>= due metà:</a:t>
            </a:r>
          </a:p>
          <a:p>
            <a:r>
              <a:rPr lang="it-IT" altLang="it-IT" sz="2000" dirty="0">
                <a:effectLst/>
                <a:latin typeface="Calibri" pitchFamily="34" charset="0"/>
              </a:rPr>
              <a:t>      </a:t>
            </a:r>
            <a:r>
              <a:rPr lang="it-IT" altLang="it-IT" sz="2000" dirty="0">
                <a:solidFill>
                  <a:srgbClr val="FFFF00"/>
                </a:solidFill>
                <a:effectLst/>
                <a:latin typeface="Calibri" pitchFamily="34" charset="0"/>
              </a:rPr>
              <a:t>     ANTERIORE  /  VENTRALE</a:t>
            </a:r>
          </a:p>
          <a:p>
            <a:r>
              <a:rPr lang="it-IT" altLang="it-IT" sz="2000" dirty="0">
                <a:solidFill>
                  <a:srgbClr val="FFFF00"/>
                </a:solidFill>
                <a:effectLst/>
                <a:latin typeface="Calibri" pitchFamily="34" charset="0"/>
              </a:rPr>
              <a:t>     </a:t>
            </a:r>
            <a:r>
              <a:rPr lang="it-IT" altLang="it-IT" sz="2000" dirty="0">
                <a:effectLst/>
                <a:latin typeface="Calibri" pitchFamily="34" charset="0"/>
              </a:rPr>
              <a:t>      </a:t>
            </a:r>
            <a:r>
              <a:rPr lang="it-IT" altLang="it-IT" sz="2000" dirty="0">
                <a:solidFill>
                  <a:srgbClr val="FFFF00"/>
                </a:solidFill>
                <a:effectLst/>
                <a:latin typeface="Calibri" pitchFamily="34" charset="0"/>
              </a:rPr>
              <a:t>POSTERIORE / DORSALE</a:t>
            </a:r>
          </a:p>
          <a:p>
            <a:r>
              <a:rPr lang="it-IT" altLang="it-IT" sz="2000" b="1" dirty="0">
                <a:effectLst/>
                <a:latin typeface="Calibri" pitchFamily="34" charset="0"/>
              </a:rPr>
              <a:t>TRASVERSALE:</a:t>
            </a:r>
            <a:r>
              <a:rPr lang="it-IT" altLang="it-IT" sz="2000" dirty="0">
                <a:effectLst/>
                <a:latin typeface="Calibri" pitchFamily="34" charset="0"/>
              </a:rPr>
              <a:t> </a:t>
            </a:r>
          </a:p>
          <a:p>
            <a:r>
              <a:rPr lang="it-IT" altLang="it-IT" sz="2000" dirty="0">
                <a:effectLst/>
                <a:latin typeface="Calibri" pitchFamily="34" charset="0"/>
              </a:rPr>
              <a:t>               </a:t>
            </a:r>
            <a:r>
              <a:rPr lang="it-IT" altLang="it-IT" sz="2000" dirty="0">
                <a:solidFill>
                  <a:srgbClr val="FFFF00"/>
                </a:solidFill>
                <a:effectLst/>
                <a:latin typeface="Calibri" pitchFamily="34" charset="0"/>
              </a:rPr>
              <a:t>CRANIALE</a:t>
            </a:r>
            <a:r>
              <a:rPr lang="it-IT" altLang="it-IT" sz="2000" dirty="0">
                <a:effectLst/>
                <a:latin typeface="Calibri" pitchFamily="34" charset="0"/>
              </a:rPr>
              <a:t> E </a:t>
            </a:r>
            <a:r>
              <a:rPr lang="it-IT" altLang="it-IT" sz="2000" dirty="0">
                <a:solidFill>
                  <a:srgbClr val="FFFF00"/>
                </a:solidFill>
                <a:effectLst/>
                <a:latin typeface="Calibri" pitchFamily="34" charset="0"/>
              </a:rPr>
              <a:t>CAUDALE</a:t>
            </a:r>
            <a:r>
              <a:rPr lang="it-IT" altLang="it-IT" sz="2000" b="1" dirty="0">
                <a:solidFill>
                  <a:srgbClr val="FFC000"/>
                </a:solidFill>
                <a:effectLst/>
                <a:latin typeface="Calibri" pitchFamily="34" charset="0"/>
              </a:rPr>
              <a:t>                  </a:t>
            </a:r>
            <a:endParaRPr lang="it-IT" altLang="it-IT" sz="2000" dirty="0">
              <a:effectLst/>
              <a:latin typeface="Calibri" pitchFamily="34" charset="0"/>
            </a:endParaRPr>
          </a:p>
          <a:p>
            <a:r>
              <a:rPr lang="it-IT" altLang="it-IT" sz="2000" dirty="0">
                <a:effectLst/>
                <a:latin typeface="Calibri" pitchFamily="34" charset="0"/>
              </a:rPr>
              <a:t> </a:t>
            </a:r>
          </a:p>
        </p:txBody>
      </p:sp>
      <p:pic>
        <p:nvPicPr>
          <p:cNvPr id="8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11638" y="6124575"/>
            <a:ext cx="1330188" cy="683589"/>
          </a:xfrm>
          <a:prstGeom prst="rect">
            <a:avLst/>
          </a:prstGeom>
        </p:spPr>
      </p:pic>
      <p:pic>
        <p:nvPicPr>
          <p:cNvPr id="9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65512" y="6245696"/>
            <a:ext cx="1330188" cy="438975"/>
          </a:xfrm>
          <a:prstGeom prst="rect">
            <a:avLst/>
          </a:prstGeom>
        </p:spPr>
      </p:pic>
      <p:pic>
        <p:nvPicPr>
          <p:cNvPr id="10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41206" y="5782780"/>
            <a:ext cx="1239694" cy="683589"/>
          </a:xfrm>
          <a:prstGeom prst="rect">
            <a:avLst/>
          </a:prstGeom>
        </p:spPr>
      </p:pic>
      <p:pic>
        <p:nvPicPr>
          <p:cNvPr id="11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13812" y="3557700"/>
            <a:ext cx="1294692" cy="683589"/>
          </a:xfrm>
          <a:prstGeom prst="rect">
            <a:avLst/>
          </a:prstGeom>
        </p:spPr>
      </p:pic>
      <p:pic>
        <p:nvPicPr>
          <p:cNvPr id="13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84368" y="3140969"/>
            <a:ext cx="906202" cy="758526"/>
          </a:xfrm>
          <a:prstGeom prst="rect">
            <a:avLst/>
          </a:prstGeom>
        </p:spPr>
      </p:pic>
      <p:pic>
        <p:nvPicPr>
          <p:cNvPr id="12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1922" y="2420888"/>
            <a:ext cx="333162" cy="38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5564478"/>
            <a:ext cx="333162" cy="38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7150" y="6093296"/>
            <a:ext cx="333162" cy="38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6245696"/>
            <a:ext cx="333162" cy="38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6950" y="5924518"/>
            <a:ext cx="333162" cy="3848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996EBEB9-AA74-862E-08EC-88368DC12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992" y="1547945"/>
            <a:ext cx="855708" cy="758526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061CFBED-C4A6-0B52-2506-90548BCEC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416" y="115888"/>
            <a:ext cx="721223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 f1.4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808BC3E-26EA-4DD6-FE31-D64ABF62D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7468" y="4089291"/>
            <a:ext cx="693256" cy="635853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40CD4305-6C33-0EF1-FF10-A3DE7F398E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8734" y="1872832"/>
            <a:ext cx="1334691" cy="168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34053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olo 1"/>
          <p:cNvSpPr>
            <a:spLocks noGrp="1"/>
          </p:cNvSpPr>
          <p:nvPr>
            <p:ph type="title"/>
          </p:nvPr>
        </p:nvSpPr>
        <p:spPr bwMode="auto">
          <a:xfrm>
            <a:off x="210584" y="116632"/>
            <a:ext cx="3744416" cy="3600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r>
              <a:rPr lang="it-IT" altLang="it-IT" dirty="0">
                <a:effectLst/>
              </a:rPr>
              <a:t>SISTEMI DI RIFERIMENTO                     </a:t>
            </a:r>
            <a:endParaRPr lang="it-IT" altLang="it-IT" b="0" dirty="0">
              <a:solidFill>
                <a:srgbClr val="FFFF00"/>
              </a:solidFill>
              <a:effectLst/>
            </a:endParaRPr>
          </a:p>
        </p:txBody>
      </p:sp>
      <p:pic>
        <p:nvPicPr>
          <p:cNvPr id="15363" name="Segnaposto contenuto 3" descr="pg27_d.gi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9" r="4468" b="20596"/>
          <a:stretch/>
        </p:blipFill>
        <p:spPr>
          <a:xfrm>
            <a:off x="4140200" y="116632"/>
            <a:ext cx="4968304" cy="6624736"/>
          </a:xfrm>
        </p:spPr>
      </p:pic>
      <p:sp>
        <p:nvSpPr>
          <p:cNvPr id="15364" name="Segnaposto testo 2"/>
          <p:cNvSpPr>
            <a:spLocks noGrp="1"/>
          </p:cNvSpPr>
          <p:nvPr>
            <p:ph type="body" sz="half" idx="2"/>
          </p:nvPr>
        </p:nvSpPr>
        <p:spPr>
          <a:xfrm>
            <a:off x="-36513" y="548680"/>
            <a:ext cx="4176713" cy="5544616"/>
          </a:xfrm>
        </p:spPr>
        <p:txBody>
          <a:bodyPr/>
          <a:lstStyle/>
          <a:p>
            <a:r>
              <a:rPr lang="it-IT" altLang="it-IT" sz="4000" b="1" dirty="0">
                <a:solidFill>
                  <a:srgbClr val="FFFF00"/>
                </a:solidFill>
                <a:effectLst/>
                <a:latin typeface="Calibri" pitchFamily="34" charset="0"/>
              </a:rPr>
              <a:t>              ASSI</a:t>
            </a:r>
          </a:p>
          <a:p>
            <a:pPr algn="ctr"/>
            <a:r>
              <a:rPr lang="it-IT" altLang="it-IT" sz="2000" b="0" dirty="0">
                <a:solidFill>
                  <a:srgbClr val="FFFF00"/>
                </a:solidFill>
                <a:effectLst/>
              </a:rPr>
              <a:t>(fondamentali), movimento</a:t>
            </a:r>
          </a:p>
          <a:p>
            <a:pPr algn="ctr"/>
            <a:endParaRPr lang="it-IT" altLang="it-IT" sz="2000" b="1" dirty="0">
              <a:solidFill>
                <a:srgbClr val="FFFF00"/>
              </a:solidFill>
              <a:effectLst/>
              <a:latin typeface="Calibri" pitchFamily="34" charset="0"/>
            </a:endParaRPr>
          </a:p>
          <a:p>
            <a:pPr algn="ctr"/>
            <a:r>
              <a:rPr lang="it-IT" altLang="it-IT" sz="1800" b="1" dirty="0">
                <a:effectLst/>
                <a:latin typeface="Calibri" pitchFamily="34" charset="0"/>
              </a:rPr>
              <a:t>LONGITUDINALE</a:t>
            </a:r>
            <a:r>
              <a:rPr lang="it-IT" altLang="it-IT" sz="1800" dirty="0">
                <a:effectLst/>
                <a:latin typeface="Calibri" pitchFamily="34" charset="0"/>
              </a:rPr>
              <a:t> (CRANIO-CAUDALE, </a:t>
            </a:r>
            <a:r>
              <a:rPr lang="it-IT" altLang="it-IT" sz="1800" b="1" dirty="0">
                <a:effectLst/>
                <a:latin typeface="Calibri" pitchFamily="34" charset="0"/>
              </a:rPr>
              <a:t>F-S</a:t>
            </a:r>
            <a:r>
              <a:rPr lang="it-IT" altLang="it-IT" sz="1800" dirty="0">
                <a:effectLst/>
                <a:latin typeface="Calibri" pitchFamily="34" charset="0"/>
              </a:rPr>
              <a:t>)</a:t>
            </a:r>
          </a:p>
          <a:p>
            <a:pPr algn="ctr"/>
            <a:endParaRPr lang="it-IT" altLang="it-IT" sz="1800" dirty="0">
              <a:effectLst/>
              <a:latin typeface="Calibri" pitchFamily="34" charset="0"/>
            </a:endParaRPr>
          </a:p>
          <a:p>
            <a:pPr algn="ctr"/>
            <a:r>
              <a:rPr lang="it-IT" altLang="it-IT" sz="1800" b="1" dirty="0">
                <a:effectLst/>
                <a:latin typeface="Calibri" pitchFamily="34" charset="0"/>
              </a:rPr>
              <a:t>SAGITTALE </a:t>
            </a:r>
            <a:r>
              <a:rPr lang="it-IT" altLang="it-IT" sz="1800" dirty="0">
                <a:effectLst/>
                <a:latin typeface="Calibri" pitchFamily="34" charset="0"/>
              </a:rPr>
              <a:t>(</a:t>
            </a:r>
            <a:r>
              <a:rPr lang="it-IT" altLang="it-IT" sz="1800" b="1" dirty="0">
                <a:effectLst/>
                <a:latin typeface="Calibri" pitchFamily="34" charset="0"/>
              </a:rPr>
              <a:t>S-T</a:t>
            </a:r>
            <a:r>
              <a:rPr lang="it-IT" altLang="it-IT" sz="1800" dirty="0">
                <a:effectLst/>
                <a:latin typeface="Calibri" pitchFamily="34" charset="0"/>
              </a:rPr>
              <a:t>)</a:t>
            </a:r>
          </a:p>
          <a:p>
            <a:pPr algn="ctr"/>
            <a:endParaRPr lang="it-IT" altLang="it-IT" sz="1800" dirty="0">
              <a:effectLst/>
              <a:latin typeface="Calibri" pitchFamily="34" charset="0"/>
            </a:endParaRPr>
          </a:p>
          <a:p>
            <a:pPr algn="ctr"/>
            <a:r>
              <a:rPr lang="it-IT" altLang="it-IT" sz="1800" b="1" dirty="0">
                <a:effectLst/>
                <a:latin typeface="Calibri" pitchFamily="34" charset="0"/>
              </a:rPr>
              <a:t>TRASVERSALE</a:t>
            </a:r>
            <a:r>
              <a:rPr lang="it-IT" altLang="it-IT" sz="1800" dirty="0">
                <a:effectLst/>
                <a:latin typeface="Calibri" pitchFamily="34" charset="0"/>
              </a:rPr>
              <a:t> (ORIZZONTALE, </a:t>
            </a:r>
            <a:r>
              <a:rPr lang="it-IT" altLang="it-IT" sz="1800" b="1" dirty="0">
                <a:effectLst/>
                <a:latin typeface="Calibri" pitchFamily="34" charset="0"/>
              </a:rPr>
              <a:t>F-T</a:t>
            </a:r>
            <a:r>
              <a:rPr lang="it-IT" altLang="it-IT" sz="1800" dirty="0">
                <a:effectLst/>
                <a:latin typeface="Calibri" pitchFamily="34" charset="0"/>
              </a:rPr>
              <a:t>)</a:t>
            </a:r>
          </a:p>
          <a:p>
            <a:pPr algn="ctr"/>
            <a:endParaRPr lang="it-IT" altLang="it-IT" sz="1800" b="1" dirty="0">
              <a:effectLst/>
              <a:latin typeface="Calibri" pitchFamily="34" charset="0"/>
            </a:endParaRPr>
          </a:p>
          <a:p>
            <a:pPr algn="ctr"/>
            <a:r>
              <a:rPr lang="it-IT" altLang="it-IT" sz="2400" b="1" dirty="0">
                <a:solidFill>
                  <a:srgbClr val="FFFF00"/>
                </a:solidFill>
                <a:effectLst/>
                <a:latin typeface="Calibri" pitchFamily="34" charset="0"/>
              </a:rPr>
              <a:t>DIREZIONE</a:t>
            </a:r>
          </a:p>
          <a:p>
            <a:pPr algn="ctr"/>
            <a:r>
              <a:rPr lang="it-IT" altLang="it-IT" sz="2400" dirty="0">
                <a:solidFill>
                  <a:srgbClr val="FFFF00"/>
                </a:solidFill>
                <a:effectLst/>
                <a:latin typeface="Calibri" pitchFamily="34" charset="0"/>
              </a:rPr>
              <a:t>Ventrale/Dorsale, Cefalico/Caudale, Mediale/Laterale, Prossimale/Distale</a:t>
            </a:r>
          </a:p>
          <a:p>
            <a:pPr algn="r"/>
            <a:endParaRPr lang="it-IT" altLang="it-IT" sz="1800" dirty="0">
              <a:effectLst/>
              <a:latin typeface="Calibri" pitchFamily="34" charset="0"/>
            </a:endParaRPr>
          </a:p>
          <a:p>
            <a:r>
              <a:rPr lang="it-IT" altLang="it-IT" sz="1800" dirty="0">
                <a:effectLst/>
                <a:latin typeface="Calibri" pitchFamily="34" charset="0"/>
              </a:rPr>
              <a:t> </a:t>
            </a:r>
          </a:p>
        </p:txBody>
      </p:sp>
      <p:cxnSp>
        <p:nvCxnSpPr>
          <p:cNvPr id="6" name="Connettore 1 5"/>
          <p:cNvCxnSpPr/>
          <p:nvPr/>
        </p:nvCxnSpPr>
        <p:spPr>
          <a:xfrm flipH="1">
            <a:off x="6516216" y="116632"/>
            <a:ext cx="144016" cy="6336704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/>
          <p:cNvCxnSpPr/>
          <p:nvPr/>
        </p:nvCxnSpPr>
        <p:spPr>
          <a:xfrm>
            <a:off x="4860032" y="2420888"/>
            <a:ext cx="4104456" cy="1152128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ttore 1 17"/>
          <p:cNvCxnSpPr/>
          <p:nvPr/>
        </p:nvCxnSpPr>
        <p:spPr>
          <a:xfrm flipV="1">
            <a:off x="5076056" y="1988840"/>
            <a:ext cx="2808312" cy="1944216"/>
          </a:xfrm>
          <a:prstGeom prst="line">
            <a:avLst/>
          </a:prstGeom>
          <a:ln w="317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1"/>
          <p:cNvSpPr>
            <a:spLocks noChangeArrowheads="1"/>
          </p:cNvSpPr>
          <p:nvPr/>
        </p:nvSpPr>
        <p:spPr bwMode="auto">
          <a:xfrm>
            <a:off x="4715247" y="3933056"/>
            <a:ext cx="504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S</a:t>
            </a:r>
          </a:p>
        </p:txBody>
      </p:sp>
      <p:sp>
        <p:nvSpPr>
          <p:cNvPr id="9" name="Rettangolo 1"/>
          <p:cNvSpPr>
            <a:spLocks noChangeArrowheads="1"/>
          </p:cNvSpPr>
          <p:nvPr/>
        </p:nvSpPr>
        <p:spPr bwMode="auto">
          <a:xfrm>
            <a:off x="4427984" y="2204864"/>
            <a:ext cx="504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T</a:t>
            </a:r>
          </a:p>
        </p:txBody>
      </p:sp>
      <p:sp>
        <p:nvSpPr>
          <p:cNvPr id="10" name="Rettangolo 1"/>
          <p:cNvSpPr>
            <a:spLocks noChangeArrowheads="1"/>
          </p:cNvSpPr>
          <p:nvPr/>
        </p:nvSpPr>
        <p:spPr bwMode="auto">
          <a:xfrm>
            <a:off x="6228184" y="76562"/>
            <a:ext cx="5048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L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F46179D4-A426-956F-AC2E-A7C402F82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6416" y="115888"/>
            <a:ext cx="721223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 f1.4</a:t>
            </a:r>
          </a:p>
        </p:txBody>
      </p:sp>
    </p:spTree>
    <p:extLst>
      <p:ext uri="{BB962C8B-B14F-4D97-AF65-F5344CB8AC3E}">
        <p14:creationId xmlns:p14="http://schemas.microsoft.com/office/powerpoint/2010/main" val="3761023798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3" y="2852936"/>
            <a:ext cx="6624734" cy="35857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3" y="980728"/>
            <a:ext cx="6624735" cy="179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tangolo 1"/>
          <p:cNvSpPr>
            <a:spLocks noChangeArrowheads="1"/>
          </p:cNvSpPr>
          <p:nvPr/>
        </p:nvSpPr>
        <p:spPr bwMode="auto">
          <a:xfrm>
            <a:off x="8028384" y="44624"/>
            <a:ext cx="1034677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Tab1.4</a:t>
            </a:r>
          </a:p>
        </p:txBody>
      </p:sp>
      <p:sp>
        <p:nvSpPr>
          <p:cNvPr id="5" name="Titolo 1"/>
          <p:cNvSpPr txBox="1">
            <a:spLocks/>
          </p:cNvSpPr>
          <p:nvPr/>
        </p:nvSpPr>
        <p:spPr bwMode="auto">
          <a:xfrm>
            <a:off x="0" y="260648"/>
            <a:ext cx="9144000" cy="571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TERMINOLOGIA, POSIZIONE - DIREZIONE</a:t>
            </a:r>
          </a:p>
        </p:txBody>
      </p:sp>
    </p:spTree>
    <p:extLst>
      <p:ext uri="{BB962C8B-B14F-4D97-AF65-F5344CB8AC3E}">
        <p14:creationId xmlns:p14="http://schemas.microsoft.com/office/powerpoint/2010/main" val="3542102657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Segnaposto contenuto 3" descr="pg27_f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86"/>
          <a:stretch/>
        </p:blipFill>
        <p:spPr>
          <a:xfrm>
            <a:off x="1393744" y="199734"/>
            <a:ext cx="6562632" cy="6469626"/>
          </a:xfrm>
        </p:spPr>
      </p:pic>
      <p:sp>
        <p:nvSpPr>
          <p:cNvPr id="3" name="Ovale 2"/>
          <p:cNvSpPr/>
          <p:nvPr/>
        </p:nvSpPr>
        <p:spPr>
          <a:xfrm>
            <a:off x="3707904" y="2852936"/>
            <a:ext cx="1152128" cy="72008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361A83C0-479E-32A8-B0B4-6275D9ED4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00" y="115888"/>
            <a:ext cx="865239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f1.1.8</a:t>
            </a:r>
          </a:p>
        </p:txBody>
      </p:sp>
      <p:sp>
        <p:nvSpPr>
          <p:cNvPr id="4" name="Segnaposto contenuto 1"/>
          <p:cNvSpPr txBox="1">
            <a:spLocks/>
          </p:cNvSpPr>
          <p:nvPr/>
        </p:nvSpPr>
        <p:spPr bwMode="auto">
          <a:xfrm>
            <a:off x="2396778" y="115889"/>
            <a:ext cx="4335462" cy="576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  <a:defRPr/>
            </a:pPr>
            <a:r>
              <a:rPr lang="it-IT" kern="0">
                <a:solidFill>
                  <a:schemeClr val="bg2">
                    <a:lumMod val="40000"/>
                    <a:lumOff val="60000"/>
                  </a:schemeClr>
                </a:solidFill>
                <a:effectLst/>
              </a:rPr>
              <a:t>   ESAME POSTURALE</a:t>
            </a:r>
            <a:endParaRPr lang="it-IT" kern="0" dirty="0">
              <a:solidFill>
                <a:schemeClr val="bg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27637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Segnaposto contenuto 3" descr="pg27_e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1" t="6351" r="9288" b="32026"/>
          <a:stretch/>
        </p:blipFill>
        <p:spPr>
          <a:xfrm>
            <a:off x="323528" y="692696"/>
            <a:ext cx="8496944" cy="5714078"/>
          </a:xfr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B076926D-9BE5-B244-D776-5DC2EE697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360" y="260648"/>
            <a:ext cx="1153271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n.c.1.1.1</a:t>
            </a:r>
          </a:p>
        </p:txBody>
      </p:sp>
    </p:spTree>
    <p:extLst>
      <p:ext uri="{BB962C8B-B14F-4D97-AF65-F5344CB8AC3E}">
        <p14:creationId xmlns:p14="http://schemas.microsoft.com/office/powerpoint/2010/main" val="3873651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Segnaposto contenuto 3" descr="pg33_c.gif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90" t="1781" r="14578" b="36633"/>
          <a:stretch/>
        </p:blipFill>
        <p:spPr bwMode="auto">
          <a:xfrm>
            <a:off x="4283968" y="548679"/>
            <a:ext cx="4680520" cy="6264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675" name="Segnaposto contenuto 3" descr="pg32_b.gif"/>
          <p:cNvPicPr>
            <a:picLocks noGrp="1" noChangeAspect="1"/>
          </p:cNvPicPr>
          <p:nvPr>
            <p:ph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4" t="5317" r="15449" b="36275"/>
          <a:stretch/>
        </p:blipFill>
        <p:spPr>
          <a:xfrm>
            <a:off x="251520" y="548679"/>
            <a:ext cx="4751958" cy="6264697"/>
          </a:xfrm>
        </p:spPr>
      </p:pic>
      <p:sp>
        <p:nvSpPr>
          <p:cNvPr id="6" name="Rettangolo 5"/>
          <p:cNvSpPr/>
          <p:nvPr/>
        </p:nvSpPr>
        <p:spPr>
          <a:xfrm>
            <a:off x="3677915" y="548680"/>
            <a:ext cx="1254125" cy="136815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t-IT" b="1" dirty="0">
                <a:solidFill>
                  <a:schemeClr val="accent6">
                    <a:lumMod val="50000"/>
                  </a:schemeClr>
                </a:solidFill>
              </a:rPr>
              <a:t>PUNTI DI REPERE</a:t>
            </a:r>
          </a:p>
          <a:p>
            <a:pPr algn="ctr">
              <a:defRPr/>
            </a:pPr>
            <a:r>
              <a:rPr lang="it-IT" b="1" dirty="0">
                <a:solidFill>
                  <a:schemeClr val="accent6">
                    <a:lumMod val="50000"/>
                  </a:schemeClr>
                </a:solidFill>
              </a:rPr>
              <a:t>OSSEI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A53809A-E1BD-084C-A979-A167948B9C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376" y="115888"/>
            <a:ext cx="1081263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f1.7 1.9</a:t>
            </a:r>
          </a:p>
        </p:txBody>
      </p:sp>
    </p:spTree>
    <p:extLst>
      <p:ext uri="{BB962C8B-B14F-4D97-AF65-F5344CB8AC3E}">
        <p14:creationId xmlns:p14="http://schemas.microsoft.com/office/powerpoint/2010/main" val="3947220021"/>
      </p:ext>
    </p:extLst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Segnaposto contenuto 3" descr="pg30_a.gif"/>
          <p:cNvPicPr>
            <a:picLocks noGrp="1" noChangeAspect="1"/>
          </p:cNvPicPr>
          <p:nvPr>
            <p:ph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534" b="35804"/>
          <a:stretch/>
        </p:blipFill>
        <p:spPr>
          <a:xfrm>
            <a:off x="-256652" y="565150"/>
            <a:ext cx="4660377" cy="6176218"/>
          </a:xfrm>
        </p:spPr>
      </p:pic>
      <p:sp>
        <p:nvSpPr>
          <p:cNvPr id="3" name="Titolo 1"/>
          <p:cNvSpPr txBox="1">
            <a:spLocks/>
          </p:cNvSpPr>
          <p:nvPr/>
        </p:nvSpPr>
        <p:spPr bwMode="auto">
          <a:xfrm>
            <a:off x="0" y="-26988"/>
            <a:ext cx="9144000" cy="5715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ANATOMIA DI SUPERFICIE</a:t>
            </a:r>
          </a:p>
        </p:txBody>
      </p:sp>
      <p:pic>
        <p:nvPicPr>
          <p:cNvPr id="24580" name="Segnaposto contenuto 3" descr="pg30_b.gif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241"/>
          <a:stretch/>
        </p:blipFill>
        <p:spPr bwMode="auto">
          <a:xfrm>
            <a:off x="4211960" y="544513"/>
            <a:ext cx="4587641" cy="6196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81DAF154-6DBB-FEA4-9A31-B54EEEAD0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384" y="89485"/>
            <a:ext cx="865239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f1.5</a:t>
            </a:r>
          </a:p>
        </p:txBody>
      </p:sp>
    </p:spTree>
    <p:extLst>
      <p:ext uri="{BB962C8B-B14F-4D97-AF65-F5344CB8AC3E}">
        <p14:creationId xmlns:p14="http://schemas.microsoft.com/office/powerpoint/2010/main" val="3797746683"/>
      </p:ext>
    </p:extLst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3">
            <a:extLst>
              <a:ext uri="{FF2B5EF4-FFF2-40B4-BE49-F238E27FC236}">
                <a16:creationId xmlns:a16="http://schemas.microsoft.com/office/drawing/2014/main" id="{3624BB8F-F3EE-FD8B-FA1F-F4D98DEFE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Rombo di </a:t>
            </a:r>
            <a:r>
              <a:rPr lang="it-IT" dirty="0" err="1"/>
              <a:t>Michaelis</a:t>
            </a:r>
            <a:endParaRPr lang="it-IT" dirty="0"/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93F6EA88-18CB-CBBD-EABF-D50ACCEE9A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923928" y="1268760"/>
            <a:ext cx="4896544" cy="1912412"/>
          </a:xfrm>
        </p:spPr>
      </p:pic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E17321C8-603C-007F-9253-159E191986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57200" y="1268760"/>
            <a:ext cx="3394720" cy="3320922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ACE19AD-85CD-8DB6-6273-92AF80D7E44F}"/>
              </a:ext>
            </a:extLst>
          </p:cNvPr>
          <p:cNvSpPr txBox="1"/>
          <p:nvPr/>
        </p:nvSpPr>
        <p:spPr>
          <a:xfrm>
            <a:off x="4211960" y="5522070"/>
            <a:ext cx="46405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https://ostetricainrosa.it/losanga-michaelis-cos-e-come-individuarla/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7A36D0AC-A452-2184-020A-89E5526F9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353" y="3206867"/>
            <a:ext cx="4893120" cy="1989653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770C3F31-7F2D-8A19-2D70-C6AACAD9C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8214" y="4583112"/>
            <a:ext cx="1863626" cy="217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810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Segnaposto contenuto 3" descr="pg35_d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3" b="26281"/>
          <a:stretch/>
        </p:blipFill>
        <p:spPr>
          <a:xfrm>
            <a:off x="611188" y="44624"/>
            <a:ext cx="7916862" cy="6768752"/>
          </a:xfrm>
        </p:spPr>
      </p:pic>
      <p:sp>
        <p:nvSpPr>
          <p:cNvPr id="3" name="Ovale 2"/>
          <p:cNvSpPr/>
          <p:nvPr/>
        </p:nvSpPr>
        <p:spPr>
          <a:xfrm>
            <a:off x="3708400" y="260350"/>
            <a:ext cx="647700" cy="1081088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4" name="Ovale 3"/>
          <p:cNvSpPr/>
          <p:nvPr/>
        </p:nvSpPr>
        <p:spPr>
          <a:xfrm>
            <a:off x="3492500" y="3429000"/>
            <a:ext cx="1079500" cy="1952625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/>
          </a:p>
        </p:txBody>
      </p:sp>
      <p:sp>
        <p:nvSpPr>
          <p:cNvPr id="28677" name="Rettangolo 1"/>
          <p:cNvSpPr>
            <a:spLocks noChangeArrowheads="1"/>
          </p:cNvSpPr>
          <p:nvPr/>
        </p:nvSpPr>
        <p:spPr bwMode="auto">
          <a:xfrm>
            <a:off x="8532813" y="115888"/>
            <a:ext cx="504825" cy="338137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527002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3034" y="115888"/>
            <a:ext cx="2967038" cy="669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882" y="115888"/>
            <a:ext cx="3130550" cy="6694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DB332BE-021C-12D5-3966-760B579DD879}"/>
              </a:ext>
            </a:extLst>
          </p:cNvPr>
          <p:cNvSpPr txBox="1">
            <a:spLocks/>
          </p:cNvSpPr>
          <p:nvPr/>
        </p:nvSpPr>
        <p:spPr bwMode="auto">
          <a:xfrm>
            <a:off x="0" y="908720"/>
            <a:ext cx="2253034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itchFamily="2" charset="2"/>
              <a:buNone/>
              <a:defRPr/>
            </a:pPr>
            <a:endParaRPr lang="it-IT" kern="0" dirty="0">
              <a:effectLst/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it-IT" kern="0" dirty="0">
                <a:effectLst/>
              </a:rPr>
              <a:t>REGIONI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E0164DF4-D88C-B35A-CD16-581F59471D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5193" y="115888"/>
            <a:ext cx="865239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I f1.21</a:t>
            </a:r>
          </a:p>
        </p:txBody>
      </p:sp>
    </p:spTree>
    <p:extLst>
      <p:ext uri="{BB962C8B-B14F-4D97-AF65-F5344CB8AC3E}">
        <p14:creationId xmlns:p14="http://schemas.microsoft.com/office/powerpoint/2010/main" val="71091772"/>
      </p:ext>
    </p:extLst>
  </p:cSld>
  <p:clrMapOvr>
    <a:masterClrMapping/>
  </p:clrMapOvr>
  <p:transition spd="med">
    <p:pull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E82AF-D584-5C12-DA79-3846E6A2C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Risultati immagini per PAUSA">
            <a:hlinkClick r:id="rId3"/>
            <a:extLst>
              <a:ext uri="{FF2B5EF4-FFF2-40B4-BE49-F238E27FC236}">
                <a16:creationId xmlns:a16="http://schemas.microsoft.com/office/drawing/2014/main" id="{028F3A67-207D-0CA3-70B8-6530DC96C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188913"/>
            <a:ext cx="39497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5" name="Picture 4" descr="Risultati immagini per PAUSA">
            <a:hlinkClick r:id="rId5"/>
            <a:extLst>
              <a:ext uri="{FF2B5EF4-FFF2-40B4-BE49-F238E27FC236}">
                <a16:creationId xmlns:a16="http://schemas.microsoft.com/office/drawing/2014/main" id="{B5F2D2A6-6CA9-F2E5-F1D8-422D2B8E98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00" y="220663"/>
            <a:ext cx="4224338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6" descr="Risultati immagini per PAUSA">
            <a:hlinkClick r:id="rId7"/>
            <a:extLst>
              <a:ext uri="{FF2B5EF4-FFF2-40B4-BE49-F238E27FC236}">
                <a16:creationId xmlns:a16="http://schemas.microsoft.com/office/drawing/2014/main" id="{4AB5B3C4-B054-49C3-5E9B-CD35CB2392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924175"/>
            <a:ext cx="37433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8" descr="Risultati immagini per PAUSA">
            <a:hlinkClick r:id="rId9"/>
            <a:extLst>
              <a:ext uri="{FF2B5EF4-FFF2-40B4-BE49-F238E27FC236}">
                <a16:creationId xmlns:a16="http://schemas.microsoft.com/office/drawing/2014/main" id="{B4AA4CCD-5C58-C994-BB4F-9E7A40D91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924175"/>
            <a:ext cx="333375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10" descr="Risultati immagini per PAUSA">
            <a:hlinkClick r:id="rId11"/>
            <a:extLst>
              <a:ext uri="{FF2B5EF4-FFF2-40B4-BE49-F238E27FC236}">
                <a16:creationId xmlns:a16="http://schemas.microsoft.com/office/drawing/2014/main" id="{51A71DB5-F255-A1BC-464D-2D08425DC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313" y="2914650"/>
            <a:ext cx="25241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12" descr="Risultati immagini per PAUSA">
            <a:hlinkClick r:id="rId13"/>
            <a:extLst>
              <a:ext uri="{FF2B5EF4-FFF2-40B4-BE49-F238E27FC236}">
                <a16:creationId xmlns:a16="http://schemas.microsoft.com/office/drawing/2014/main" id="{64D93177-20D8-F876-4940-BDC6F4DA8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638" y="1251448"/>
            <a:ext cx="6501754" cy="4337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45115634"/>
      </p:ext>
    </p:extLst>
  </p:cSld>
  <p:clrMapOvr>
    <a:masterClrMapping/>
  </p:clrMapOvr>
  <p:transition spd="med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it-IT" sz="3200" dirty="0"/>
              <a:t>Proporzioni corporee durante la crescita</a:t>
            </a:r>
          </a:p>
        </p:txBody>
      </p:sp>
      <p:pic>
        <p:nvPicPr>
          <p:cNvPr id="4098" name="Segnaposto contenuto 3" descr="pg22_a.gi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023"/>
          <a:stretch/>
        </p:blipFill>
        <p:spPr>
          <a:xfrm>
            <a:off x="323528" y="681366"/>
            <a:ext cx="8568952" cy="5987994"/>
          </a:xfrm>
        </p:spPr>
      </p:pic>
      <p:sp>
        <p:nvSpPr>
          <p:cNvPr id="4" name="Rettangolo 1"/>
          <p:cNvSpPr>
            <a:spLocks noChangeArrowheads="1"/>
          </p:cNvSpPr>
          <p:nvPr/>
        </p:nvSpPr>
        <p:spPr bwMode="auto">
          <a:xfrm>
            <a:off x="1259632" y="1866727"/>
            <a:ext cx="576064" cy="33813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1/2</a:t>
            </a:r>
          </a:p>
        </p:txBody>
      </p:sp>
      <p:sp>
        <p:nvSpPr>
          <p:cNvPr id="5" name="Rettangolo 1"/>
          <p:cNvSpPr>
            <a:spLocks noChangeArrowheads="1"/>
          </p:cNvSpPr>
          <p:nvPr/>
        </p:nvSpPr>
        <p:spPr bwMode="auto">
          <a:xfrm>
            <a:off x="8028384" y="1578695"/>
            <a:ext cx="576064" cy="33813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1/8</a:t>
            </a:r>
          </a:p>
        </p:txBody>
      </p:sp>
      <p:sp>
        <p:nvSpPr>
          <p:cNvPr id="6" name="Rettangolo 1"/>
          <p:cNvSpPr>
            <a:spLocks noChangeArrowheads="1"/>
          </p:cNvSpPr>
          <p:nvPr/>
        </p:nvSpPr>
        <p:spPr bwMode="auto">
          <a:xfrm>
            <a:off x="3275856" y="1124744"/>
            <a:ext cx="576064" cy="33813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1/4</a:t>
            </a:r>
          </a:p>
        </p:txBody>
      </p:sp>
      <p:sp>
        <p:nvSpPr>
          <p:cNvPr id="7" name="Rettangolo 1"/>
          <p:cNvSpPr>
            <a:spLocks noChangeArrowheads="1"/>
          </p:cNvSpPr>
          <p:nvPr/>
        </p:nvSpPr>
        <p:spPr bwMode="auto">
          <a:xfrm>
            <a:off x="5292080" y="1124002"/>
            <a:ext cx="576064" cy="3385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1/6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E99687C-1ED4-2A84-66C5-053042B8A5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392" y="210126"/>
            <a:ext cx="1008112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A1.1.1</a:t>
            </a:r>
          </a:p>
        </p:txBody>
      </p:sp>
    </p:spTree>
    <p:extLst>
      <p:ext uri="{BB962C8B-B14F-4D97-AF65-F5344CB8AC3E}">
        <p14:creationId xmlns:p14="http://schemas.microsoft.com/office/powerpoint/2010/main" val="1590625910"/>
      </p:ext>
    </p:extLst>
  </p:cSld>
  <p:clrMapOvr>
    <a:masterClrMapping/>
  </p:clrMapOvr>
  <p:transition spd="med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it-IT" sz="3600" b="1" dirty="0"/>
              <a:t>Proporzioni</a:t>
            </a:r>
            <a:r>
              <a:rPr lang="it-IT" sz="3600" dirty="0"/>
              <a:t> corporee</a:t>
            </a:r>
          </a:p>
        </p:txBody>
      </p:sp>
      <p:pic>
        <p:nvPicPr>
          <p:cNvPr id="5122" name="Segnaposto contenuto 3" descr="pg22_b.gi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371"/>
          <a:stretch/>
        </p:blipFill>
        <p:spPr>
          <a:xfrm>
            <a:off x="1115616" y="810616"/>
            <a:ext cx="7056784" cy="5930752"/>
          </a:xfrm>
        </p:spPr>
      </p:pic>
      <p:sp>
        <p:nvSpPr>
          <p:cNvPr id="4" name="Ovale 3"/>
          <p:cNvSpPr/>
          <p:nvPr/>
        </p:nvSpPr>
        <p:spPr>
          <a:xfrm>
            <a:off x="1187624" y="3933056"/>
            <a:ext cx="1511300" cy="36036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D994C69-D303-D203-B4E0-01AB4C1B2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8384" y="138118"/>
            <a:ext cx="1008112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A1.1.1</a:t>
            </a:r>
          </a:p>
        </p:txBody>
      </p:sp>
    </p:spTree>
    <p:extLst>
      <p:ext uri="{BB962C8B-B14F-4D97-AF65-F5344CB8AC3E}">
        <p14:creationId xmlns:p14="http://schemas.microsoft.com/office/powerpoint/2010/main" val="3337142840"/>
      </p:ext>
    </p:extLst>
  </p:cSld>
  <p:clrMapOvr>
    <a:masterClrMapping/>
  </p:clrMapOvr>
  <p:transition spd="med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634082"/>
          </a:xfrm>
        </p:spPr>
        <p:txBody>
          <a:bodyPr/>
          <a:lstStyle/>
          <a:p>
            <a:r>
              <a:rPr lang="it-IT" sz="3600" dirty="0"/>
              <a:t>Misura apertura arti superiori</a:t>
            </a:r>
          </a:p>
        </p:txBody>
      </p:sp>
      <p:pic>
        <p:nvPicPr>
          <p:cNvPr id="6146" name="Segnaposto contenuto 3" descr="pg22_c.gif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55"/>
          <a:stretch/>
        </p:blipFill>
        <p:spPr>
          <a:xfrm>
            <a:off x="467544" y="764704"/>
            <a:ext cx="8280920" cy="5976664"/>
          </a:xfrm>
        </p:spPr>
      </p:pic>
      <p:sp>
        <p:nvSpPr>
          <p:cNvPr id="4" name="Rettangolo 1"/>
          <p:cNvSpPr>
            <a:spLocks noChangeArrowheads="1"/>
          </p:cNvSpPr>
          <p:nvPr/>
        </p:nvSpPr>
        <p:spPr bwMode="auto">
          <a:xfrm>
            <a:off x="1248335" y="3789040"/>
            <a:ext cx="2228850" cy="3385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Femmina 103%</a:t>
            </a:r>
          </a:p>
        </p:txBody>
      </p:sp>
      <p:sp>
        <p:nvSpPr>
          <p:cNvPr id="5" name="Rettangolo 1"/>
          <p:cNvSpPr>
            <a:spLocks noChangeArrowheads="1"/>
          </p:cNvSpPr>
          <p:nvPr/>
        </p:nvSpPr>
        <p:spPr bwMode="auto">
          <a:xfrm>
            <a:off x="5439494" y="3789040"/>
            <a:ext cx="2228850" cy="3385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Maschio 106%</a:t>
            </a:r>
          </a:p>
        </p:txBody>
      </p:sp>
      <p:cxnSp>
        <p:nvCxnSpPr>
          <p:cNvPr id="6" name="Connettore 1 5"/>
          <p:cNvCxnSpPr/>
          <p:nvPr/>
        </p:nvCxnSpPr>
        <p:spPr>
          <a:xfrm>
            <a:off x="4283967" y="1412776"/>
            <a:ext cx="1" cy="5256584"/>
          </a:xfrm>
          <a:prstGeom prst="line">
            <a:avLst/>
          </a:prstGeom>
          <a:ln w="317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1AE77F55-9B82-E9B3-EE22-84DC7BAB3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376" y="210126"/>
            <a:ext cx="1008112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I A1.1.1</a:t>
            </a:r>
          </a:p>
        </p:txBody>
      </p:sp>
    </p:spTree>
    <p:extLst>
      <p:ext uri="{BB962C8B-B14F-4D97-AF65-F5344CB8AC3E}">
        <p14:creationId xmlns:p14="http://schemas.microsoft.com/office/powerpoint/2010/main" val="2604045667"/>
      </p:ext>
    </p:extLst>
  </p:cSld>
  <p:clrMapOvr>
    <a:masterClrMapping/>
  </p:clrMapOvr>
  <p:transition spd="med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3292029" y="476672"/>
            <a:ext cx="2592288" cy="782960"/>
          </a:xfrm>
        </p:spPr>
        <p:txBody>
          <a:bodyPr/>
          <a:lstStyle/>
          <a:p>
            <a:r>
              <a:rPr lang="it-IT" sz="3200" dirty="0"/>
              <a:t>Percentile</a:t>
            </a:r>
          </a:p>
        </p:txBody>
      </p:sp>
      <p:pic>
        <p:nvPicPr>
          <p:cNvPr id="7170" name="Segnaposto contenuto 3" descr="pg22_d.gif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2" t="7636" r="15495" b="69222"/>
          <a:stretch/>
        </p:blipFill>
        <p:spPr>
          <a:xfrm>
            <a:off x="256305" y="1565278"/>
            <a:ext cx="8653800" cy="4888058"/>
          </a:xfrm>
        </p:spPr>
      </p:pic>
      <p:sp>
        <p:nvSpPr>
          <p:cNvPr id="5" name="Rettangolo 1"/>
          <p:cNvSpPr>
            <a:spLocks noChangeArrowheads="1"/>
          </p:cNvSpPr>
          <p:nvPr/>
        </p:nvSpPr>
        <p:spPr bwMode="auto">
          <a:xfrm>
            <a:off x="8532813" y="115888"/>
            <a:ext cx="504825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8740759"/>
      </p:ext>
    </p:extLst>
  </p:cSld>
  <p:clrMapOvr>
    <a:masterClrMapping/>
  </p:clrMapOvr>
  <p:transition spd="med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Terminologia di </a:t>
            </a:r>
            <a:r>
              <a:rPr lang="it-IT" b="1" dirty="0"/>
              <a:t>MOVIMENTO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68313" y="1268760"/>
            <a:ext cx="8229600" cy="5328592"/>
          </a:xfrm>
        </p:spPr>
        <p:txBody>
          <a:bodyPr/>
          <a:lstStyle/>
          <a:p>
            <a:r>
              <a:rPr lang="it-IT" dirty="0"/>
              <a:t>Flessione / Estensione</a:t>
            </a:r>
          </a:p>
          <a:p>
            <a:r>
              <a:rPr lang="it-IT" dirty="0"/>
              <a:t>Adduzione /Abduzione</a:t>
            </a:r>
          </a:p>
          <a:p>
            <a:r>
              <a:rPr lang="it-IT" dirty="0"/>
              <a:t>Rotazione Mediale / Laterale</a:t>
            </a:r>
          </a:p>
          <a:p>
            <a:pPr lvl="1"/>
            <a:r>
              <a:rPr lang="it-IT" dirty="0" err="1"/>
              <a:t>Intrarotazione</a:t>
            </a:r>
            <a:r>
              <a:rPr lang="it-IT" dirty="0"/>
              <a:t> / </a:t>
            </a:r>
            <a:r>
              <a:rPr lang="it-IT" dirty="0" err="1"/>
              <a:t>Extrarotazione</a:t>
            </a:r>
            <a:endParaRPr lang="it-IT" dirty="0"/>
          </a:p>
          <a:p>
            <a:r>
              <a:rPr lang="it-IT" dirty="0"/>
              <a:t>Pronazione / Supinazione</a:t>
            </a:r>
          </a:p>
          <a:p>
            <a:r>
              <a:rPr lang="it-IT" dirty="0"/>
              <a:t>Torsione (C.V.)</a:t>
            </a:r>
          </a:p>
          <a:p>
            <a:endParaRPr lang="it-IT" dirty="0"/>
          </a:p>
          <a:p>
            <a:r>
              <a:rPr lang="it-IT" dirty="0"/>
              <a:t>Movimenti Semplici / Complessi</a:t>
            </a:r>
          </a:p>
          <a:p>
            <a:pPr lvl="1"/>
            <a:r>
              <a:rPr lang="it-IT" dirty="0"/>
              <a:t>(assi e piani variabili)</a:t>
            </a:r>
          </a:p>
        </p:txBody>
      </p:sp>
    </p:spTree>
    <p:extLst>
      <p:ext uri="{BB962C8B-B14F-4D97-AF65-F5344CB8AC3E}">
        <p14:creationId xmlns:p14="http://schemas.microsoft.com/office/powerpoint/2010/main" val="20239377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 descr="https://web.infinito.it/utenti/m/martini12/italy2/immagini/parallelepipedi_diversi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320" y="1137864"/>
            <a:ext cx="6026024" cy="3299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/>
          <p:cNvSpPr/>
          <p:nvPr/>
        </p:nvSpPr>
        <p:spPr>
          <a:xfrm>
            <a:off x="971600" y="5301208"/>
            <a:ext cx="73270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it-IT" sz="2400" b="1" dirty="0">
                <a:solidFill>
                  <a:srgbClr val="FFC000"/>
                </a:solidFill>
                <a:latin typeface="Arial" panose="020B0604020202020204" pitchFamily="34" charset="0"/>
              </a:rPr>
              <a:t>A parità di forma,</a:t>
            </a:r>
          </a:p>
          <a:p>
            <a:pPr algn="ctr"/>
            <a:r>
              <a:rPr lang="it-IT" sz="2400" b="1" dirty="0">
                <a:solidFill>
                  <a:srgbClr val="FFC000"/>
                </a:solidFill>
                <a:latin typeface="Arial" panose="020B0604020202020204" pitchFamily="34" charset="0"/>
              </a:rPr>
              <a:t>all'aumentare delle dimensioni</a:t>
            </a:r>
          </a:p>
          <a:p>
            <a:pPr algn="ctr"/>
            <a:r>
              <a:rPr lang="it-IT" sz="2400" b="1" dirty="0">
                <a:solidFill>
                  <a:srgbClr val="FFC000"/>
                </a:solidFill>
                <a:latin typeface="Arial" panose="020B0604020202020204" pitchFamily="34" charset="0"/>
              </a:rPr>
              <a:t>«diminuisce» la superficie rispetto al volume</a:t>
            </a:r>
            <a:endParaRPr lang="it-IT" sz="2400" b="1" dirty="0">
              <a:solidFill>
                <a:srgbClr val="FFC000"/>
              </a:solidFill>
            </a:endParaRPr>
          </a:p>
        </p:txBody>
      </p:sp>
      <p:sp>
        <p:nvSpPr>
          <p:cNvPr id="5" name="Segnaposto contenuto 4"/>
          <p:cNvSpPr>
            <a:spLocks noGrp="1"/>
          </p:cNvSpPr>
          <p:nvPr>
            <p:ph/>
          </p:nvPr>
        </p:nvSpPr>
        <p:spPr>
          <a:xfrm>
            <a:off x="395536" y="281738"/>
            <a:ext cx="8496944" cy="770998"/>
          </a:xfrm>
        </p:spPr>
        <p:txBody>
          <a:bodyPr/>
          <a:lstStyle/>
          <a:p>
            <a:pPr marL="0" indent="0">
              <a:buNone/>
            </a:pPr>
            <a:r>
              <a:rPr lang="it-IT" sz="2000" b="1" dirty="0">
                <a:effectLst/>
              </a:rPr>
              <a:t>A parità di forma, come varia il rapporto tra superficie e volume al variare delle dimensioni?</a:t>
            </a:r>
            <a:endParaRPr lang="it-IT" sz="2000" dirty="0"/>
          </a:p>
        </p:txBody>
      </p:sp>
      <p:sp>
        <p:nvSpPr>
          <p:cNvPr id="6" name="Segnaposto contenuto 4"/>
          <p:cNvSpPr txBox="1">
            <a:spLocks/>
          </p:cNvSpPr>
          <p:nvPr/>
        </p:nvSpPr>
        <p:spPr bwMode="auto">
          <a:xfrm>
            <a:off x="251520" y="4522240"/>
            <a:ext cx="8652284" cy="922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it-IT" sz="2000" kern="0" dirty="0">
                <a:effectLst/>
              </a:rPr>
              <a:t>Utilizzando cubetti di legno si possono costruire 3 cubi di grandezza diversa e determinare facilmente superficie e volume di ognuno. </a:t>
            </a:r>
            <a:endParaRPr lang="it-IT" sz="2000" kern="0" dirty="0"/>
          </a:p>
        </p:txBody>
      </p:sp>
    </p:spTree>
    <p:extLst>
      <p:ext uri="{BB962C8B-B14F-4D97-AF65-F5344CB8AC3E}">
        <p14:creationId xmlns:p14="http://schemas.microsoft.com/office/powerpoint/2010/main" val="1869386570"/>
      </p:ext>
    </p:extLst>
  </p:cSld>
  <p:clrMapOvr>
    <a:masterClrMapping/>
  </p:clrMapOvr>
  <p:transition spd="med">
    <p:pull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677881"/>
            <a:ext cx="8240713" cy="5271399"/>
          </a:xfrm>
        </p:spPr>
        <p:txBody>
          <a:bodyPr/>
          <a:lstStyle/>
          <a:p>
            <a:pPr marL="0" indent="0">
              <a:buNone/>
            </a:pPr>
            <a:r>
              <a:rPr lang="it-IT" sz="2400" b="1" dirty="0">
                <a:effectLst/>
              </a:rPr>
              <a:t>La forma e le dimensioni </a:t>
            </a:r>
            <a:r>
              <a:rPr lang="it-IT" sz="2400" dirty="0">
                <a:effectLst/>
              </a:rPr>
              <a:t>di un organismo determinano il </a:t>
            </a:r>
            <a:r>
              <a:rPr lang="it-IT" sz="2400" b="1" dirty="0">
                <a:solidFill>
                  <a:srgbClr val="FFFF00"/>
                </a:solidFill>
                <a:effectLst/>
              </a:rPr>
              <a:t>rapporto</a:t>
            </a:r>
            <a:r>
              <a:rPr lang="it-IT" sz="2400" dirty="0">
                <a:solidFill>
                  <a:srgbClr val="FFFF00"/>
                </a:solidFill>
                <a:effectLst/>
              </a:rPr>
              <a:t> tra il suo </a:t>
            </a:r>
            <a:r>
              <a:rPr lang="it-IT" sz="2400" b="1" dirty="0">
                <a:solidFill>
                  <a:srgbClr val="FFFF00"/>
                </a:solidFill>
                <a:effectLst/>
              </a:rPr>
              <a:t>volume</a:t>
            </a:r>
            <a:r>
              <a:rPr lang="it-IT" sz="2400" dirty="0">
                <a:solidFill>
                  <a:srgbClr val="FFFF00"/>
                </a:solidFill>
                <a:effectLst/>
              </a:rPr>
              <a:t> e la sua </a:t>
            </a:r>
            <a:r>
              <a:rPr lang="it-IT" sz="2400" b="1" dirty="0">
                <a:solidFill>
                  <a:srgbClr val="FFFF00"/>
                </a:solidFill>
                <a:effectLst/>
              </a:rPr>
              <a:t>superficie</a:t>
            </a:r>
            <a:r>
              <a:rPr lang="it-IT" sz="2400" dirty="0">
                <a:solidFill>
                  <a:srgbClr val="FFFF00"/>
                </a:solidFill>
                <a:effectLst/>
              </a:rPr>
              <a:t> </a:t>
            </a:r>
            <a:r>
              <a:rPr lang="it-IT" sz="2400" dirty="0">
                <a:effectLst/>
              </a:rPr>
              <a:t>o, in termini biologici, </a:t>
            </a:r>
          </a:p>
          <a:p>
            <a:pPr marL="0" indent="0">
              <a:buNone/>
            </a:pPr>
            <a:endParaRPr lang="it-IT" sz="2400" dirty="0">
              <a:effectLst/>
            </a:endParaRPr>
          </a:p>
          <a:p>
            <a:r>
              <a:rPr lang="it-IT" sz="2400" dirty="0">
                <a:effectLst/>
              </a:rPr>
              <a:t>tra la quantità di "materia vivente", che </a:t>
            </a:r>
            <a:r>
              <a:rPr lang="it-IT" sz="2400" b="1" dirty="0">
                <a:effectLst/>
              </a:rPr>
              <a:t>consuma nutrimento, produce energia, calore </a:t>
            </a:r>
            <a:r>
              <a:rPr lang="it-IT" sz="2400" dirty="0">
                <a:effectLst/>
              </a:rPr>
              <a:t>ecc., </a:t>
            </a:r>
          </a:p>
          <a:p>
            <a:r>
              <a:rPr lang="it-IT" sz="2400" dirty="0">
                <a:effectLst/>
              </a:rPr>
              <a:t>e </a:t>
            </a:r>
            <a:r>
              <a:rPr lang="it-IT" sz="2400" dirty="0">
                <a:solidFill>
                  <a:srgbClr val="FFFF00"/>
                </a:solidFill>
                <a:effectLst/>
              </a:rPr>
              <a:t>l’</a:t>
            </a:r>
            <a:r>
              <a:rPr lang="it-IT" sz="2400" b="1" dirty="0">
                <a:solidFill>
                  <a:srgbClr val="FFFF00"/>
                </a:solidFill>
                <a:effectLst/>
              </a:rPr>
              <a:t>interfaccia di scambio </a:t>
            </a:r>
            <a:r>
              <a:rPr lang="it-IT" sz="2400" dirty="0">
                <a:effectLst/>
              </a:rPr>
              <a:t>(di calore, di acqua…) tra organismo ed ambiente esterno.</a:t>
            </a:r>
          </a:p>
          <a:p>
            <a:endParaRPr lang="it-IT" sz="2400" dirty="0"/>
          </a:p>
          <a:p>
            <a:endParaRPr lang="it-IT" sz="2400" dirty="0"/>
          </a:p>
          <a:p>
            <a:r>
              <a:rPr lang="it-IT" sz="2400" dirty="0">
                <a:effectLst/>
              </a:rPr>
              <a:t>Un organismo piccolo ha un </a:t>
            </a:r>
            <a:r>
              <a:rPr lang="it-IT" sz="2400" dirty="0">
                <a:solidFill>
                  <a:srgbClr val="FFFF00"/>
                </a:solidFill>
                <a:effectLst/>
              </a:rPr>
              <a:t>metabolismo più intenso </a:t>
            </a:r>
            <a:r>
              <a:rPr lang="it-IT" sz="2400" dirty="0">
                <a:effectLst/>
              </a:rPr>
              <a:t>di uno grande perché, rispetto al suo volume, ha </a:t>
            </a:r>
            <a:r>
              <a:rPr lang="it-IT" sz="2400" dirty="0">
                <a:solidFill>
                  <a:srgbClr val="FFFF00"/>
                </a:solidFill>
                <a:effectLst/>
              </a:rPr>
              <a:t>un'elevata superficie di scambio </a:t>
            </a:r>
            <a:r>
              <a:rPr lang="it-IT" sz="2400" dirty="0">
                <a:effectLst/>
              </a:rPr>
              <a:t>con l'ambiente.</a:t>
            </a:r>
          </a:p>
          <a:p>
            <a:endParaRPr lang="it-IT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8825065"/>
      </p:ext>
    </p:extLst>
  </p:cSld>
  <p:clrMapOvr>
    <a:masterClrMapping/>
  </p:clrMapOvr>
  <p:transition spd="med">
    <p:pull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893905"/>
            <a:ext cx="8240713" cy="5271399"/>
          </a:xfrm>
        </p:spPr>
        <p:txBody>
          <a:bodyPr/>
          <a:lstStyle/>
          <a:p>
            <a:r>
              <a:rPr lang="it-IT" sz="2400" dirty="0">
                <a:effectLst/>
              </a:rPr>
              <a:t>Gli animali che vivono in un </a:t>
            </a:r>
            <a:r>
              <a:rPr lang="it-IT" sz="2400" b="1" dirty="0">
                <a:effectLst/>
              </a:rPr>
              <a:t>ambiente freddo </a:t>
            </a:r>
            <a:r>
              <a:rPr lang="it-IT" sz="2400" dirty="0">
                <a:effectLst/>
              </a:rPr>
              <a:t>sono di solito più </a:t>
            </a:r>
            <a:r>
              <a:rPr lang="it-IT" sz="2400" dirty="0">
                <a:solidFill>
                  <a:srgbClr val="FFFF00"/>
                </a:solidFill>
                <a:effectLst/>
              </a:rPr>
              <a:t>grandi</a:t>
            </a:r>
            <a:r>
              <a:rPr lang="it-IT" sz="2400" dirty="0">
                <a:effectLst/>
              </a:rPr>
              <a:t> di animali di specie simili che abitano nelle zone calde perché hanno bisogno di molto grasso (e quindi di un grande volume) e nello stesso tempo devono </a:t>
            </a:r>
            <a:r>
              <a:rPr lang="it-IT" sz="2400" dirty="0">
                <a:solidFill>
                  <a:srgbClr val="FFFF00"/>
                </a:solidFill>
                <a:effectLst/>
              </a:rPr>
              <a:t>trattenere il calore </a:t>
            </a:r>
            <a:r>
              <a:rPr lang="it-IT" sz="2400" dirty="0">
                <a:effectLst/>
              </a:rPr>
              <a:t>corporeo (e quindi necessitano di una </a:t>
            </a:r>
            <a:r>
              <a:rPr lang="it-IT" sz="2400" dirty="0">
                <a:solidFill>
                  <a:srgbClr val="FFFF00"/>
                </a:solidFill>
                <a:effectLst/>
              </a:rPr>
              <a:t>superficie di scambio relativamente piccola</a:t>
            </a:r>
            <a:r>
              <a:rPr lang="it-IT" sz="2400" dirty="0">
                <a:effectLst/>
              </a:rPr>
              <a:t>).</a:t>
            </a:r>
          </a:p>
          <a:p>
            <a:endParaRPr lang="it-IT" sz="2400" dirty="0">
              <a:effectLst/>
            </a:endParaRPr>
          </a:p>
          <a:p>
            <a:r>
              <a:rPr lang="it-IT" sz="2400" dirty="0">
                <a:effectLst/>
              </a:rPr>
              <a:t>Gli animali di montagna tendono ad avere arti piuttosto corti ed orecchie piccole perché la loro forma compatta, che si avvicina </a:t>
            </a:r>
            <a:r>
              <a:rPr lang="it-IT" sz="2400" dirty="0">
                <a:solidFill>
                  <a:srgbClr val="FFFF00"/>
                </a:solidFill>
                <a:effectLst/>
              </a:rPr>
              <a:t>idealmente a quella </a:t>
            </a:r>
            <a:r>
              <a:rPr lang="it-IT" sz="2400" b="1" dirty="0">
                <a:solidFill>
                  <a:srgbClr val="FFFF00"/>
                </a:solidFill>
                <a:effectLst/>
              </a:rPr>
              <a:t>sferica</a:t>
            </a:r>
            <a:r>
              <a:rPr lang="it-IT" sz="2400" dirty="0">
                <a:effectLst/>
              </a:rPr>
              <a:t>, rende minima la superficie di scambio con l'ambiente favorendo il trattenimento del calore corporeo.</a:t>
            </a:r>
          </a:p>
          <a:p>
            <a:endParaRPr lang="it-IT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1446319"/>
      </p:ext>
    </p:extLst>
  </p:cSld>
  <p:clrMapOvr>
    <a:masterClrMapping/>
  </p:clrMapOvr>
  <p:transition spd="med">
    <p:pull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27584" y="341784"/>
            <a:ext cx="7571184" cy="710952"/>
          </a:xfrm>
        </p:spPr>
        <p:txBody>
          <a:bodyPr/>
          <a:lstStyle/>
          <a:p>
            <a:r>
              <a:rPr lang="it-IT" sz="3200" dirty="0"/>
              <a:t>Superficie corporea e USTIONI</a:t>
            </a:r>
          </a:p>
        </p:txBody>
      </p:sp>
      <p:pic>
        <p:nvPicPr>
          <p:cNvPr id="8194" name="Segnaposto contenuto 3" descr="pg23_e.gif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86"/>
          <a:stretch/>
        </p:blipFill>
        <p:spPr>
          <a:xfrm>
            <a:off x="1763688" y="1143743"/>
            <a:ext cx="5832648" cy="5617113"/>
          </a:xfrm>
        </p:spPr>
      </p:pic>
      <p:sp>
        <p:nvSpPr>
          <p:cNvPr id="13" name="Rettangolo 1"/>
          <p:cNvSpPr>
            <a:spLocks noChangeArrowheads="1"/>
          </p:cNvSpPr>
          <p:nvPr/>
        </p:nvSpPr>
        <p:spPr bwMode="auto">
          <a:xfrm>
            <a:off x="8532813" y="115888"/>
            <a:ext cx="504825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38409023"/>
      </p:ext>
    </p:extLst>
  </p:cSld>
  <p:clrMapOvr>
    <a:masterClrMapping/>
  </p:clrMapOvr>
  <p:transition spd="med">
    <p:pull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3" descr="pg23_h.gi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831" b="33999"/>
          <a:stretch/>
        </p:blipFill>
        <p:spPr>
          <a:xfrm>
            <a:off x="446964" y="1398749"/>
            <a:ext cx="4485076" cy="5250615"/>
          </a:xfrm>
          <a:prstGeom prst="rect">
            <a:avLst/>
          </a:prstGeom>
        </p:spPr>
      </p:pic>
      <p:sp>
        <p:nvSpPr>
          <p:cNvPr id="6" name="Ovale 5"/>
          <p:cNvSpPr/>
          <p:nvPr/>
        </p:nvSpPr>
        <p:spPr>
          <a:xfrm>
            <a:off x="539552" y="6021288"/>
            <a:ext cx="1750440" cy="432047"/>
          </a:xfrm>
          <a:prstGeom prst="ellipse">
            <a:avLst/>
          </a:prstGeom>
          <a:noFill/>
          <a:ln>
            <a:solidFill>
              <a:srgbClr val="00206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7" name="Ovale 6"/>
          <p:cNvSpPr/>
          <p:nvPr/>
        </p:nvSpPr>
        <p:spPr>
          <a:xfrm>
            <a:off x="589312" y="3184150"/>
            <a:ext cx="1894456" cy="53288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13" name="Rettangolo 1"/>
          <p:cNvSpPr>
            <a:spLocks noChangeArrowheads="1"/>
          </p:cNvSpPr>
          <p:nvPr/>
        </p:nvSpPr>
        <p:spPr bwMode="auto">
          <a:xfrm>
            <a:off x="8532813" y="115888"/>
            <a:ext cx="504825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16</a:t>
            </a:r>
          </a:p>
        </p:txBody>
      </p:sp>
      <p:sp>
        <p:nvSpPr>
          <p:cNvPr id="11" name="Titolo 10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50106"/>
          </a:xfrm>
        </p:spPr>
        <p:txBody>
          <a:bodyPr/>
          <a:lstStyle/>
          <a:p>
            <a:r>
              <a:rPr lang="it-IT" dirty="0"/>
              <a:t>VARIAZIONI con ETA’</a:t>
            </a:r>
          </a:p>
        </p:txBody>
      </p:sp>
      <p:pic>
        <p:nvPicPr>
          <p:cNvPr id="9" name="Segnaposto contenuto 3" descr="pg23_h.gif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55" b="33999"/>
          <a:stretch/>
        </p:blipFill>
        <p:spPr>
          <a:xfrm>
            <a:off x="4716016" y="1398021"/>
            <a:ext cx="4015058" cy="5251343"/>
          </a:xfrm>
          <a:prstGeom prst="rect">
            <a:avLst/>
          </a:prstGeom>
        </p:spPr>
      </p:pic>
      <p:sp>
        <p:nvSpPr>
          <p:cNvPr id="10" name="Stella a 4 punte 9"/>
          <p:cNvSpPr/>
          <p:nvPr/>
        </p:nvSpPr>
        <p:spPr>
          <a:xfrm>
            <a:off x="5868144" y="3356992"/>
            <a:ext cx="279536" cy="312931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14" name="Stella a 4 punte 13"/>
          <p:cNvSpPr/>
          <p:nvPr/>
        </p:nvSpPr>
        <p:spPr>
          <a:xfrm>
            <a:off x="5868144" y="6068397"/>
            <a:ext cx="279536" cy="312931"/>
          </a:xfrm>
          <a:prstGeom prst="star4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3334490"/>
      </p:ext>
    </p:extLst>
  </p:cSld>
  <p:clrMapOvr>
    <a:masterClrMapping/>
  </p:clrMapOvr>
  <p:transition spd="med">
    <p:pull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egnaposto contenuto 3" descr="pg23_f.gif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5" r="12681" b="23499"/>
          <a:stretch/>
        </p:blipFill>
        <p:spPr>
          <a:xfrm>
            <a:off x="3491880" y="747558"/>
            <a:ext cx="5040933" cy="5777786"/>
          </a:xfrm>
          <a:prstGeom prst="rect">
            <a:avLst/>
          </a:prstGeom>
        </p:spPr>
      </p:pic>
      <p:pic>
        <p:nvPicPr>
          <p:cNvPr id="8" name="Segnaposto contenuto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5576" y="733540"/>
            <a:ext cx="2376214" cy="733425"/>
          </a:xfrm>
          <a:prstGeom prst="rect">
            <a:avLst/>
          </a:prstGeom>
        </p:spPr>
      </p:pic>
      <p:sp>
        <p:nvSpPr>
          <p:cNvPr id="9" name="Rettangolo 8"/>
          <p:cNvSpPr/>
          <p:nvPr/>
        </p:nvSpPr>
        <p:spPr>
          <a:xfrm>
            <a:off x="1259632" y="930389"/>
            <a:ext cx="1440160" cy="3397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t-IT" b="1" dirty="0">
                <a:solidFill>
                  <a:schemeClr val="accent6">
                    <a:lumMod val="50000"/>
                  </a:schemeClr>
                </a:solidFill>
              </a:rPr>
              <a:t>USTIONI !</a:t>
            </a:r>
          </a:p>
        </p:txBody>
      </p:sp>
      <p:sp>
        <p:nvSpPr>
          <p:cNvPr id="13" name="Rettangolo 1"/>
          <p:cNvSpPr>
            <a:spLocks noChangeArrowheads="1"/>
          </p:cNvSpPr>
          <p:nvPr/>
        </p:nvSpPr>
        <p:spPr bwMode="auto">
          <a:xfrm>
            <a:off x="8532813" y="115888"/>
            <a:ext cx="504825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99237568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Segnaposto contenuto 3" descr="pg23_g.gif"/>
          <p:cNvPicPr>
            <a:picLocks noGrp="1" noChangeAspect="1"/>
          </p:cNvPicPr>
          <p:nvPr>
            <p:ph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6" r="7866" b="21450"/>
          <a:stretch/>
        </p:blipFill>
        <p:spPr>
          <a:xfrm>
            <a:off x="971599" y="115888"/>
            <a:ext cx="6840761" cy="6625480"/>
          </a:xfrm>
        </p:spPr>
      </p:pic>
      <p:sp>
        <p:nvSpPr>
          <p:cNvPr id="3" name="Rettangolo 1"/>
          <p:cNvSpPr>
            <a:spLocks noChangeArrowheads="1"/>
          </p:cNvSpPr>
          <p:nvPr/>
        </p:nvSpPr>
        <p:spPr bwMode="auto">
          <a:xfrm>
            <a:off x="1043608" y="426150"/>
            <a:ext cx="6624736" cy="3385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Indice di massa corporea o BMI = Peso in Kg / altezza</a:t>
            </a:r>
            <a:r>
              <a:rPr lang="it-IT" altLang="it-IT" sz="1600" baseline="300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4" name="Rettangolo 1"/>
          <p:cNvSpPr>
            <a:spLocks noChangeArrowheads="1"/>
          </p:cNvSpPr>
          <p:nvPr/>
        </p:nvSpPr>
        <p:spPr bwMode="auto">
          <a:xfrm>
            <a:off x="8532813" y="115888"/>
            <a:ext cx="504825" cy="338554"/>
          </a:xfrm>
          <a:prstGeom prst="rect">
            <a:avLst/>
          </a:prstGeom>
          <a:noFill/>
          <a:ln w="25400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FF00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370828"/>
      </p:ext>
    </p:extLst>
  </p:cSld>
  <p:clrMapOvr>
    <a:masterClrMapping/>
  </p:clrMapOvr>
  <p:transition spd="med">
    <p:pull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>
          <a:xfrm>
            <a:off x="323528" y="404664"/>
            <a:ext cx="8568952" cy="5472608"/>
          </a:xfrm>
        </p:spPr>
        <p:txBody>
          <a:bodyPr/>
          <a:lstStyle/>
          <a:p>
            <a:r>
              <a:rPr lang="it-IT" b="1" dirty="0">
                <a:effectLst/>
              </a:rPr>
              <a:t>L'indice di massa corporea </a:t>
            </a:r>
          </a:p>
          <a:p>
            <a:r>
              <a:rPr lang="it-IT" dirty="0">
                <a:effectLst/>
              </a:rPr>
              <a:t>(abbreviato IMC o </a:t>
            </a:r>
            <a:r>
              <a:rPr lang="it-IT" b="1" dirty="0">
                <a:effectLst/>
              </a:rPr>
              <a:t>BMI</a:t>
            </a:r>
            <a:r>
              <a:rPr lang="it-IT" dirty="0">
                <a:effectLst/>
              </a:rPr>
              <a:t>, Body Mass Index) </a:t>
            </a:r>
          </a:p>
          <a:p>
            <a:r>
              <a:rPr lang="it-IT" dirty="0">
                <a:effectLst/>
              </a:rPr>
              <a:t>è un dato biometrico espresso come </a:t>
            </a:r>
          </a:p>
          <a:p>
            <a:r>
              <a:rPr lang="it-IT" dirty="0">
                <a:effectLst/>
              </a:rPr>
              <a:t>rapporto tra </a:t>
            </a:r>
            <a:r>
              <a:rPr lang="it-IT" b="1" dirty="0">
                <a:effectLst/>
              </a:rPr>
              <a:t>peso</a:t>
            </a:r>
            <a:r>
              <a:rPr lang="it-IT" dirty="0">
                <a:effectLst/>
              </a:rPr>
              <a:t> e quadrato dell'</a:t>
            </a:r>
            <a:r>
              <a:rPr lang="it-IT" b="1" dirty="0">
                <a:effectLst/>
              </a:rPr>
              <a:t>altezza</a:t>
            </a:r>
          </a:p>
          <a:p>
            <a:r>
              <a:rPr lang="it-IT" dirty="0">
                <a:effectLst/>
              </a:rPr>
              <a:t>di un individuo,</a:t>
            </a:r>
          </a:p>
          <a:p>
            <a:r>
              <a:rPr lang="it-IT" dirty="0">
                <a:effectLst/>
              </a:rPr>
              <a:t>è utilizzato come un </a:t>
            </a:r>
          </a:p>
          <a:p>
            <a:r>
              <a:rPr lang="it-IT" dirty="0">
                <a:effectLst/>
              </a:rPr>
              <a:t>indicatore dello stato di </a:t>
            </a:r>
            <a:r>
              <a:rPr lang="it-IT" b="1" dirty="0">
                <a:effectLst/>
              </a:rPr>
              <a:t>peso forma</a:t>
            </a:r>
            <a:r>
              <a:rPr lang="it-IT" dirty="0">
                <a:effectLst/>
              </a:rPr>
              <a:t>.</a:t>
            </a:r>
          </a:p>
          <a:p>
            <a:endParaRPr lang="it-IT" dirty="0">
              <a:effectLst/>
            </a:endParaRPr>
          </a:p>
          <a:p>
            <a:r>
              <a:rPr lang="it-IT" dirty="0">
                <a:solidFill>
                  <a:srgbClr val="FFFF00"/>
                </a:solidFill>
              </a:rPr>
              <a:t>E’ un indice affidabile?</a:t>
            </a:r>
            <a:endParaRPr lang="it-IT" dirty="0">
              <a:solidFill>
                <a:srgbClr val="FFFF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39185640"/>
      </p:ext>
    </p:extLst>
  </p:cSld>
  <p:clrMapOvr>
    <a:masterClrMapping/>
  </p:clrMapOvr>
  <p:transition spd="med">
    <p:pull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323528" y="692696"/>
            <a:ext cx="8496944" cy="5688632"/>
          </a:xfrm>
        </p:spPr>
        <p:txBody>
          <a:bodyPr/>
          <a:lstStyle/>
          <a:p>
            <a:r>
              <a:rPr lang="it-IT" sz="2800" dirty="0">
                <a:effectLst/>
              </a:rPr>
              <a:t>Per </a:t>
            </a:r>
            <a:r>
              <a:rPr lang="it-IT" sz="2800" b="1" dirty="0">
                <a:solidFill>
                  <a:srgbClr val="FFFF00"/>
                </a:solidFill>
                <a:effectLst/>
              </a:rPr>
              <a:t>Massa Magra</a:t>
            </a:r>
            <a:r>
              <a:rPr lang="it-IT" sz="2800" dirty="0">
                <a:solidFill>
                  <a:srgbClr val="FFFF00"/>
                </a:solidFill>
                <a:effectLst/>
              </a:rPr>
              <a:t> </a:t>
            </a:r>
            <a:r>
              <a:rPr lang="it-IT" sz="2800" b="1" dirty="0">
                <a:solidFill>
                  <a:srgbClr val="FFFF00"/>
                </a:solidFill>
                <a:effectLst/>
              </a:rPr>
              <a:t>Lipidica</a:t>
            </a:r>
            <a:r>
              <a:rPr lang="it-IT" sz="2800" dirty="0">
                <a:solidFill>
                  <a:srgbClr val="FFFF00"/>
                </a:solidFill>
                <a:effectLst/>
              </a:rPr>
              <a:t> </a:t>
            </a:r>
            <a:r>
              <a:rPr lang="it-IT" sz="2800" dirty="0">
                <a:effectLst/>
              </a:rPr>
              <a:t>(o LBM, </a:t>
            </a:r>
            <a:r>
              <a:rPr lang="it-IT" sz="2800" i="1" dirty="0">
                <a:effectLst/>
              </a:rPr>
              <a:t>Lean body mass</a:t>
            </a:r>
            <a:r>
              <a:rPr lang="it-IT" sz="2800" dirty="0">
                <a:effectLst/>
              </a:rPr>
              <a:t>) si intende la parte di massa di un organismo che esclude il grasso di deposito o tessuto adiposo (</a:t>
            </a:r>
            <a:r>
              <a:rPr lang="it-IT" sz="2800" b="1" dirty="0">
                <a:effectLst/>
              </a:rPr>
              <a:t>3%</a:t>
            </a:r>
            <a:r>
              <a:rPr lang="it-IT" sz="2800" dirty="0">
                <a:effectLst/>
              </a:rPr>
              <a:t> nel M e </a:t>
            </a:r>
            <a:r>
              <a:rPr lang="it-IT" sz="2800" b="1" dirty="0">
                <a:effectLst/>
              </a:rPr>
              <a:t>12%</a:t>
            </a:r>
            <a:r>
              <a:rPr lang="it-IT" sz="2800" dirty="0">
                <a:effectLst/>
              </a:rPr>
              <a:t> nella F). Si esprime in percentuale quando è intesa in riferimento al peso complessivo dell'organismo. </a:t>
            </a:r>
            <a:r>
              <a:rPr lang="it-IT" sz="2800" u="sng" dirty="0">
                <a:effectLst/>
              </a:rPr>
              <a:t>include</a:t>
            </a:r>
            <a:r>
              <a:rPr lang="it-IT" sz="2800" dirty="0">
                <a:effectLst/>
              </a:rPr>
              <a:t> il «</a:t>
            </a:r>
            <a:r>
              <a:rPr lang="it-IT" sz="2800" b="1" dirty="0">
                <a:effectLst/>
              </a:rPr>
              <a:t>grasso primario»</a:t>
            </a:r>
            <a:r>
              <a:rPr lang="it-IT" sz="2800" dirty="0">
                <a:effectLst/>
              </a:rPr>
              <a:t>. </a:t>
            </a:r>
          </a:p>
          <a:p>
            <a:endParaRPr lang="it-IT" sz="2800" b="1" dirty="0">
              <a:effectLst/>
            </a:endParaRPr>
          </a:p>
          <a:p>
            <a:r>
              <a:rPr lang="it-IT" sz="2800" b="1" dirty="0">
                <a:solidFill>
                  <a:srgbClr val="FFFF00"/>
                </a:solidFill>
                <a:effectLst/>
              </a:rPr>
              <a:t>Grasso primario</a:t>
            </a:r>
            <a:r>
              <a:rPr lang="it-IT" sz="2800" dirty="0">
                <a:effectLst/>
              </a:rPr>
              <a:t>. Fondamentale per la salute: protezione, SNC, midollo osseo, reni, milza, ghiandole mammarie, membrane cellulari.</a:t>
            </a:r>
          </a:p>
        </p:txBody>
      </p:sp>
    </p:spTree>
    <p:extLst>
      <p:ext uri="{BB962C8B-B14F-4D97-AF65-F5344CB8AC3E}">
        <p14:creationId xmlns:p14="http://schemas.microsoft.com/office/powerpoint/2010/main" val="1684175451"/>
      </p:ext>
    </p:extLst>
  </p:cSld>
  <p:clrMapOvr>
    <a:masterClrMapping/>
  </p:clrMapOvr>
  <p:transition spd="med">
    <p:pull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323528" y="1124744"/>
            <a:ext cx="8496944" cy="4464496"/>
          </a:xfrm>
        </p:spPr>
        <p:txBody>
          <a:bodyPr/>
          <a:lstStyle/>
          <a:p>
            <a:r>
              <a:rPr lang="it-IT" sz="2800" b="1" dirty="0">
                <a:solidFill>
                  <a:srgbClr val="FFFF00"/>
                </a:solidFill>
                <a:effectLst/>
              </a:rPr>
              <a:t>Massa magra alipidica </a:t>
            </a:r>
            <a:r>
              <a:rPr lang="it-IT" sz="2800" b="1" dirty="0">
                <a:effectLst/>
              </a:rPr>
              <a:t>(</a:t>
            </a:r>
            <a:r>
              <a:rPr lang="it-IT" sz="2800" dirty="0">
                <a:effectLst/>
              </a:rPr>
              <a:t>o </a:t>
            </a:r>
            <a:r>
              <a:rPr lang="it-IT" sz="2800" b="1" dirty="0">
                <a:effectLst/>
              </a:rPr>
              <a:t>FFM</a:t>
            </a:r>
            <a:r>
              <a:rPr lang="it-IT" sz="2800" dirty="0">
                <a:effectLst/>
              </a:rPr>
              <a:t>, </a:t>
            </a:r>
            <a:r>
              <a:rPr lang="it-IT" sz="2800" i="1" dirty="0" err="1">
                <a:effectLst/>
              </a:rPr>
              <a:t>Fat</a:t>
            </a:r>
            <a:r>
              <a:rPr lang="it-IT" sz="2800" i="1" dirty="0">
                <a:effectLst/>
              </a:rPr>
              <a:t> Free Mass</a:t>
            </a:r>
            <a:r>
              <a:rPr lang="it-IT" sz="2800" dirty="0">
                <a:effectLst/>
              </a:rPr>
              <a:t>). E’ costituita da </a:t>
            </a:r>
            <a:r>
              <a:rPr lang="it-IT" sz="2800" b="1" dirty="0">
                <a:effectLst/>
              </a:rPr>
              <a:t>acqua</a:t>
            </a:r>
            <a:r>
              <a:rPr lang="it-IT" sz="2800" dirty="0">
                <a:effectLst/>
              </a:rPr>
              <a:t> (in dipendenza da sesso ed età, è tra il 40 ed il 70% del peso corporeo), massa </a:t>
            </a:r>
            <a:r>
              <a:rPr lang="it-IT" sz="2800" b="1" dirty="0">
                <a:effectLst/>
              </a:rPr>
              <a:t>proteica, glicogeno, minerali</a:t>
            </a:r>
            <a:r>
              <a:rPr lang="it-IT" sz="2800" dirty="0">
                <a:effectLst/>
              </a:rPr>
              <a:t>; </a:t>
            </a:r>
            <a:r>
              <a:rPr lang="it-IT" sz="2800" u="sng" dirty="0">
                <a:effectLst/>
              </a:rPr>
              <a:t>priva</a:t>
            </a:r>
            <a:r>
              <a:rPr lang="it-IT" sz="2800" dirty="0">
                <a:effectLst/>
              </a:rPr>
              <a:t> anche del grasso primario.</a:t>
            </a:r>
          </a:p>
          <a:p>
            <a:endParaRPr lang="it-IT" sz="2800" dirty="0">
              <a:effectLst/>
            </a:endParaRPr>
          </a:p>
          <a:p>
            <a:r>
              <a:rPr lang="it-IT" sz="2800" dirty="0">
                <a:solidFill>
                  <a:srgbClr val="FFFF00"/>
                </a:solidFill>
                <a:effectLst/>
              </a:rPr>
              <a:t>Quantificazione</a:t>
            </a:r>
            <a:r>
              <a:rPr lang="it-IT" sz="2800" dirty="0">
                <a:effectLst/>
              </a:rPr>
              <a:t>: </a:t>
            </a:r>
            <a:r>
              <a:rPr lang="it-IT" sz="2800" b="1" dirty="0">
                <a:effectLst/>
              </a:rPr>
              <a:t>BMI</a:t>
            </a:r>
            <a:r>
              <a:rPr lang="it-IT" sz="2800" dirty="0">
                <a:effectLst/>
              </a:rPr>
              <a:t>= indice di massa corporea. Dati Biometrici. Muscolatura, ossatura, età, sesso. Plicometria. </a:t>
            </a:r>
            <a:r>
              <a:rPr lang="it-IT" sz="2800" dirty="0" err="1">
                <a:effectLst/>
              </a:rPr>
              <a:t>Bio-impedenziometria</a:t>
            </a:r>
            <a:r>
              <a:rPr lang="it-IT" sz="28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6716093"/>
      </p:ext>
    </p:extLst>
  </p:cSld>
  <p:clrMapOvr>
    <a:masterClrMapping/>
  </p:clrMapOvr>
  <p:transition spd="med">
    <p:pull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 descr="Risultati immagini per PAUSA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188913"/>
            <a:ext cx="3949700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5" name="Picture 4" descr="Risultati immagini per PAUSA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100" y="220663"/>
            <a:ext cx="4224338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6" name="Picture 6" descr="Risultati immagini per PAUSA">
            <a:hlinkClick r:id="rId7"/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3" y="2924175"/>
            <a:ext cx="37433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8" descr="Risultati immagini per PAUSA">
            <a:hlinkClick r:id="rId9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924175"/>
            <a:ext cx="333375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8" name="Picture 10" descr="Risultati immagini per PAUSA">
            <a:hlinkClick r:id="rId11"/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313" y="2914650"/>
            <a:ext cx="2524125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9" name="Picture 12" descr="Risultati immagini per PAUSA">
            <a:hlinkClick r:id="rId13"/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3" y="2205038"/>
            <a:ext cx="3138487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98948634"/>
      </p:ext>
    </p:extLst>
  </p:cSld>
  <p:clrMapOvr>
    <a:masterClrMapping/>
  </p:clrMapOvr>
  <p:transition spd="med">
    <p:pull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Segnaposto contenuto 2"/>
          <p:cNvPicPr>
            <a:picLocks noGrp="1" noChangeAspect="1"/>
          </p:cNvPicPr>
          <p:nvPr>
            <p:ph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3700" y="3014663"/>
            <a:ext cx="1427163" cy="733425"/>
          </a:xfrm>
        </p:spPr>
      </p:pic>
      <p:sp>
        <p:nvSpPr>
          <p:cNvPr id="4" name="Ovale 3"/>
          <p:cNvSpPr/>
          <p:nvPr/>
        </p:nvSpPr>
        <p:spPr>
          <a:xfrm>
            <a:off x="7272338" y="4868863"/>
            <a:ext cx="1511300" cy="36036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5" name="Titolo 1"/>
          <p:cNvSpPr txBox="1">
            <a:spLocks/>
          </p:cNvSpPr>
          <p:nvPr/>
        </p:nvSpPr>
        <p:spPr bwMode="auto">
          <a:xfrm>
            <a:off x="457200" y="274638"/>
            <a:ext cx="1954213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it-IT" sz="1400" kern="0" dirty="0">
                <a:effectLst/>
              </a:rPr>
              <a:t>OSSIFICAZIONE</a:t>
            </a:r>
          </a:p>
        </p:txBody>
      </p:sp>
      <p:sp>
        <p:nvSpPr>
          <p:cNvPr id="6" name="Segnaposto contenuto 2"/>
          <p:cNvSpPr txBox="1">
            <a:spLocks/>
          </p:cNvSpPr>
          <p:nvPr/>
        </p:nvSpPr>
        <p:spPr>
          <a:xfrm>
            <a:off x="733425" y="863600"/>
            <a:ext cx="2447925" cy="15843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defRPr/>
            </a:pPr>
            <a:r>
              <a:rPr lang="it-IT" kern="0" dirty="0">
                <a:effectLst/>
              </a:rPr>
              <a:t>CCC</a:t>
            </a:r>
          </a:p>
        </p:txBody>
      </p:sp>
      <p:sp>
        <p:nvSpPr>
          <p:cNvPr id="7" name="Ovale 6"/>
          <p:cNvSpPr/>
          <p:nvPr/>
        </p:nvSpPr>
        <p:spPr>
          <a:xfrm>
            <a:off x="4572000" y="5445125"/>
            <a:ext cx="3455988" cy="1079500"/>
          </a:xfrm>
          <a:prstGeom prst="ellipse">
            <a:avLst/>
          </a:prstGeom>
          <a:noFill/>
          <a:ln>
            <a:solidFill>
              <a:schemeClr val="tx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8" name="Stella a 4 punte 7"/>
          <p:cNvSpPr/>
          <p:nvPr/>
        </p:nvSpPr>
        <p:spPr>
          <a:xfrm>
            <a:off x="1849438" y="5719763"/>
            <a:ext cx="215900" cy="215900"/>
          </a:xfrm>
          <a:prstGeom prst="star4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9" name="Freccia a sinistra 8"/>
          <p:cNvSpPr/>
          <p:nvPr/>
        </p:nvSpPr>
        <p:spPr>
          <a:xfrm>
            <a:off x="1147763" y="6259513"/>
            <a:ext cx="285750" cy="287337"/>
          </a:xfrm>
          <a:prstGeom prst="leftArrow">
            <a:avLst>
              <a:gd name="adj1" fmla="val 50000"/>
              <a:gd name="adj2" fmla="val 104707"/>
            </a:avLst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39945" name="Rettangolo 1"/>
          <p:cNvSpPr>
            <a:spLocks noChangeArrowheads="1"/>
          </p:cNvSpPr>
          <p:nvPr/>
        </p:nvSpPr>
        <p:spPr bwMode="auto">
          <a:xfrm>
            <a:off x="4864100" y="260350"/>
            <a:ext cx="2228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SPLANCNOCRANIO</a:t>
            </a:r>
          </a:p>
        </p:txBody>
      </p:sp>
      <p:sp>
        <p:nvSpPr>
          <p:cNvPr id="11" name="Freccia a sinistra 10"/>
          <p:cNvSpPr/>
          <p:nvPr/>
        </p:nvSpPr>
        <p:spPr>
          <a:xfrm rot="10800000">
            <a:off x="441325" y="6237288"/>
            <a:ext cx="288925" cy="165100"/>
          </a:xfrm>
          <a:prstGeom prst="leftArrow">
            <a:avLst>
              <a:gd name="adj1" fmla="val 50000"/>
              <a:gd name="adj2" fmla="val 100000"/>
            </a:avLst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cxnSp>
        <p:nvCxnSpPr>
          <p:cNvPr id="12" name="Connettore 1 11"/>
          <p:cNvCxnSpPr/>
          <p:nvPr/>
        </p:nvCxnSpPr>
        <p:spPr>
          <a:xfrm>
            <a:off x="5688013" y="3213100"/>
            <a:ext cx="3095625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12"/>
          <p:cNvCxnSpPr/>
          <p:nvPr/>
        </p:nvCxnSpPr>
        <p:spPr>
          <a:xfrm>
            <a:off x="441325" y="5661025"/>
            <a:ext cx="865188" cy="1190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/>
          <p:cNvCxnSpPr/>
          <p:nvPr/>
        </p:nvCxnSpPr>
        <p:spPr>
          <a:xfrm>
            <a:off x="2819400" y="601663"/>
            <a:ext cx="5545138" cy="2303462"/>
          </a:xfrm>
          <a:prstGeom prst="line">
            <a:avLst/>
          </a:prstGeom>
          <a:ln w="317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50" name="Rettangolo 1"/>
          <p:cNvSpPr>
            <a:spLocks noChangeArrowheads="1"/>
          </p:cNvSpPr>
          <p:nvPr/>
        </p:nvSpPr>
        <p:spPr bwMode="auto">
          <a:xfrm>
            <a:off x="4611688" y="620713"/>
            <a:ext cx="504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A</a:t>
            </a:r>
          </a:p>
        </p:txBody>
      </p:sp>
      <p:sp>
        <p:nvSpPr>
          <p:cNvPr id="16" name="Sottotitolo 2"/>
          <p:cNvSpPr txBox="1">
            <a:spLocks/>
          </p:cNvSpPr>
          <p:nvPr/>
        </p:nvSpPr>
        <p:spPr>
          <a:xfrm>
            <a:off x="611188" y="1870075"/>
            <a:ext cx="4032250" cy="69532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9pPr>
          </a:lstStyle>
          <a:p>
            <a:pPr>
              <a:defRPr/>
            </a:pPr>
            <a:r>
              <a:rPr lang="it-IT" kern="0" dirty="0"/>
              <a:t>SPLANCNOCRANIO</a:t>
            </a:r>
          </a:p>
        </p:txBody>
      </p:sp>
      <p:sp>
        <p:nvSpPr>
          <p:cNvPr id="17" name="Stella a 4 punte 16"/>
          <p:cNvSpPr/>
          <p:nvPr/>
        </p:nvSpPr>
        <p:spPr>
          <a:xfrm>
            <a:off x="1849438" y="6237288"/>
            <a:ext cx="215900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18" name="Ovale 17"/>
          <p:cNvSpPr/>
          <p:nvPr/>
        </p:nvSpPr>
        <p:spPr>
          <a:xfrm>
            <a:off x="8421688" y="5768975"/>
            <a:ext cx="250825" cy="215900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39954" name="Rettangolo 1"/>
          <p:cNvSpPr>
            <a:spLocks noChangeArrowheads="1"/>
          </p:cNvSpPr>
          <p:nvPr/>
        </p:nvSpPr>
        <p:spPr bwMode="auto">
          <a:xfrm>
            <a:off x="6230938" y="620713"/>
            <a:ext cx="2228850" cy="33813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SPLANCNOCRANIO</a:t>
            </a:r>
          </a:p>
        </p:txBody>
      </p:sp>
      <p:sp>
        <p:nvSpPr>
          <p:cNvPr id="20" name="Rettangolo 19"/>
          <p:cNvSpPr/>
          <p:nvPr/>
        </p:nvSpPr>
        <p:spPr>
          <a:xfrm>
            <a:off x="2987675" y="3578225"/>
            <a:ext cx="1254125" cy="3397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T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endParaRPr lang="it-IT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9956" name="Rettangolo 1"/>
          <p:cNvSpPr>
            <a:spLocks noChangeArrowheads="1"/>
          </p:cNvSpPr>
          <p:nvPr/>
        </p:nvSpPr>
        <p:spPr bwMode="auto">
          <a:xfrm>
            <a:off x="5435600" y="958850"/>
            <a:ext cx="504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9957" name="Rettangolo 1"/>
          <p:cNvSpPr>
            <a:spLocks noChangeArrowheads="1"/>
          </p:cNvSpPr>
          <p:nvPr/>
        </p:nvSpPr>
        <p:spPr bwMode="auto">
          <a:xfrm>
            <a:off x="6519863" y="1362075"/>
            <a:ext cx="2228850" cy="3381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SPLANCNOCRANIO</a:t>
            </a:r>
          </a:p>
        </p:txBody>
      </p:sp>
      <p:sp>
        <p:nvSpPr>
          <p:cNvPr id="39958" name="Rettangolo 1"/>
          <p:cNvSpPr>
            <a:spLocks noChangeArrowheads="1"/>
          </p:cNvSpPr>
          <p:nvPr/>
        </p:nvSpPr>
        <p:spPr bwMode="auto">
          <a:xfrm>
            <a:off x="6156325" y="3522663"/>
            <a:ext cx="2228850" cy="338137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600">
              <a:solidFill>
                <a:srgbClr val="FF0000"/>
              </a:solidFill>
            </a:endParaRPr>
          </a:p>
        </p:txBody>
      </p:sp>
      <p:sp>
        <p:nvSpPr>
          <p:cNvPr id="24" name="Stella a 4 punte 23"/>
          <p:cNvSpPr/>
          <p:nvPr/>
        </p:nvSpPr>
        <p:spPr>
          <a:xfrm>
            <a:off x="827088" y="4652963"/>
            <a:ext cx="215900" cy="215900"/>
          </a:xfrm>
          <a:prstGeom prst="star4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39960" name="Rettangolo 1"/>
          <p:cNvSpPr>
            <a:spLocks noChangeArrowheads="1"/>
          </p:cNvSpPr>
          <p:nvPr/>
        </p:nvSpPr>
        <p:spPr bwMode="auto">
          <a:xfrm>
            <a:off x="1763713" y="4602163"/>
            <a:ext cx="504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b="1">
                <a:solidFill>
                  <a:srgbClr val="FF0000"/>
                </a:solidFill>
              </a:rPr>
              <a:t>??</a:t>
            </a:r>
          </a:p>
        </p:txBody>
      </p:sp>
      <p:pic>
        <p:nvPicPr>
          <p:cNvPr id="39961" name="Segnaposto contenuto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500" y="4802188"/>
            <a:ext cx="207645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62" name="Segnaposto contenuto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513" y="4213225"/>
            <a:ext cx="635000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63" name="Rettangolo 1"/>
          <p:cNvSpPr>
            <a:spLocks noChangeArrowheads="1"/>
          </p:cNvSpPr>
          <p:nvPr/>
        </p:nvSpPr>
        <p:spPr bwMode="auto">
          <a:xfrm>
            <a:off x="4859338" y="981075"/>
            <a:ext cx="504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b="1">
                <a:solidFill>
                  <a:srgbClr val="FF0000"/>
                </a:solidFill>
              </a:rPr>
              <a:t>3</a:t>
            </a:r>
          </a:p>
        </p:txBody>
      </p:sp>
      <p:cxnSp>
        <p:nvCxnSpPr>
          <p:cNvPr id="28" name="Connettore 1 27"/>
          <p:cNvCxnSpPr/>
          <p:nvPr/>
        </p:nvCxnSpPr>
        <p:spPr>
          <a:xfrm>
            <a:off x="5840413" y="2852738"/>
            <a:ext cx="3095625" cy="0"/>
          </a:xfrm>
          <a:prstGeom prst="line">
            <a:avLst/>
          </a:prstGeom>
          <a:ln w="3175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tella a 4 punte 28"/>
          <p:cNvSpPr/>
          <p:nvPr/>
        </p:nvSpPr>
        <p:spPr>
          <a:xfrm>
            <a:off x="2411413" y="6237288"/>
            <a:ext cx="215900" cy="215900"/>
          </a:xfrm>
          <a:prstGeom prst="star4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it-IT"/>
          </a:p>
        </p:txBody>
      </p:sp>
      <p:sp>
        <p:nvSpPr>
          <p:cNvPr id="30" name="Rettangolo 29"/>
          <p:cNvSpPr/>
          <p:nvPr/>
        </p:nvSpPr>
        <p:spPr>
          <a:xfrm>
            <a:off x="2963863" y="3578225"/>
            <a:ext cx="1254125" cy="3397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T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r>
              <a:rPr lang="it-IT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it-IT" dirty="0" err="1">
                <a:solidFill>
                  <a:schemeClr val="accent6">
                    <a:lumMod val="50000"/>
                  </a:schemeClr>
                </a:solidFill>
              </a:rPr>
              <a:t>T</a:t>
            </a:r>
            <a:endParaRPr lang="it-IT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" name="Segnaposto contenuto 3" descr="0327.gif">
            <a:extLst>
              <a:ext uri="{FF2B5EF4-FFF2-40B4-BE49-F238E27FC236}">
                <a16:creationId xmlns:a16="http://schemas.microsoft.com/office/drawing/2014/main" id="{DA9CFDC3-0DAE-1B4C-360D-5D3159D4B3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 t="90381" r="75348" b="2945"/>
          <a:stretch/>
        </p:blipFill>
        <p:spPr>
          <a:xfrm>
            <a:off x="2268538" y="2579307"/>
            <a:ext cx="1709777" cy="657606"/>
          </a:xfrm>
          <a:prstGeom prst="rect">
            <a:avLst/>
          </a:prstGeom>
        </p:spPr>
      </p:pic>
      <p:sp>
        <p:nvSpPr>
          <p:cNvPr id="3" name="Rettangolo 1">
            <a:extLst>
              <a:ext uri="{FF2B5EF4-FFF2-40B4-BE49-F238E27FC236}">
                <a16:creationId xmlns:a16="http://schemas.microsoft.com/office/drawing/2014/main" id="{5B65BEB6-96AA-CA85-4C99-FC86348C5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093" y="4195762"/>
            <a:ext cx="2228850" cy="33813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fol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 dirty="0" err="1"/>
              <a:t>ooo</a:t>
            </a:r>
            <a:endParaRPr lang="it-IT" altLang="it-IT" sz="1600" dirty="0"/>
          </a:p>
        </p:txBody>
      </p:sp>
    </p:spTree>
    <p:extLst>
      <p:ext uri="{BB962C8B-B14F-4D97-AF65-F5344CB8AC3E}">
        <p14:creationId xmlns:p14="http://schemas.microsoft.com/office/powerpoint/2010/main" val="2016625829"/>
      </p:ext>
    </p:extLst>
  </p:cSld>
  <p:clrMapOvr>
    <a:masterClrMapping/>
  </p:clrMapOvr>
  <p:transition spd="med">
    <p:pull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CHECK" val="0"/>
  <p:tag name="ARTICULATE_PROJECT_OPEN" val="0"/>
</p:tagLst>
</file>

<file path=ppt/theme/theme1.xml><?xml version="1.0" encoding="utf-8"?>
<a:theme xmlns:a="http://schemas.openxmlformats.org/drawingml/2006/main" name="1_Strutturato">
  <a:themeElements>
    <a:clrScheme name="1_Strutturato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1_Strutturat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to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to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to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3160</TotalTime>
  <Words>1581</Words>
  <Application>Microsoft Office PowerPoint</Application>
  <PresentationFormat>Presentazione su schermo (4:3)</PresentationFormat>
  <Paragraphs>296</Paragraphs>
  <Slides>55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55</vt:i4>
      </vt:variant>
    </vt:vector>
  </HeadingPairs>
  <TitlesOfParts>
    <vt:vector size="63" baseType="lpstr">
      <vt:lpstr>Algerian</vt:lpstr>
      <vt:lpstr>Arial</vt:lpstr>
      <vt:lpstr>Arial Black</vt:lpstr>
      <vt:lpstr>Calibri</vt:lpstr>
      <vt:lpstr>Google Sans</vt:lpstr>
      <vt:lpstr>Tahoma</vt:lpstr>
      <vt:lpstr>Wingdings</vt:lpstr>
      <vt:lpstr>1_Strutturato</vt:lpstr>
      <vt:lpstr>CODICE: </vt:lpstr>
      <vt:lpstr>ANATOMIA</vt:lpstr>
      <vt:lpstr>DIMENSIONI / ORGANIZZAZIONE</vt:lpstr>
      <vt:lpstr>ANATOMIA SISTEMATICA</vt:lpstr>
      <vt:lpstr>ANATOMIA</vt:lpstr>
      <vt:lpstr>ANATOMIA TOPOGRAFICA</vt:lpstr>
      <vt:lpstr>ANATOMIA</vt:lpstr>
      <vt:lpstr>RADIOGRAFIA       « CONVENZIONE »</vt:lpstr>
      <vt:lpstr>https://www.wikihow.it/Leggere-una-Radiografia-Toracica</vt:lpstr>
      <vt:lpstr>Presentazione standard di PowerPoint</vt:lpstr>
      <vt:lpstr>Presentazione standard di PowerPoint</vt:lpstr>
      <vt:lpstr>Presentazione standard di PowerPoint</vt:lpstr>
      <vt:lpstr>       CRISTO morto            Mantegna  T.C. convenzione: asse longitudinale visione caudale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CAVITA corporee e “SIEROSE”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SISTEMI DI RIFERIMENTO    PIANI  (fondamentali) posizione </vt:lpstr>
      <vt:lpstr>SISTEMI DI RIFERIMENTO                    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Rombo di Michaelis</vt:lpstr>
      <vt:lpstr>Presentazione standard di PowerPoint</vt:lpstr>
      <vt:lpstr>Presentazione standard di PowerPoint</vt:lpstr>
      <vt:lpstr>Presentazione standard di PowerPoint</vt:lpstr>
      <vt:lpstr>Proporzioni corporee durante la crescita</vt:lpstr>
      <vt:lpstr>Proporzioni corporee</vt:lpstr>
      <vt:lpstr>Misura apertura arti superiori</vt:lpstr>
      <vt:lpstr>Percentile</vt:lpstr>
      <vt:lpstr>Terminologia di MOVIMENTO</vt:lpstr>
      <vt:lpstr>Presentazione standard di PowerPoint</vt:lpstr>
      <vt:lpstr>Presentazione standard di PowerPoint</vt:lpstr>
      <vt:lpstr>Presentazione standard di PowerPoint</vt:lpstr>
      <vt:lpstr>Superficie corporea e USTIONI</vt:lpstr>
      <vt:lpstr>VARIAZIONI con ETA’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Fabrizio Crisafulli</dc:creator>
  <cp:lastModifiedBy>aula 1.8</cp:lastModifiedBy>
  <cp:revision>316</cp:revision>
  <dcterms:created xsi:type="dcterms:W3CDTF">2002-09-16T09:40:28Z</dcterms:created>
  <dcterms:modified xsi:type="dcterms:W3CDTF">2026-02-23T10:16:37Z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UseProject">
    <vt:lpwstr>1</vt:lpwstr>
  </property>
  <property fmtid="{D5CDD505-2E9C-101B-9397-08002B2CF9AE}" pid="3" name="ArticulatePath">
    <vt:lpwstr>Cap1</vt:lpwstr>
  </property>
  <property fmtid="{D5CDD505-2E9C-101B-9397-08002B2CF9AE}" pid="4" name="ArticulateGUID">
    <vt:lpwstr>1A36A2F8-C520-479C-AF55-7827F99676CC</vt:lpwstr>
  </property>
  <property fmtid="{D5CDD505-2E9C-101B-9397-08002B2CF9AE}" pid="5" name="ArticulateProjectFull">
    <vt:lpwstr>C:\Users\pdelvecchio.EDI\Desktop\Sedra\PPT\Capitolo1.ppta</vt:lpwstr>
  </property>
</Properties>
</file>