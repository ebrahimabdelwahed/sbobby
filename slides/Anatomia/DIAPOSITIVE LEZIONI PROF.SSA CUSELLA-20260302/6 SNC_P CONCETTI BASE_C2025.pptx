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8"/>
  </p:notesMasterIdLst>
  <p:handoutMasterIdLst>
    <p:handoutMasterId r:id="rId49"/>
  </p:handoutMasterIdLst>
  <p:sldIdLst>
    <p:sldId id="782" r:id="rId2"/>
    <p:sldId id="775" r:id="rId3"/>
    <p:sldId id="725" r:id="rId4"/>
    <p:sldId id="722" r:id="rId5"/>
    <p:sldId id="727" r:id="rId6"/>
    <p:sldId id="733" r:id="rId7"/>
    <p:sldId id="765" r:id="rId8"/>
    <p:sldId id="724" r:id="rId9"/>
    <p:sldId id="656" r:id="rId10"/>
    <p:sldId id="773" r:id="rId11"/>
    <p:sldId id="657" r:id="rId12"/>
    <p:sldId id="661" r:id="rId13"/>
    <p:sldId id="671" r:id="rId14"/>
    <p:sldId id="766" r:id="rId15"/>
    <p:sldId id="768" r:id="rId16"/>
    <p:sldId id="772" r:id="rId17"/>
    <p:sldId id="769" r:id="rId18"/>
    <p:sldId id="770" r:id="rId19"/>
    <p:sldId id="719" r:id="rId20"/>
    <p:sldId id="668" r:id="rId21"/>
    <p:sldId id="734" r:id="rId22"/>
    <p:sldId id="787" r:id="rId23"/>
    <p:sldId id="783" r:id="rId24"/>
    <p:sldId id="785" r:id="rId25"/>
    <p:sldId id="670" r:id="rId26"/>
    <p:sldId id="729" r:id="rId27"/>
    <p:sldId id="728" r:id="rId28"/>
    <p:sldId id="717" r:id="rId29"/>
    <p:sldId id="730" r:id="rId30"/>
    <p:sldId id="715" r:id="rId31"/>
    <p:sldId id="754" r:id="rId32"/>
    <p:sldId id="716" r:id="rId33"/>
    <p:sldId id="755" r:id="rId34"/>
    <p:sldId id="682" r:id="rId35"/>
    <p:sldId id="756" r:id="rId36"/>
    <p:sldId id="736" r:id="rId37"/>
    <p:sldId id="735" r:id="rId38"/>
    <p:sldId id="712" r:id="rId39"/>
    <p:sldId id="685" r:id="rId40"/>
    <p:sldId id="679" r:id="rId41"/>
    <p:sldId id="686" r:id="rId42"/>
    <p:sldId id="687" r:id="rId43"/>
    <p:sldId id="688" r:id="rId44"/>
    <p:sldId id="689" r:id="rId45"/>
    <p:sldId id="786" r:id="rId46"/>
    <p:sldId id="739" r:id="rId47"/>
  </p:sldIdLst>
  <p:sldSz cx="9144000" cy="6858000" type="screen4x3"/>
  <p:notesSz cx="6858000" cy="9144000"/>
  <p:custDataLst>
    <p:tags r:id="rId50"/>
  </p:custDataLst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7" autoAdjust="0"/>
    <p:restoredTop sz="92362" autoAdjust="0"/>
  </p:normalViewPr>
  <p:slideViewPr>
    <p:cSldViewPr>
      <p:cViewPr>
        <p:scale>
          <a:sx n="70" d="100"/>
          <a:sy n="70" d="100"/>
        </p:scale>
        <p:origin x="2886" y="9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8058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fld id="{0640F52D-C60D-4061-A064-2A9897C2B9FC}" type="datetimeFigureOut">
              <a:rPr lang="it-IT"/>
              <a:pPr>
                <a:defRPr/>
              </a:pPr>
              <a:t>21/02/2026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99905BE-A298-4F6E-9F65-B19869151FB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502396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fld id="{79E4A13F-844E-437B-81B3-AA73B162F10E}" type="datetimeFigureOut">
              <a:rPr lang="it-IT"/>
              <a:pPr>
                <a:defRPr/>
              </a:pPr>
              <a:t>21/02/2026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ahoma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5CAECC0-90A3-4AAE-A99B-BD877B8CE9D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05003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V3-76,77,</a:t>
            </a:r>
          </a:p>
        </p:txBody>
      </p:sp>
      <p:sp>
        <p:nvSpPr>
          <p:cNvPr id="18436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6FA572-9EE5-47D8-9A1C-CD5974C8F253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605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Martini</a:t>
            </a:r>
          </a:p>
        </p:txBody>
      </p:sp>
      <p:sp>
        <p:nvSpPr>
          <p:cNvPr id="2048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8825C5-0EB2-4715-94B3-965691E97858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176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V3-72,74</a:t>
            </a:r>
          </a:p>
          <a:p>
            <a:r>
              <a:rPr lang="it-IT" altLang="it-IT"/>
              <a:t>Tubo neurale (neuropori)</a:t>
            </a:r>
          </a:p>
          <a:p>
            <a:r>
              <a:rPr lang="it-IT" altLang="it-IT"/>
              <a:t>Tre vescicole encefaliche primarie:</a:t>
            </a:r>
          </a:p>
          <a:p>
            <a:endParaRPr lang="it-IT" altLang="it-IT"/>
          </a:p>
          <a:p>
            <a:r>
              <a:rPr lang="it-IT" altLang="it-IT"/>
              <a:t>1) Proencefalo (4) Telencefalo [emisferi cerebrali, parte dei gangli della base]  (5) Diencefalo [talamo, ipotalamo, neuroipofisi, retina]</a:t>
            </a:r>
          </a:p>
          <a:p>
            <a:endParaRPr lang="it-IT" altLang="it-IT"/>
          </a:p>
          <a:p>
            <a:r>
              <a:rPr lang="it-IT" altLang="it-IT"/>
              <a:t>2) Mesencefalo</a:t>
            </a:r>
          </a:p>
          <a:p>
            <a:endParaRPr lang="it-IT" altLang="it-IT"/>
          </a:p>
          <a:p>
            <a:r>
              <a:rPr lang="it-IT" altLang="it-IT"/>
              <a:t>3) Romboencefalo (3.1: metencefalo: ponte e cervelletto) e (3.2) mielencefalo: bulbo.</a:t>
            </a:r>
          </a:p>
          <a:p>
            <a:endParaRPr lang="it-IT" altLang="it-IT"/>
          </a:p>
          <a:p>
            <a:r>
              <a:rPr lang="it-IT" altLang="it-IT"/>
              <a:t>In basso: Midollo Spinale</a:t>
            </a:r>
          </a:p>
          <a:p>
            <a:endParaRPr lang="it-IT" altLang="it-IT"/>
          </a:p>
          <a:p>
            <a:endParaRPr lang="it-IT" altLang="it-IT"/>
          </a:p>
          <a:p>
            <a:r>
              <a:rPr lang="it-IT" altLang="it-IT"/>
              <a:t>Cinque (vescicole encefaliche secondarie)</a:t>
            </a:r>
          </a:p>
          <a:p>
            <a:endParaRPr lang="it-IT" altLang="it-IT"/>
          </a:p>
        </p:txBody>
      </p:sp>
      <p:sp>
        <p:nvSpPr>
          <p:cNvPr id="22532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0FD28F-4195-4DE8-809E-E3FDDCE542EB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3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V3-74</a:t>
            </a:r>
          </a:p>
        </p:txBody>
      </p:sp>
      <p:sp>
        <p:nvSpPr>
          <p:cNvPr id="24580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A9306A-A73B-4090-A57C-8E41676070B3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89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V3-73</a:t>
            </a:r>
          </a:p>
        </p:txBody>
      </p:sp>
      <p:sp>
        <p:nvSpPr>
          <p:cNvPr id="27652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D96F12-CA7C-4E46-88E3-9C7385515F2D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574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V3-74</a:t>
            </a:r>
          </a:p>
        </p:txBody>
      </p:sp>
      <p:sp>
        <p:nvSpPr>
          <p:cNvPr id="29700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A8DA05B-062F-4B43-9A7A-75E3C0D32F18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7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811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V3-74,75,</a:t>
            </a:r>
          </a:p>
        </p:txBody>
      </p:sp>
      <p:sp>
        <p:nvSpPr>
          <p:cNvPr id="31748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B7CD5B-D82F-46FB-9F48-5666183ABA6A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8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068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V3-75,</a:t>
            </a:r>
          </a:p>
        </p:txBody>
      </p:sp>
      <p:sp>
        <p:nvSpPr>
          <p:cNvPr id="33796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F1F782-2700-4430-96C5-143025BBD119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9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145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V1-91. Passaggio da Oligodendrociti a Cellule di Schwann. I Nodi di Ranvie, dove la mielina si assottiglia, possono essere sedi di reazioni immunologiche (sifilide).</a:t>
            </a:r>
          </a:p>
        </p:txBody>
      </p:sp>
      <p:sp>
        <p:nvSpPr>
          <p:cNvPr id="3584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FC010C-BE3C-481A-9330-592CA670FFE1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10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335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V3-75, </a:t>
            </a:r>
          </a:p>
        </p:txBody>
      </p:sp>
      <p:sp>
        <p:nvSpPr>
          <p:cNvPr id="37892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EADCF6-7B23-4F5F-AD83-7B1569118C99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11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268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V3-77,</a:t>
            </a:r>
          </a:p>
        </p:txBody>
      </p:sp>
      <p:sp>
        <p:nvSpPr>
          <p:cNvPr id="39940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AF8804-43F7-4C98-A391-54E5E2E75D05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12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5740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V1-81</a:t>
            </a:r>
          </a:p>
        </p:txBody>
      </p:sp>
      <p:sp>
        <p:nvSpPr>
          <p:cNvPr id="41988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87F77EC-E3DA-403D-A79F-256E391FDD5F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13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329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MARTINI</a:t>
            </a:r>
          </a:p>
        </p:txBody>
      </p:sp>
      <p:sp>
        <p:nvSpPr>
          <p:cNvPr id="44036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7A83C9C-BAE5-47B7-9078-EF79221E4AAD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14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58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MARTINI</a:t>
            </a:r>
          </a:p>
        </p:txBody>
      </p:sp>
      <p:sp>
        <p:nvSpPr>
          <p:cNvPr id="4608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7A7E8B6-400D-42DD-B9B4-6695F4A2F271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15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535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V1-78,</a:t>
            </a:r>
          </a:p>
        </p:txBody>
      </p:sp>
      <p:sp>
        <p:nvSpPr>
          <p:cNvPr id="48132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79CFC5-305C-4C34-95FB-8DD715FE8C22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16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2658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MARTINI</a:t>
            </a:r>
          </a:p>
        </p:txBody>
      </p:sp>
      <p:sp>
        <p:nvSpPr>
          <p:cNvPr id="50180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0CBC624-BC75-49A7-B987-485BEF84D236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17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9455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MARTINI</a:t>
            </a:r>
          </a:p>
        </p:txBody>
      </p:sp>
      <p:sp>
        <p:nvSpPr>
          <p:cNvPr id="52228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3FC7BCE-DC7A-43EC-8DC3-38E4551F8BE4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18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6076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V1-78,</a:t>
            </a:r>
          </a:p>
        </p:txBody>
      </p:sp>
      <p:sp>
        <p:nvSpPr>
          <p:cNvPr id="54276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EDE323-077F-4FDA-94B4-109DEFE16430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19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300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V1-79</a:t>
            </a:r>
          </a:p>
        </p:txBody>
      </p:sp>
      <p:sp>
        <p:nvSpPr>
          <p:cNvPr id="5632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186C81-DAFA-44C8-9A40-DE45BB4F73A0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20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163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it-IT" dirty="0"/>
              <a:t>V1-92. SNC, assoni MIELINICI = alta velocità propagazione, OLIGODENDROCITI (avvolgono più neuroni).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SNP:</a:t>
            </a:r>
          </a:p>
          <a:p>
            <a:pPr>
              <a:defRPr/>
            </a:pPr>
            <a:r>
              <a:rPr lang="it-IT" dirty="0"/>
              <a:t>Mielinici Motoneuroni, cellule di </a:t>
            </a:r>
            <a:r>
              <a:rPr lang="it-IT" dirty="0" err="1"/>
              <a:t>Schwann</a:t>
            </a:r>
            <a:r>
              <a:rPr lang="it-IT" dirty="0"/>
              <a:t> (avvolge un solo assone)</a:t>
            </a:r>
          </a:p>
          <a:p>
            <a:pPr>
              <a:defRPr/>
            </a:pPr>
            <a:r>
              <a:rPr lang="it-IT" dirty="0" err="1"/>
              <a:t>AMIelinici</a:t>
            </a:r>
            <a:r>
              <a:rPr lang="it-IT" dirty="0"/>
              <a:t> dolore viscerale: più fibre sono avvolte da una sola cellula di </a:t>
            </a:r>
            <a:r>
              <a:rPr lang="it-IT" dirty="0" err="1"/>
              <a:t>Schwann</a:t>
            </a:r>
            <a:r>
              <a:rPr lang="it-IT" dirty="0"/>
              <a:t>.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Fibre Nervose</a:t>
            </a:r>
          </a:p>
          <a:p>
            <a:pPr>
              <a:defRPr/>
            </a:pPr>
            <a:r>
              <a:rPr lang="it-IT" dirty="0"/>
              <a:t>La fibra nervosa è costituita dall'assone e dalle sue guaine di rivestimento; le fibre nervose possono essere classificate in fibre mieliniche (con guaina di mielina più o meno sviluppata) e fibre </a:t>
            </a:r>
            <a:r>
              <a:rPr lang="it-IT" dirty="0" err="1"/>
              <a:t>amieliniche</a:t>
            </a:r>
            <a:r>
              <a:rPr lang="it-IT" dirty="0"/>
              <a:t> (prive di guaina mielinica). Le fibre nervose possono essere efferenti o motorie (quando trasmettono impulsi dal sistema nervoso centrale alla periferia) oppure afferenti o sensitive (quando trasmettono gli stimoli sensoriali dagli organi periferici al sistema nervoso centrale). Le fibre nervose si associano in fasci a formare i nervi.</a:t>
            </a:r>
          </a:p>
          <a:p>
            <a:pPr>
              <a:defRPr/>
            </a:pPr>
            <a:r>
              <a:rPr lang="it-IT" dirty="0"/>
              <a:t>La guaina mielinica è formata dagli avvolgimenti concentrici della membrana plasmatica di cellule della neuroglia attorno all'assone: cellule di </a:t>
            </a:r>
            <a:r>
              <a:rPr lang="it-IT" dirty="0" err="1"/>
              <a:t>Schwann</a:t>
            </a:r>
            <a:r>
              <a:rPr lang="it-IT" dirty="0"/>
              <a:t> nel sistema nervoso periferico, oligodendrociti nel sistema nervoso centrale. Gli oligodendrociti </a:t>
            </a:r>
            <a:r>
              <a:rPr lang="it-IT" dirty="0" err="1"/>
              <a:t>mielinizzano</a:t>
            </a:r>
            <a:r>
              <a:rPr lang="it-IT" dirty="0"/>
              <a:t> più assoni adiacenti, mentre le cellule di </a:t>
            </a:r>
            <a:r>
              <a:rPr lang="it-IT" dirty="0" err="1"/>
              <a:t>Schwann</a:t>
            </a:r>
            <a:r>
              <a:rPr lang="it-IT" dirty="0"/>
              <a:t> </a:t>
            </a:r>
            <a:r>
              <a:rPr lang="it-IT" dirty="0" err="1"/>
              <a:t>mielinizzano</a:t>
            </a:r>
            <a:r>
              <a:rPr lang="it-IT" dirty="0"/>
              <a:t> un solo assone. La guaina mielinica avvolge gli assoni in modo discontinuo: è interrotta ad intervalli regolari nei "nodi di </a:t>
            </a:r>
            <a:r>
              <a:rPr lang="it-IT" dirty="0" err="1"/>
              <a:t>Ranvier</a:t>
            </a:r>
            <a:r>
              <a:rPr lang="it-IT" dirty="0"/>
              <a:t>" (lo spazio fra due cellule di </a:t>
            </a:r>
            <a:r>
              <a:rPr lang="it-IT" dirty="0" err="1"/>
              <a:t>Schwann</a:t>
            </a:r>
            <a:r>
              <a:rPr lang="it-IT" dirty="0"/>
              <a:t> consecutive) in corrispondenza dei quali l'assone è privo della guaina. In questo modo, per mezzo del meccanismo a salti da un nodo di </a:t>
            </a:r>
            <a:r>
              <a:rPr lang="it-IT" dirty="0" err="1"/>
              <a:t>Ranvier</a:t>
            </a:r>
            <a:r>
              <a:rPr lang="it-IT" dirty="0"/>
              <a:t> al successivo, la propagazione del segnale elettrico è molto più rapida che negli assoni senza guaina mielinica. La membrana cellulare (plasmalemma) delle cellule di </a:t>
            </a:r>
            <a:r>
              <a:rPr lang="it-IT" dirty="0" err="1"/>
              <a:t>Schwann</a:t>
            </a:r>
            <a:r>
              <a:rPr lang="it-IT" dirty="0"/>
              <a:t> va a disporsi attorno all'assone, formando una struttura a doppia membrana (mesassone), che si allunga e si avvolge a spirale, in strati concentrici, attorno all'assone stesso. Durante questo processo di avvolgimento, il citoplasma della cellula di </a:t>
            </a:r>
            <a:r>
              <a:rPr lang="it-IT" dirty="0" err="1"/>
              <a:t>Schwann</a:t>
            </a:r>
            <a:r>
              <a:rPr lang="it-IT" dirty="0"/>
              <a:t> viene spinto verso la parte esterna, mentre le superfici delle membrane a contatto finiscono per condensarsi, formando le lamelle della guaina mielinica. Quando la guaina mielinica è definitivamente avvolta attorno all'assone, il mesassone scompare (per fusione delle membrane citoplasmatiche a contatto), tranne che in corrispondenza del giro più interno (mesassone interno) e di quello più esterno (mesassone esterno): resta un giro più esterno ricco di citoplasma. Quando la guaina mielinica è formata dagli oligodendrociti, il giro più esterno non è largo e con abbondante citoplasma ma è ridotto ad una linguetta: pertanto c'è il mesassone interno, ma non esiste il mesassone esterno. </a:t>
            </a:r>
          </a:p>
          <a:p>
            <a:pPr>
              <a:defRPr/>
            </a:pPr>
            <a:r>
              <a:rPr lang="it-IT" dirty="0"/>
              <a:t>I nodi di </a:t>
            </a:r>
            <a:r>
              <a:rPr lang="it-IT" dirty="0" err="1"/>
              <a:t>Ranvier</a:t>
            </a:r>
            <a:r>
              <a:rPr lang="it-IT" dirty="0"/>
              <a:t> corrispondono alla zona dove termina una cellula di </a:t>
            </a:r>
            <a:r>
              <a:rPr lang="it-IT" dirty="0" err="1"/>
              <a:t>Schwann</a:t>
            </a:r>
            <a:r>
              <a:rPr lang="it-IT" dirty="0"/>
              <a:t> e ne inizia un'altra, in ogni fibra la distanza tra di essi è costante ed il tratto tra un nodo di </a:t>
            </a:r>
            <a:r>
              <a:rPr lang="it-IT" dirty="0" err="1"/>
              <a:t>Ranvier</a:t>
            </a:r>
            <a:r>
              <a:rPr lang="it-IT" dirty="0"/>
              <a:t> ed il successivo è definito internodo o segmento internodale. Trattando la fibra mielinica con i sali d’argento, a livello dei nodi di </a:t>
            </a:r>
            <a:r>
              <a:rPr lang="it-IT" dirty="0" err="1"/>
              <a:t>Ranvier</a:t>
            </a:r>
            <a:r>
              <a:rPr lang="it-IT" dirty="0"/>
              <a:t> si evidenziano formazioni con aspetto di croce (croci di </a:t>
            </a:r>
            <a:r>
              <a:rPr lang="it-IT" dirty="0" err="1"/>
              <a:t>Ranvier</a:t>
            </a:r>
            <a:r>
              <a:rPr lang="it-IT" dirty="0"/>
              <a:t>): tali croci indicano zone ad elevata permeabilità. Colorando con acido osmico la guaina mielinica, si possono osservare al suo interno linee ad andamento obliquo (strie o incisure o fessure di Schmidt-</a:t>
            </a:r>
            <a:r>
              <a:rPr lang="it-IT" dirty="0" err="1"/>
              <a:t>Lantermann</a:t>
            </a:r>
            <a:r>
              <a:rPr lang="it-IT" dirty="0"/>
              <a:t>), che rappresentano zone dove il citoplasma non è stato completamente spostato dalle lamelle durante il processo di </a:t>
            </a:r>
            <a:r>
              <a:rPr lang="it-IT" dirty="0" err="1"/>
              <a:t>mielinizzazione</a:t>
            </a:r>
            <a:r>
              <a:rPr lang="it-IT" dirty="0"/>
              <a:t>. Si tratta di canalicoli citoplasmatici che si portano a spirale dalle lamelle più esterne verso le più interne: il loro significato sarebbe di mantenere una comunicazione tra il citoplasma più esterno e quello che rimane in prossimità dell’assone, consentendo il passaggio di sostanze nutritizie.</a:t>
            </a:r>
          </a:p>
          <a:p>
            <a:pPr>
              <a:defRPr/>
            </a:pPr>
            <a:r>
              <a:rPr lang="it-IT" dirty="0"/>
              <a:t>Nelle fibre </a:t>
            </a:r>
            <a:r>
              <a:rPr lang="it-IT" dirty="0" err="1"/>
              <a:t>amieliniche</a:t>
            </a:r>
            <a:r>
              <a:rPr lang="it-IT" dirty="0"/>
              <a:t> una sola cellula di </a:t>
            </a:r>
            <a:r>
              <a:rPr lang="it-IT" dirty="0" err="1"/>
              <a:t>Schwann</a:t>
            </a:r>
            <a:r>
              <a:rPr lang="it-IT" dirty="0"/>
              <a:t> può presentare semplici propaggini che accolgono numerosi assoni, formando attorno a ciascuno da uno a pochi giri di avvolgimento, formando il mesassone. In questo caso non sono presenti gli internodi.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Glia</a:t>
            </a:r>
          </a:p>
          <a:p>
            <a:pPr>
              <a:defRPr/>
            </a:pPr>
            <a:r>
              <a:rPr lang="it-IT" dirty="0"/>
              <a:t>Alle cellule della glia, nel loro insieme, si riconoscono le seguenti funzioni: sostegno dei pirenofori e delle loro arborizzazioni, partecipazione alla </a:t>
            </a:r>
            <a:r>
              <a:rPr lang="it-IT" dirty="0" err="1"/>
              <a:t>mielinizzazione</a:t>
            </a:r>
            <a:r>
              <a:rPr lang="it-IT" dirty="0"/>
              <a:t> delle fibre nervose; funzione di "isolante" nei confronti di neuroni e fibre nervose; intervento nella riparazione delle lesioni (proliferando e sostituendo i neuroni distrutti); funzioni trofiche; partecipazione indiretta alla trasmissione dell'impulso nervoso (immagazzinando e cedendo mediatori chimici). La neuroglia può essere distinta in </a:t>
            </a:r>
            <a:r>
              <a:rPr lang="it-IT" dirty="0" err="1"/>
              <a:t>microglia</a:t>
            </a:r>
            <a:r>
              <a:rPr lang="it-IT" dirty="0"/>
              <a:t> e </a:t>
            </a:r>
            <a:r>
              <a:rPr lang="it-IT" dirty="0" err="1"/>
              <a:t>macroglia</a:t>
            </a:r>
            <a:r>
              <a:rPr lang="it-IT" dirty="0"/>
              <a:t>; la </a:t>
            </a:r>
            <a:r>
              <a:rPr lang="it-IT" dirty="0" err="1"/>
              <a:t>macroglia</a:t>
            </a:r>
            <a:r>
              <a:rPr lang="it-IT" dirty="0"/>
              <a:t> comprende </a:t>
            </a:r>
            <a:r>
              <a:rPr lang="it-IT" dirty="0" err="1"/>
              <a:t>astrociti</a:t>
            </a:r>
            <a:r>
              <a:rPr lang="it-IT" dirty="0"/>
              <a:t>, oligodendrociti, cellule ependimali e cellule di </a:t>
            </a:r>
            <a:r>
              <a:rPr lang="it-IT" dirty="0" err="1"/>
              <a:t>Schwann</a:t>
            </a:r>
            <a:r>
              <a:rPr lang="it-IT" dirty="0"/>
              <a:t>.</a:t>
            </a:r>
          </a:p>
          <a:p>
            <a:pPr>
              <a:defRPr/>
            </a:pPr>
            <a:r>
              <a:rPr lang="it-IT" dirty="0"/>
              <a:t>Le cellule della </a:t>
            </a:r>
            <a:r>
              <a:rPr lang="it-IT" dirty="0" err="1"/>
              <a:t>microglia</a:t>
            </a:r>
            <a:r>
              <a:rPr lang="it-IT" dirty="0"/>
              <a:t> appartengono al sistema dei monociti-macrofagi, sono piccole e poco numerose in condizioni normali, aumentano di numero nelle sedi di lesioni del tessuto nervoso. Presentano nuclei di dimensioni ridotte, scarso citoplasma e numerosi fini prolungamenti molto ramificati; sono dotate di fagocitosi.</a:t>
            </a:r>
          </a:p>
          <a:p>
            <a:pPr>
              <a:defRPr/>
            </a:pPr>
            <a:r>
              <a:rPr lang="it-IT" dirty="0"/>
              <a:t>Gli </a:t>
            </a:r>
            <a:r>
              <a:rPr lang="it-IT" dirty="0" err="1"/>
              <a:t>astrociti</a:t>
            </a:r>
            <a:r>
              <a:rPr lang="it-IT" dirty="0"/>
              <a:t> sono la categoria più abbondante delle cellule della nevroglia e quasi la metà delle cellule contenute nel cervello. Presentano forma stellata, con prolungamenti lunghi e ramificati (</a:t>
            </a:r>
            <a:r>
              <a:rPr lang="it-IT" dirty="0" err="1"/>
              <a:t>gliofilamenti</a:t>
            </a:r>
            <a:r>
              <a:rPr lang="it-IT" dirty="0"/>
              <a:t>). Sono collegati con altri </a:t>
            </a:r>
            <a:r>
              <a:rPr lang="it-IT" dirty="0" err="1"/>
              <a:t>astrociti</a:t>
            </a:r>
            <a:r>
              <a:rPr lang="it-IT" dirty="0"/>
              <a:t>, con altre cellule della glia e con i neuroni. Svolgono funzione trofica nei confronti dei neuroni, permettendo gli scambi nutritizi tra i neuroni ed il sangue, in quanto alcuni dei </a:t>
            </a:r>
            <a:r>
              <a:rPr lang="it-IT" dirty="0" err="1"/>
              <a:t>gliofilamenti</a:t>
            </a:r>
            <a:r>
              <a:rPr lang="it-IT" dirty="0"/>
              <a:t>, tramite piccole espansioni terminali a forma di pedicello, si connettono con i capillari. Gli </a:t>
            </a:r>
            <a:r>
              <a:rPr lang="it-IT" dirty="0" err="1"/>
              <a:t>astrociti</a:t>
            </a:r>
            <a:r>
              <a:rPr lang="it-IT" dirty="0"/>
              <a:t>, formando uno strato cellulare continuo, aiuterebbero le cellule endoteliali dei vasi sanguigni del sistema nervoso centrale a formare la barriera ematoencefalica (con funzione di protezione del tessuto cerebrale dagli elementi nocivi presenti nel sangue, pur permettendo il passaggio di metaboliti).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Gli oligodendrociti possono avere dimensioni variabili; generalmente presentano numerosi prolungamenti ramificati, piuttosto corti; nel sistema nervoso centrale ciascun oligodendrocita con i suoi prolungamenti può avvolgere decine di assoni, formandone la guaina mielinica. Alcuni oligodendrociti (oligodendrociti satelliti) sono strettamente associati ai corpi cellulari dei neuroni. </a:t>
            </a:r>
          </a:p>
          <a:p>
            <a:pPr>
              <a:defRPr/>
            </a:pPr>
            <a:r>
              <a:rPr lang="it-IT" dirty="0"/>
              <a:t>Le cellule ependimali hanno forma cubica o cilindrica e sono fittamente addossate le une alle altre a formare un rivestimento monostratificato che tappezza le cavità dell'encefalo (ventricoli cerebrali) e del midollo spinale (canale centrale), definito ependima, che conserva un aspetto epitelioide per tutta la vita dell'individuo.</a:t>
            </a:r>
          </a:p>
          <a:p>
            <a:pPr>
              <a:defRPr/>
            </a:pPr>
            <a:r>
              <a:rPr lang="it-IT" dirty="0"/>
              <a:t>Le cellule di </a:t>
            </a:r>
            <a:r>
              <a:rPr lang="it-IT" dirty="0" err="1"/>
              <a:t>Schwann</a:t>
            </a:r>
            <a:r>
              <a:rPr lang="it-IT" dirty="0"/>
              <a:t> sono presenti solo nel sistema nervoso periferico, dove rivestono gli assoni, formando la guaina mielinica. Ogni cellula di </a:t>
            </a:r>
            <a:r>
              <a:rPr lang="it-IT" dirty="0" err="1"/>
              <a:t>Schwann</a:t>
            </a:r>
            <a:r>
              <a:rPr lang="it-IT" dirty="0"/>
              <a:t> riveste un internodo di un assone, avvolgendosi attorno ad un tratto di assone numerose volte; gli strati più interni sono composti principalmente da mielina, che forma la membrana cellulare, mentre il citoplasma e il nucleo restano negli strati più esterni. La mielina ha funzione di isolante elettrico, per aumentare la velocità di conduzione dell'impulso nervoso.</a:t>
            </a:r>
          </a:p>
          <a:p>
            <a:pPr>
              <a:defRPr/>
            </a:pPr>
            <a:endParaRPr lang="it-IT" dirty="0"/>
          </a:p>
        </p:txBody>
      </p:sp>
      <p:sp>
        <p:nvSpPr>
          <p:cNvPr id="58372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E0891F-B574-4644-B444-4C5507139F93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21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916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Martini</a:t>
            </a:r>
          </a:p>
        </p:txBody>
      </p:sp>
      <p:sp>
        <p:nvSpPr>
          <p:cNvPr id="60420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44DD7A-7C62-45B5-B236-63C31098B13F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22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390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V1-92, 93</a:t>
            </a:r>
          </a:p>
        </p:txBody>
      </p:sp>
      <p:sp>
        <p:nvSpPr>
          <p:cNvPr id="62468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D847F6-2F34-4898-A1C9-E516623BEAD6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23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3014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V1-93</a:t>
            </a:r>
          </a:p>
        </p:txBody>
      </p:sp>
      <p:sp>
        <p:nvSpPr>
          <p:cNvPr id="64516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ADDE87-D5A9-419B-9C46-F5F96BFCA2EF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24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99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V1-81,</a:t>
            </a:r>
          </a:p>
        </p:txBody>
      </p:sp>
      <p:sp>
        <p:nvSpPr>
          <p:cNvPr id="6656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03069D-89CC-4824-92E0-E6F1A03B4A68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25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7061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MARTINI</a:t>
            </a:r>
          </a:p>
        </p:txBody>
      </p:sp>
      <p:sp>
        <p:nvSpPr>
          <p:cNvPr id="68612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1BA9461-1787-4C2E-804C-63B62BEEAC8E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26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2955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V1-80</a:t>
            </a:r>
          </a:p>
        </p:txBody>
      </p:sp>
      <p:sp>
        <p:nvSpPr>
          <p:cNvPr id="70660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507E18-F9BC-4E8E-A569-6A684E4289AB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27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009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V1-86,</a:t>
            </a:r>
          </a:p>
        </p:txBody>
      </p:sp>
      <p:sp>
        <p:nvSpPr>
          <p:cNvPr id="72708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28759A0-338B-42DC-8F2A-6E2776657B3C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28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2083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V1-82,83,</a:t>
            </a:r>
          </a:p>
          <a:p>
            <a:r>
              <a:rPr lang="it-IT" altLang="it-IT"/>
              <a:t>IL DERMATOMERO C1 NON ESISTE perché IL MIELOMERO C1 CONTIENE SOLO FIBRE MOTORIE</a:t>
            </a:r>
          </a:p>
        </p:txBody>
      </p:sp>
      <p:sp>
        <p:nvSpPr>
          <p:cNvPr id="74756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33BBB1-761C-452E-9DCF-27B414EF67D2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29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417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V1-84</a:t>
            </a:r>
          </a:p>
        </p:txBody>
      </p:sp>
      <p:sp>
        <p:nvSpPr>
          <p:cNvPr id="7680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FEDAF3-8233-42EA-A21D-93262441084C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30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5508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V1-85</a:t>
            </a:r>
          </a:p>
        </p:txBody>
      </p:sp>
      <p:sp>
        <p:nvSpPr>
          <p:cNvPr id="78852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462DE7F-736F-4C76-9EA2-BBC96C98FD72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31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1034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V1-84,</a:t>
            </a:r>
          </a:p>
          <a:p>
            <a:r>
              <a:rPr lang="it-IT" altLang="it-IT"/>
              <a:t>NEUROMERI VICINI INNERVANO DERMATOMERI COSì VICINI CHE SI SOVRAPPONGONO</a:t>
            </a:r>
          </a:p>
          <a:p>
            <a:r>
              <a:rPr lang="it-IT" altLang="it-IT"/>
              <a:t>SI DEFINISCE TERRITORIO AUTONOMO LA CUTE INNERVATA DAI RR DI UN SINGOLO NERVO CUTANEO</a:t>
            </a:r>
          </a:p>
          <a:p>
            <a:endParaRPr lang="it-IT" altLang="it-IT"/>
          </a:p>
        </p:txBody>
      </p:sp>
      <p:sp>
        <p:nvSpPr>
          <p:cNvPr id="80900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76E575-CDC5-430B-87D3-97EE2A481822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32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5016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V1-86</a:t>
            </a:r>
          </a:p>
        </p:txBody>
      </p:sp>
      <p:sp>
        <p:nvSpPr>
          <p:cNvPr id="82948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15C299-6247-42C4-BF0F-4AB463A66E5B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33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8925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V1-87,</a:t>
            </a:r>
          </a:p>
        </p:txBody>
      </p:sp>
      <p:sp>
        <p:nvSpPr>
          <p:cNvPr id="84996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39ACE0-0666-493A-8EB2-92F24CCE3242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34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7701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V1-86,87</a:t>
            </a:r>
          </a:p>
        </p:txBody>
      </p:sp>
      <p:sp>
        <p:nvSpPr>
          <p:cNvPr id="8704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D72F20-5814-44C7-BEED-882DCE11FC7F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35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523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SISTEMA PROPRIOSPINALE: trasporto di informazioni all’interno del midollo stesso</a:t>
            </a:r>
          </a:p>
          <a:p>
            <a:endParaRPr lang="it-IT" altLang="it-IT"/>
          </a:p>
        </p:txBody>
      </p:sp>
      <p:sp>
        <p:nvSpPr>
          <p:cNvPr id="89092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0A64C6-BD82-4BDD-9847-80B78B79AE65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36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0304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V1-88,</a:t>
            </a:r>
          </a:p>
        </p:txBody>
      </p:sp>
      <p:sp>
        <p:nvSpPr>
          <p:cNvPr id="9216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23367E5-8B08-4374-AD54-0A2FE5004B76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38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8064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V1-88,</a:t>
            </a:r>
          </a:p>
        </p:txBody>
      </p:sp>
      <p:sp>
        <p:nvSpPr>
          <p:cNvPr id="94212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7EB26B-536C-4CA5-BDC6-243BA52D4B17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39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8722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V1-85,</a:t>
            </a:r>
          </a:p>
        </p:txBody>
      </p:sp>
      <p:sp>
        <p:nvSpPr>
          <p:cNvPr id="96260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78759C-9302-4BC1-9D13-10ABF5DD4A4A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40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6249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V1-88,</a:t>
            </a:r>
          </a:p>
        </p:txBody>
      </p:sp>
      <p:sp>
        <p:nvSpPr>
          <p:cNvPr id="98308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470A4B-51C6-47D3-A557-BC1FFF104ECB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41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3482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V1-89,</a:t>
            </a:r>
          </a:p>
          <a:p>
            <a:r>
              <a:rPr lang="it-IT" altLang="it-IT"/>
              <a:t>Testarli bilateralmente per «paragonarne» l’intensità.</a:t>
            </a:r>
          </a:p>
        </p:txBody>
      </p:sp>
      <p:sp>
        <p:nvSpPr>
          <p:cNvPr id="100356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038D6B-3B72-4EBF-AE32-711008C81A1B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42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4170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V1-89,</a:t>
            </a:r>
          </a:p>
        </p:txBody>
      </p:sp>
      <p:sp>
        <p:nvSpPr>
          <p:cNvPr id="10240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4EB48C1-B353-47C4-9162-82C2F53CC0F4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43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1289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V1-91,90,</a:t>
            </a:r>
          </a:p>
        </p:txBody>
      </p:sp>
      <p:sp>
        <p:nvSpPr>
          <p:cNvPr id="104452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A22FE8-FB8C-478E-8266-794B7A6F521C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44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129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V1-91,90,</a:t>
            </a:r>
          </a:p>
        </p:txBody>
      </p:sp>
      <p:sp>
        <p:nvSpPr>
          <p:cNvPr id="106500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2FBAF1-9E8D-43E6-8B49-1C0B6689A277}" type="slidenum">
              <a:rPr lang="it-IT" altLang="it-IT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45</a:t>
            </a:fld>
            <a:endParaRPr lang="it-IT" altLang="it-IT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384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700" y="5949950"/>
            <a:ext cx="8953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217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781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88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68313" y="1989138"/>
            <a:ext cx="4038600" cy="367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59313" y="1989138"/>
            <a:ext cx="4038600" cy="367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670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0893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0046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523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5671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994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6736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5394325"/>
          </a:xfrm>
          <a:prstGeom prst="rect">
            <a:avLst/>
          </a:prstGeom>
        </p:spPr>
        <p:txBody>
          <a:bodyPr vert="eaVert"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535005"/>
            <a:ext cx="6029325" cy="5394325"/>
          </a:xfrm>
        </p:spPr>
        <p:txBody>
          <a:bodyPr vert="eaVert"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5659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457200" y="785794"/>
            <a:ext cx="8240713" cy="5394325"/>
          </a:xfrm>
        </p:spPr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3675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1_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457200" y="677881"/>
            <a:ext cx="8240713" cy="5394325"/>
          </a:xfrm>
        </p:spPr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27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989138"/>
            <a:ext cx="8229600" cy="367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Text Box 6"/>
          <p:cNvSpPr txBox="1">
            <a:spLocks noChangeArrowheads="1"/>
          </p:cNvSpPr>
          <p:nvPr userDrawn="1"/>
        </p:nvSpPr>
        <p:spPr bwMode="auto">
          <a:xfrm>
            <a:off x="323850" y="115888"/>
            <a:ext cx="84963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de-DE" altLang="it-IT" sz="1400" i="1"/>
              <a:t>Michael Schüenke, Erik Schulte, Udo Schumacher </a:t>
            </a:r>
            <a:r>
              <a:rPr lang="it-IT" altLang="it-IT" sz="1400" i="1"/>
              <a:t>– Prometheus - Testo Atlante di Anatomia  - 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it-IT" altLang="it-IT" sz="1400" i="1"/>
              <a:t>Anatomia Generale e Apparato Locomotore – Capitolo 1.8</a:t>
            </a:r>
          </a:p>
        </p:txBody>
      </p:sp>
      <p:pic>
        <p:nvPicPr>
          <p:cNvPr id="1030" name="Picture 8" descr="logo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700" y="5949950"/>
            <a:ext cx="8953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4465" r:id="rId1"/>
    <p:sldLayoutId id="2147484466" r:id="rId2"/>
    <p:sldLayoutId id="2147484467" r:id="rId3"/>
    <p:sldLayoutId id="2147484468" r:id="rId4"/>
    <p:sldLayoutId id="2147484469" r:id="rId5"/>
    <p:sldLayoutId id="2147484470" r:id="rId6"/>
    <p:sldLayoutId id="2147484471" r:id="rId7"/>
    <p:sldLayoutId id="2147484472" r:id="rId8"/>
    <p:sldLayoutId id="2147484473" r:id="rId9"/>
    <p:sldLayoutId id="2147484474" r:id="rId10"/>
    <p:sldLayoutId id="2147484475" r:id="rId11"/>
    <p:sldLayoutId id="2147484476" r:id="rId12"/>
    <p:sldLayoutId id="2147484477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hyperlink" Target="http://www.google.it/url?sa=i&amp;rct=j&amp;q=&amp;esrc=s&amp;source=images&amp;cd=&amp;cad=rja&amp;uact=8&amp;ved=0CAcQjRxqFQoTCLPS8Iedu8gCFcXPFAoddu4MFw&amp;url=http://neurocirugiacontemporanea.com/doku.php?id%3Dneuroporo&amp;bvm=bv.104819420,d.bGQ&amp;psig=AFQjCNFKrupqdeYEhPas5s1cB0qHcbWRMw&amp;ust=144468062287840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it/url?sa=i&amp;rct=j&amp;q=&amp;esrc=s&amp;source=images&amp;cd=&amp;cad=rja&amp;uact=8&amp;ved=0CAcQjRxqFQoTCP6PwZygu8gCFQTpFAodcMgHYQ&amp;url=http://www.albanesi.it/salute/spina_bifida.htm&amp;bvm=bv.104819420,d.bGQ&amp;psig=AFQjCNGWs051J4IvW-1Nks1hIwHlpnN2TA&amp;ust=1444681519923748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hyperlink" Target="http://www.google.it/url?sa=i&amp;rct=j&amp;q=&amp;esrc=s&amp;source=images&amp;cd=&amp;cad=rja&amp;uact=8&amp;ved=0CAcQjRxqFQoTCKjp6qqhu8gCFUe0FAodQWgE8g&amp;url=http://www.uludagsozluk.com/k/%C3%B6%C4%9Frenildi%C4%9Finde-ufku-iki-kat%C4%B1na-%C3%A7%C4%B1karan-%C5%9Feyler/77/&amp;bvm=bv.104819420,d.bGQ&amp;psig=AFQjCNF_0CzQVivv98UBHsj6tcTPJHj2lg&amp;ust=1444681661703455" TargetMode="Externa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Segnaposto contenuto 3" descr="pg76.gif"/>
          <p:cNvPicPr>
            <a:picLocks noGrp="1" noChangeAspect="1"/>
          </p:cNvPicPr>
          <p:nvPr>
            <p:ph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8" t="6870" r="13567" b="21306"/>
          <a:stretch/>
        </p:blipFill>
        <p:spPr>
          <a:xfrm>
            <a:off x="3059832" y="188639"/>
            <a:ext cx="6048672" cy="6552729"/>
          </a:xfrm>
        </p:spPr>
      </p:pic>
      <p:pic>
        <p:nvPicPr>
          <p:cNvPr id="17411" name="Segnaposto contenuto 3" descr="pg77_b.gif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8" b="19052"/>
          <a:stretch/>
        </p:blipFill>
        <p:spPr bwMode="auto">
          <a:xfrm>
            <a:off x="107504" y="332656"/>
            <a:ext cx="3046859" cy="612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olo 1"/>
          <p:cNvSpPr txBox="1">
            <a:spLocks/>
          </p:cNvSpPr>
          <p:nvPr/>
        </p:nvSpPr>
        <p:spPr bwMode="auto">
          <a:xfrm>
            <a:off x="1547813" y="635000"/>
            <a:ext cx="3024187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sz="2000" kern="0" dirty="0">
                <a:solidFill>
                  <a:srgbClr val="002060"/>
                </a:solidFill>
                <a:effectLst/>
              </a:rPr>
              <a:t>ORGANIZZAZIONE</a:t>
            </a: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000" kern="0" dirty="0">
                <a:solidFill>
                  <a:srgbClr val="002060"/>
                </a:solidFill>
                <a:effectLst/>
              </a:rPr>
              <a:t> del SNC /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Segnaposto contenuto 3" descr="1302.gif"/>
          <p:cNvPicPr>
            <a:picLocks noGrp="1" noChangeAspect="1"/>
          </p:cNvPicPr>
          <p:nvPr>
            <p:ph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6" t="3132" r="1925" b="4831"/>
          <a:stretch/>
        </p:blipFill>
        <p:spPr>
          <a:xfrm>
            <a:off x="1115616" y="56237"/>
            <a:ext cx="7056784" cy="6677387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95288" y="198438"/>
            <a:ext cx="6840537" cy="782637"/>
          </a:xfrm>
        </p:spPr>
        <p:txBody>
          <a:bodyPr/>
          <a:lstStyle/>
          <a:p>
            <a:pPr>
              <a:defRPr/>
            </a:pPr>
            <a:r>
              <a:rPr lang="it-IT" sz="2000" dirty="0"/>
              <a:t>Sviluppo del SNC: </a:t>
            </a:r>
            <a:br>
              <a:rPr lang="it-IT" sz="2000" dirty="0"/>
            </a:br>
            <a:r>
              <a:rPr lang="it-IT" sz="2000" dirty="0"/>
              <a:t>Midollo Spinale (canale vertebrale) ed Encefalo (cranio)</a:t>
            </a:r>
          </a:p>
        </p:txBody>
      </p:sp>
      <p:pic>
        <p:nvPicPr>
          <p:cNvPr id="2150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2779713"/>
            <a:ext cx="8528050" cy="4105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7" descr="http://neurocirugiacontemporanea.com/lib/exe/fetch.php?media=neuroporo.jp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0"/>
            <a:ext cx="1655762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e 4"/>
          <p:cNvSpPr/>
          <p:nvPr/>
        </p:nvSpPr>
        <p:spPr>
          <a:xfrm>
            <a:off x="5364163" y="2419350"/>
            <a:ext cx="2232025" cy="3097213"/>
          </a:xfrm>
          <a:prstGeom prst="ellipse">
            <a:avLst/>
          </a:prstGeom>
          <a:noFill/>
          <a:ln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6" name="Ovale 5"/>
          <p:cNvSpPr/>
          <p:nvPr/>
        </p:nvSpPr>
        <p:spPr>
          <a:xfrm>
            <a:off x="6192838" y="5300663"/>
            <a:ext cx="539750" cy="151130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21511" name="Rettangolo 1"/>
          <p:cNvSpPr>
            <a:spLocks noChangeArrowheads="1"/>
          </p:cNvSpPr>
          <p:nvPr/>
        </p:nvSpPr>
        <p:spPr bwMode="auto">
          <a:xfrm>
            <a:off x="6515100" y="5948363"/>
            <a:ext cx="2160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400">
                <a:solidFill>
                  <a:srgbClr val="FF0000"/>
                </a:solidFill>
              </a:rPr>
              <a:t>MIDOLLO SPINALE</a:t>
            </a:r>
          </a:p>
        </p:txBody>
      </p:sp>
      <p:sp>
        <p:nvSpPr>
          <p:cNvPr id="21512" name="Rettangolo 1"/>
          <p:cNvSpPr>
            <a:spLocks noChangeArrowheads="1"/>
          </p:cNvSpPr>
          <p:nvPr/>
        </p:nvSpPr>
        <p:spPr bwMode="auto">
          <a:xfrm>
            <a:off x="7380288" y="3911600"/>
            <a:ext cx="1081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400">
                <a:solidFill>
                  <a:srgbClr val="FF0000"/>
                </a:solidFill>
              </a:rPr>
              <a:t>ENCEFALO</a:t>
            </a:r>
          </a:p>
        </p:txBody>
      </p:sp>
      <p:pic>
        <p:nvPicPr>
          <p:cNvPr id="21513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38238"/>
            <a:ext cx="37433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4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263" y="1119188"/>
            <a:ext cx="3032125" cy="158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03200"/>
            <a:ext cx="8229600" cy="633413"/>
          </a:xfrm>
        </p:spPr>
        <p:txBody>
          <a:bodyPr/>
          <a:lstStyle/>
          <a:p>
            <a:pPr>
              <a:defRPr/>
            </a:pPr>
            <a:r>
              <a:rPr lang="it-IT" sz="2800" dirty="0"/>
              <a:t>Sviluppo del SNC: Midollo Spinale</a:t>
            </a:r>
          </a:p>
        </p:txBody>
      </p:sp>
      <p:pic>
        <p:nvPicPr>
          <p:cNvPr id="2355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836613"/>
            <a:ext cx="6789738" cy="2286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213100"/>
            <a:ext cx="6789738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e 4"/>
          <p:cNvSpPr/>
          <p:nvPr/>
        </p:nvSpPr>
        <p:spPr>
          <a:xfrm>
            <a:off x="5151438" y="4365625"/>
            <a:ext cx="933450" cy="1547813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6" name="Ovale 5"/>
          <p:cNvSpPr/>
          <p:nvPr/>
        </p:nvSpPr>
        <p:spPr>
          <a:xfrm>
            <a:off x="1763713" y="3716338"/>
            <a:ext cx="1512887" cy="50482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633413"/>
          </a:xfrm>
        </p:spPr>
        <p:txBody>
          <a:bodyPr/>
          <a:lstStyle/>
          <a:p>
            <a:pPr>
              <a:defRPr/>
            </a:pPr>
            <a:r>
              <a:rPr lang="it-IT" sz="2800" dirty="0"/>
              <a:t>Difetti di </a:t>
            </a:r>
            <a:r>
              <a:rPr lang="it-IT" sz="2800" dirty="0">
                <a:solidFill>
                  <a:srgbClr val="FF0000"/>
                </a:solidFill>
              </a:rPr>
              <a:t>chiusura</a:t>
            </a:r>
            <a:r>
              <a:rPr lang="it-IT" sz="2800" dirty="0"/>
              <a:t> del Tubo Neurale</a:t>
            </a:r>
          </a:p>
        </p:txBody>
      </p:sp>
      <p:pic>
        <p:nvPicPr>
          <p:cNvPr id="25603" name="Picture 4" descr="D:\DIDAT\IMMAGINI\spinabifidatreformediverse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2988" y="620713"/>
            <a:ext cx="7073900" cy="3529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6" descr="http://www.albanesi.it/wp-content/uploads/2014/02/spina_bifida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4221163"/>
            <a:ext cx="3167063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10" descr="http://galeri.uludagsozluk.com/11/anensefali_43569_m.jpg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138" y="4221163"/>
            <a:ext cx="1966912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4221163"/>
            <a:ext cx="3732212" cy="23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Segnaposto contenuto 3" descr="pg73_d.gif"/>
          <p:cNvPicPr>
            <a:picLocks noGrp="1" noChangeAspect="1"/>
          </p:cNvPicPr>
          <p:nvPr>
            <p:ph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5" r="7230"/>
          <a:stretch>
            <a:fillRect/>
          </a:stretch>
        </p:blipFill>
        <p:spPr>
          <a:xfrm>
            <a:off x="107503" y="2278063"/>
            <a:ext cx="8928993" cy="4319587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0" y="477838"/>
            <a:ext cx="9144000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sz="2400" kern="0" dirty="0"/>
              <a:t>Midollo Spinale:</a:t>
            </a: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400" kern="0" dirty="0"/>
              <a:t>sostanza GRIGIA e sostanza BIANCA,</a:t>
            </a: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400" kern="0" dirty="0"/>
              <a:t>Porzioni SENSITIVE (afferenze) / MOTRICI (</a:t>
            </a:r>
            <a:r>
              <a:rPr lang="it-IT" sz="2400" kern="0" dirty="0" err="1"/>
              <a:t>efferenze</a:t>
            </a:r>
            <a:r>
              <a:rPr lang="it-IT" sz="2400" kern="0" dirty="0"/>
              <a:t>)</a:t>
            </a:r>
          </a:p>
        </p:txBody>
      </p:sp>
      <p:sp>
        <p:nvSpPr>
          <p:cNvPr id="5" name="Freccia a sinistra 4"/>
          <p:cNvSpPr/>
          <p:nvPr/>
        </p:nvSpPr>
        <p:spPr>
          <a:xfrm rot="18157930">
            <a:off x="5838826" y="4324350"/>
            <a:ext cx="819150" cy="111125"/>
          </a:xfrm>
          <a:prstGeom prst="leftArrow">
            <a:avLst>
              <a:gd name="adj1" fmla="val 50000"/>
              <a:gd name="adj2" fmla="val 100000"/>
            </a:avLst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6" name="Freccia a sinistra 5"/>
          <p:cNvSpPr/>
          <p:nvPr/>
        </p:nvSpPr>
        <p:spPr>
          <a:xfrm rot="13315249">
            <a:off x="5632450" y="2952750"/>
            <a:ext cx="725488" cy="103188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19100"/>
            <a:ext cx="8229600" cy="633413"/>
          </a:xfrm>
        </p:spPr>
        <p:txBody>
          <a:bodyPr/>
          <a:lstStyle/>
          <a:p>
            <a:pPr>
              <a:defRPr/>
            </a:pPr>
            <a:r>
              <a:rPr lang="it-IT" sz="2800" dirty="0"/>
              <a:t>Sviluppo del SNC / SNP</a:t>
            </a:r>
          </a:p>
        </p:txBody>
      </p:sp>
      <p:pic>
        <p:nvPicPr>
          <p:cNvPr id="2867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84313"/>
            <a:ext cx="8791575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e 4"/>
          <p:cNvSpPr/>
          <p:nvPr/>
        </p:nvSpPr>
        <p:spPr>
          <a:xfrm>
            <a:off x="7381875" y="3789363"/>
            <a:ext cx="1511300" cy="143986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/>
          <p:cNvSpPr txBox="1">
            <a:spLocks/>
          </p:cNvSpPr>
          <p:nvPr/>
        </p:nvSpPr>
        <p:spPr bwMode="auto">
          <a:xfrm>
            <a:off x="34925" y="260350"/>
            <a:ext cx="47164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sz="2000" kern="0" dirty="0"/>
              <a:t>DERIVATI  delle CRESTE NEURALI</a:t>
            </a:r>
          </a:p>
        </p:txBody>
      </p:sp>
      <p:pic>
        <p:nvPicPr>
          <p:cNvPr id="30723" name="Segnaposto contenuto 3" descr="pg74_b.gif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4" b="22127"/>
          <a:stretch>
            <a:fillRect/>
          </a:stretch>
        </p:blipFill>
        <p:spPr bwMode="auto">
          <a:xfrm>
            <a:off x="34925" y="930275"/>
            <a:ext cx="4716463" cy="592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Segnaposto contenuto 3" descr="pg75_c.gif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5400"/>
            <a:ext cx="4427537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Segnaposto contenuto 3" descr="pg75_d.gif"/>
          <p:cNvPicPr>
            <a:picLocks noGrp="1" noChangeAspect="1"/>
          </p:cNvPicPr>
          <p:nvPr>
            <p:ph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7984" y="2420938"/>
            <a:ext cx="4716016" cy="4389437"/>
          </a:xfrm>
        </p:spPr>
      </p:pic>
      <p:sp>
        <p:nvSpPr>
          <p:cNvPr id="2" name="Rettangolo 1"/>
          <p:cNvSpPr/>
          <p:nvPr/>
        </p:nvSpPr>
        <p:spPr>
          <a:xfrm>
            <a:off x="3995738" y="5589588"/>
            <a:ext cx="5148262" cy="12684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Segnaposto contenuto 3" descr="pg75_e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9" r="8072" b="7775"/>
          <a:stretch>
            <a:fillRect/>
          </a:stretch>
        </p:blipFill>
        <p:spPr>
          <a:xfrm>
            <a:off x="152401" y="690066"/>
            <a:ext cx="8839200" cy="5979294"/>
          </a:xfrm>
        </p:spPr>
      </p:pic>
      <p:sp>
        <p:nvSpPr>
          <p:cNvPr id="3" name="Ovale 2"/>
          <p:cNvSpPr/>
          <p:nvPr/>
        </p:nvSpPr>
        <p:spPr>
          <a:xfrm>
            <a:off x="6372225" y="4510088"/>
            <a:ext cx="500063" cy="21590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32772" name="Rettangolo 1"/>
          <p:cNvSpPr>
            <a:spLocks noChangeArrowheads="1"/>
          </p:cNvSpPr>
          <p:nvPr/>
        </p:nvSpPr>
        <p:spPr bwMode="auto">
          <a:xfrm>
            <a:off x="6804025" y="4437063"/>
            <a:ext cx="10810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b="1">
                <a:solidFill>
                  <a:srgbClr val="FF0000"/>
                </a:solidFill>
              </a:rPr>
              <a:t>Ne Spin</a:t>
            </a:r>
          </a:p>
        </p:txBody>
      </p:sp>
      <p:sp>
        <p:nvSpPr>
          <p:cNvPr id="32773" name="Rettangolo 1"/>
          <p:cNvSpPr>
            <a:spLocks noChangeArrowheads="1"/>
          </p:cNvSpPr>
          <p:nvPr/>
        </p:nvSpPr>
        <p:spPr bwMode="auto">
          <a:xfrm>
            <a:off x="4572000" y="1917700"/>
            <a:ext cx="863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b="1">
                <a:solidFill>
                  <a:srgbClr val="FF0000"/>
                </a:solidFill>
              </a:rPr>
              <a:t>SNC</a:t>
            </a:r>
          </a:p>
        </p:txBody>
      </p:sp>
      <p:sp>
        <p:nvSpPr>
          <p:cNvPr id="32774" name="Rettangolo 1"/>
          <p:cNvSpPr>
            <a:spLocks noChangeArrowheads="1"/>
          </p:cNvSpPr>
          <p:nvPr/>
        </p:nvSpPr>
        <p:spPr bwMode="auto">
          <a:xfrm>
            <a:off x="6300788" y="4962525"/>
            <a:ext cx="863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b="1">
                <a:solidFill>
                  <a:srgbClr val="FF0000"/>
                </a:solidFill>
              </a:rPr>
              <a:t>SNP</a:t>
            </a:r>
          </a:p>
        </p:txBody>
      </p:sp>
      <p:sp>
        <p:nvSpPr>
          <p:cNvPr id="7" name="Ovale 6"/>
          <p:cNvSpPr/>
          <p:nvPr/>
        </p:nvSpPr>
        <p:spPr>
          <a:xfrm rot="19092916">
            <a:off x="5419725" y="3729038"/>
            <a:ext cx="782638" cy="25241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8" name="Ovale 7"/>
          <p:cNvSpPr/>
          <p:nvPr/>
        </p:nvSpPr>
        <p:spPr>
          <a:xfrm rot="19901925">
            <a:off x="5602288" y="1744663"/>
            <a:ext cx="336550" cy="787400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32777" name="Rettangolo 1"/>
          <p:cNvSpPr>
            <a:spLocks noChangeArrowheads="1"/>
          </p:cNvSpPr>
          <p:nvPr/>
        </p:nvSpPr>
        <p:spPr bwMode="auto">
          <a:xfrm>
            <a:off x="6588125" y="2205038"/>
            <a:ext cx="863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>
                <a:solidFill>
                  <a:srgbClr val="FF0000"/>
                </a:solidFill>
              </a:rPr>
              <a:t>NS</a:t>
            </a:r>
          </a:p>
        </p:txBody>
      </p:sp>
      <p:sp>
        <p:nvSpPr>
          <p:cNvPr id="32778" name="Rettangolo 1"/>
          <p:cNvSpPr>
            <a:spLocks noChangeArrowheads="1"/>
          </p:cNvSpPr>
          <p:nvPr/>
        </p:nvSpPr>
        <p:spPr bwMode="auto">
          <a:xfrm>
            <a:off x="4859338" y="3068638"/>
            <a:ext cx="5762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>
                <a:solidFill>
                  <a:srgbClr val="FF0000"/>
                </a:solidFill>
              </a:rPr>
              <a:t>NM</a:t>
            </a:r>
          </a:p>
        </p:txBody>
      </p:sp>
      <p:pic>
        <p:nvPicPr>
          <p:cNvPr id="32779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66"/>
          <a:stretch>
            <a:fillRect/>
          </a:stretch>
        </p:blipFill>
        <p:spPr bwMode="auto">
          <a:xfrm>
            <a:off x="152400" y="4725145"/>
            <a:ext cx="5953125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4450"/>
            <a:ext cx="4392612" cy="129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Freccia a sinistra 14"/>
          <p:cNvSpPr/>
          <p:nvPr/>
        </p:nvSpPr>
        <p:spPr>
          <a:xfrm>
            <a:off x="2124075" y="115888"/>
            <a:ext cx="2376488" cy="109537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6" name="Freccia a sinistra 15"/>
          <p:cNvSpPr/>
          <p:nvPr/>
        </p:nvSpPr>
        <p:spPr>
          <a:xfrm rot="10800000">
            <a:off x="2671886" y="6309320"/>
            <a:ext cx="2116138" cy="111125"/>
          </a:xfrm>
          <a:prstGeom prst="leftArrow">
            <a:avLst>
              <a:gd name="adj1" fmla="val 50000"/>
              <a:gd name="adj2" fmla="val 100000"/>
            </a:avLst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Segnaposto contenuto 3" descr="pg91_c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4" r="7746" b="31582"/>
          <a:stretch>
            <a:fillRect/>
          </a:stretch>
        </p:blipFill>
        <p:spPr>
          <a:xfrm>
            <a:off x="251520" y="1490663"/>
            <a:ext cx="8640960" cy="5168899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457200" y="1984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Zona di </a:t>
            </a:r>
            <a:r>
              <a:rPr lang="it-IT" kern="0" dirty="0" err="1">
                <a:effectLst/>
              </a:rPr>
              <a:t>Redlich-Oberstein</a:t>
            </a:r>
            <a:r>
              <a:rPr lang="it-IT" kern="0" dirty="0">
                <a:effectLst/>
              </a:rPr>
              <a:t> = </a:t>
            </a:r>
            <a:r>
              <a:rPr lang="it-IT" kern="0" dirty="0">
                <a:solidFill>
                  <a:srgbClr val="FFC000"/>
                </a:solidFill>
                <a:effectLst/>
              </a:rPr>
              <a:t>SNC / SNP</a:t>
            </a: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Oligodendrociti – Cellule di </a:t>
            </a:r>
            <a:r>
              <a:rPr lang="it-IT" kern="0" dirty="0" err="1">
                <a:effectLst/>
              </a:rPr>
              <a:t>Schwann</a:t>
            </a:r>
            <a:endParaRPr lang="it-IT" kern="0" dirty="0"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Segnaposto contenuto 3" descr="pg75_f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0" t="2233" r="4416" b="27824"/>
          <a:stretch>
            <a:fillRect/>
          </a:stretch>
        </p:blipFill>
        <p:spPr>
          <a:xfrm>
            <a:off x="251519" y="260648"/>
            <a:ext cx="8640961" cy="6336704"/>
          </a:xfrm>
        </p:spPr>
      </p:pic>
      <p:sp>
        <p:nvSpPr>
          <p:cNvPr id="36867" name="Rettangolo 1"/>
          <p:cNvSpPr>
            <a:spLocks noChangeArrowheads="1"/>
          </p:cNvSpPr>
          <p:nvPr/>
        </p:nvSpPr>
        <p:spPr bwMode="auto">
          <a:xfrm>
            <a:off x="395288" y="623888"/>
            <a:ext cx="1439862" cy="7080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 b="1">
                <a:solidFill>
                  <a:srgbClr val="FF0000"/>
                </a:solidFill>
              </a:rPr>
              <a:t>SNP: Nervo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Segnaposto contenuto 3" descr="pg77_d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9" t="7342" r="12871" b="27995"/>
          <a:stretch>
            <a:fillRect/>
          </a:stretch>
        </p:blipFill>
        <p:spPr>
          <a:xfrm>
            <a:off x="179512" y="260648"/>
            <a:ext cx="8784976" cy="6336704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1498178"/>
          </a:xfrm>
        </p:spPr>
        <p:txBody>
          <a:bodyPr/>
          <a:lstStyle/>
          <a:p>
            <a:r>
              <a:rPr lang="it-IT" b="1" dirty="0"/>
              <a:t>ARCO RIFLESSO</a:t>
            </a:r>
            <a:br>
              <a:rPr lang="it-IT" b="1" dirty="0"/>
            </a:br>
            <a:r>
              <a:rPr lang="it-IT" b="1" dirty="0"/>
              <a:t> </a:t>
            </a:r>
            <a:r>
              <a:rPr lang="it-IT" i="1" dirty="0"/>
              <a:t>ORIZZONTALE</a:t>
            </a:r>
            <a:r>
              <a:rPr lang="it-IT" dirty="0"/>
              <a:t> MONOSINAPTICO</a:t>
            </a:r>
            <a:br>
              <a:rPr lang="it-IT" dirty="0"/>
            </a:br>
            <a:r>
              <a:rPr lang="it-IT" dirty="0"/>
              <a:t>«PATELLARE»</a:t>
            </a:r>
          </a:p>
        </p:txBody>
      </p:sp>
      <p:pic>
        <p:nvPicPr>
          <p:cNvPr id="40962" name="Segnaposto contenuto 3" descr="pg81_c.gif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3" b="25648"/>
          <a:stretch/>
        </p:blipFill>
        <p:spPr>
          <a:xfrm>
            <a:off x="611560" y="2065710"/>
            <a:ext cx="7929193" cy="460365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Segnaposto contenuto 3" descr="1415.gif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36" b="25648"/>
          <a:stretch/>
        </p:blipFill>
        <p:spPr>
          <a:xfrm>
            <a:off x="320604" y="2352758"/>
            <a:ext cx="8571876" cy="4100578"/>
          </a:xfrm>
        </p:spPr>
      </p:pic>
      <p:pic>
        <p:nvPicPr>
          <p:cNvPr id="43012" name="Segnaposto contenuto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388" y="2352757"/>
            <a:ext cx="1515092" cy="883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e 5"/>
          <p:cNvSpPr/>
          <p:nvPr/>
        </p:nvSpPr>
        <p:spPr>
          <a:xfrm>
            <a:off x="4784976" y="3452033"/>
            <a:ext cx="1403350" cy="111283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2160240"/>
          </a:xfrm>
        </p:spPr>
        <p:txBody>
          <a:bodyPr/>
          <a:lstStyle/>
          <a:p>
            <a:r>
              <a:rPr lang="it-IT" sz="4000" b="1" dirty="0"/>
              <a:t>ARCO RIFLESSO</a:t>
            </a:r>
            <a:br>
              <a:rPr lang="it-IT" sz="4000" b="1" dirty="0"/>
            </a:br>
            <a:r>
              <a:rPr lang="it-IT" sz="4000" b="1" dirty="0"/>
              <a:t> </a:t>
            </a:r>
            <a:r>
              <a:rPr lang="it-IT" sz="4000" i="1" dirty="0"/>
              <a:t>ORIZZONTALE</a:t>
            </a:r>
            <a:r>
              <a:rPr lang="it-IT" sz="4000" dirty="0"/>
              <a:t>  POLI-SINAPTICO</a:t>
            </a:r>
            <a:br>
              <a:rPr lang="it-IT" sz="4000" dirty="0"/>
            </a:br>
            <a:r>
              <a:rPr lang="it-IT" sz="4000" dirty="0"/>
              <a:t>PIU’ MUSCOLI </a:t>
            </a:r>
            <a:r>
              <a:rPr lang="it-IT" sz="4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OMOLATERALMENTE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Segnaposto contenuto 3" descr="1315.gif"/>
          <p:cNvPicPr>
            <a:picLocks noGrp="1" noChangeAspect="1"/>
          </p:cNvPicPr>
          <p:nvPr>
            <p:ph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" b="2368"/>
          <a:stretch/>
        </p:blipFill>
        <p:spPr>
          <a:xfrm>
            <a:off x="107504" y="116632"/>
            <a:ext cx="8893175" cy="6624736"/>
          </a:xfrm>
        </p:spPr>
      </p:pic>
      <p:pic>
        <p:nvPicPr>
          <p:cNvPr id="45059" name="Segnaposto contenuto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949950"/>
            <a:ext cx="2233613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Rettangolo 1"/>
          <p:cNvSpPr>
            <a:spLocks noChangeArrowheads="1"/>
          </p:cNvSpPr>
          <p:nvPr/>
        </p:nvSpPr>
        <p:spPr bwMode="auto">
          <a:xfrm>
            <a:off x="2847975" y="5949950"/>
            <a:ext cx="3163888" cy="52228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800">
                <a:solidFill>
                  <a:srgbClr val="FF0000"/>
                </a:solidFill>
              </a:rPr>
              <a:t>VIE NERVOSE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Segnaposto contenuto 3" descr="pg78_a.gif"/>
          <p:cNvPicPr>
            <a:picLocks noGrp="1" noChangeAspect="1"/>
          </p:cNvPicPr>
          <p:nvPr>
            <p:ph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0" t="3852" r="7592" b="28458"/>
          <a:stretch/>
        </p:blipFill>
        <p:spPr>
          <a:xfrm>
            <a:off x="251520" y="260647"/>
            <a:ext cx="8640960" cy="6336705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08100"/>
            <a:ext cx="8902575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olo 1"/>
          <p:cNvSpPr txBox="1">
            <a:spLocks/>
          </p:cNvSpPr>
          <p:nvPr/>
        </p:nvSpPr>
        <p:spPr>
          <a:xfrm>
            <a:off x="457200" y="490538"/>
            <a:ext cx="8229600" cy="635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</a:defRPr>
            </a:lvl9pPr>
          </a:lstStyle>
          <a:p>
            <a:pPr>
              <a:defRPr/>
            </a:pPr>
            <a:r>
              <a:rPr lang="it-IT" sz="2800" kern="0" dirty="0"/>
              <a:t>NEURONE </a:t>
            </a:r>
            <a:r>
              <a:rPr lang="it-IT" sz="2800" b="1" kern="0" dirty="0"/>
              <a:t>MULTIPOLARE = MOTONEURONE</a:t>
            </a:r>
          </a:p>
          <a:p>
            <a:pPr>
              <a:defRPr/>
            </a:pPr>
            <a:endParaRPr lang="it-IT" sz="2800" b="1" kern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7" t="1358" r="2141" b="2449"/>
          <a:stretch>
            <a:fillRect/>
          </a:stretch>
        </p:blipFill>
        <p:spPr bwMode="auto">
          <a:xfrm>
            <a:off x="179511" y="-1"/>
            <a:ext cx="6336705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Rettangolo 1"/>
          <p:cNvSpPr>
            <a:spLocks noChangeArrowheads="1"/>
          </p:cNvSpPr>
          <p:nvPr/>
        </p:nvSpPr>
        <p:spPr bwMode="auto">
          <a:xfrm>
            <a:off x="6516216" y="1084263"/>
            <a:ext cx="2484437" cy="400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«</a:t>
            </a:r>
            <a:r>
              <a:rPr lang="it-IT" altLang="it-IT" sz="2000" b="1"/>
              <a:t>VIE</a:t>
            </a:r>
            <a:r>
              <a:rPr lang="it-IT" altLang="it-IT" sz="2000"/>
              <a:t>»</a:t>
            </a:r>
          </a:p>
        </p:txBody>
      </p:sp>
      <p:sp>
        <p:nvSpPr>
          <p:cNvPr id="51204" name="Rettangolo 1"/>
          <p:cNvSpPr>
            <a:spLocks noChangeArrowheads="1"/>
          </p:cNvSpPr>
          <p:nvPr/>
        </p:nvSpPr>
        <p:spPr bwMode="auto">
          <a:xfrm>
            <a:off x="6480051" y="3100388"/>
            <a:ext cx="2484437" cy="10156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 dirty="0"/>
              <a:t>MOTONEURONE SOMATOMOTORE </a:t>
            </a:r>
            <a:r>
              <a:rPr lang="it-IT" altLang="it-IT" sz="2000" b="1" dirty="0"/>
              <a:t>VOLONTARIO</a:t>
            </a:r>
          </a:p>
        </p:txBody>
      </p:sp>
      <p:sp>
        <p:nvSpPr>
          <p:cNvPr id="51205" name="Rettangolo 1"/>
          <p:cNvSpPr>
            <a:spLocks noChangeArrowheads="1"/>
          </p:cNvSpPr>
          <p:nvPr/>
        </p:nvSpPr>
        <p:spPr bwMode="auto">
          <a:xfrm>
            <a:off x="6516216" y="5365750"/>
            <a:ext cx="2484437" cy="1016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MOTONEURONE VISCEROMOTORE </a:t>
            </a:r>
            <a:r>
              <a:rPr lang="it-IT" altLang="it-IT" sz="2000" b="1"/>
              <a:t>INVOLONTARIO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1123950"/>
            <a:ext cx="5151437" cy="5329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olo 1"/>
          <p:cNvSpPr txBox="1">
            <a:spLocks/>
          </p:cNvSpPr>
          <p:nvPr/>
        </p:nvSpPr>
        <p:spPr bwMode="auto">
          <a:xfrm>
            <a:off x="3265488" y="274638"/>
            <a:ext cx="32512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kern="0" dirty="0"/>
              <a:t>TIPI di Neuroni</a:t>
            </a:r>
          </a:p>
        </p:txBody>
      </p:sp>
      <p:sp>
        <p:nvSpPr>
          <p:cNvPr id="6" name="Segnaposto contenuto 2"/>
          <p:cNvSpPr txBox="1">
            <a:spLocks/>
          </p:cNvSpPr>
          <p:nvPr/>
        </p:nvSpPr>
        <p:spPr>
          <a:xfrm>
            <a:off x="5435600" y="1138238"/>
            <a:ext cx="3600450" cy="57467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sz="2000" kern="0" dirty="0">
                <a:solidFill>
                  <a:srgbClr val="FFFF00"/>
                </a:solidFill>
              </a:rPr>
              <a:t>a) </a:t>
            </a:r>
            <a:r>
              <a:rPr lang="it-IT" sz="2000" b="1" kern="0" dirty="0">
                <a:solidFill>
                  <a:srgbClr val="FFFF00"/>
                </a:solidFill>
              </a:rPr>
              <a:t>Multipolare</a:t>
            </a:r>
            <a:r>
              <a:rPr lang="it-IT" sz="2000" kern="0" dirty="0">
                <a:solidFill>
                  <a:srgbClr val="FFFF00"/>
                </a:solidFill>
              </a:rPr>
              <a:t>, assone lungo.     Motoneurone alfa.</a:t>
            </a:r>
          </a:p>
          <a:p>
            <a:pPr marL="0" indent="0">
              <a:buFont typeface="Wingdings" pitchFamily="2" charset="2"/>
              <a:buNone/>
              <a:defRPr/>
            </a:pPr>
            <a:endParaRPr lang="it-IT" sz="2000" kern="0" dirty="0">
              <a:solidFill>
                <a:srgbClr val="FFFF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000" kern="0" dirty="0">
                <a:solidFill>
                  <a:srgbClr val="FFFF00"/>
                </a:solidFill>
              </a:rPr>
              <a:t>b) Multipolare, assone corto. </a:t>
            </a:r>
            <a:r>
              <a:rPr lang="it-IT" sz="2000" b="1" kern="0" dirty="0" err="1">
                <a:solidFill>
                  <a:srgbClr val="FFFF00"/>
                </a:solidFill>
              </a:rPr>
              <a:t>interneurone</a:t>
            </a:r>
            <a:endParaRPr lang="it-IT" sz="2000" b="1" kern="0" dirty="0">
              <a:solidFill>
                <a:srgbClr val="FFFF00"/>
              </a:solidFill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it-IT" sz="2000" kern="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000" kern="0" dirty="0"/>
              <a:t>c) </a:t>
            </a:r>
            <a:r>
              <a:rPr lang="it-IT" sz="2000" b="1" kern="0" dirty="0"/>
              <a:t>Piramidale</a:t>
            </a:r>
            <a:r>
              <a:rPr lang="it-IT" sz="2000" kern="0" dirty="0"/>
              <a:t>. Corteccia motoria efferente</a:t>
            </a:r>
          </a:p>
          <a:p>
            <a:pPr marL="0" indent="0">
              <a:buFont typeface="Wingdings" pitchFamily="2" charset="2"/>
              <a:buNone/>
              <a:defRPr/>
            </a:pPr>
            <a:endParaRPr lang="it-IT" sz="2000" kern="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000" kern="0" dirty="0"/>
              <a:t>d) </a:t>
            </a:r>
            <a:r>
              <a:rPr lang="it-IT" sz="2000" b="1" kern="0" dirty="0" err="1"/>
              <a:t>Purkinje</a:t>
            </a:r>
            <a:r>
              <a:rPr lang="it-IT" sz="2000" kern="0" dirty="0"/>
              <a:t>. Cervelletto</a:t>
            </a:r>
          </a:p>
          <a:p>
            <a:pPr marL="0" indent="0">
              <a:buFont typeface="Wingdings" pitchFamily="2" charset="2"/>
              <a:buNone/>
              <a:defRPr/>
            </a:pPr>
            <a:endParaRPr lang="it-IT" sz="2000" kern="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000" kern="0" dirty="0"/>
              <a:t>e) </a:t>
            </a:r>
            <a:r>
              <a:rPr lang="it-IT" sz="2000" b="1" kern="0" dirty="0"/>
              <a:t>Bipolare</a:t>
            </a:r>
            <a:r>
              <a:rPr lang="it-IT" sz="2000" kern="0" dirty="0"/>
              <a:t>. Retina</a:t>
            </a:r>
          </a:p>
          <a:p>
            <a:pPr marL="0" indent="0">
              <a:buFont typeface="Wingdings" pitchFamily="2" charset="2"/>
              <a:buNone/>
              <a:defRPr/>
            </a:pPr>
            <a:endParaRPr lang="it-IT" sz="2000" kern="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000" kern="0" dirty="0">
                <a:solidFill>
                  <a:srgbClr val="FFFF00"/>
                </a:solidFill>
              </a:rPr>
              <a:t>f) </a:t>
            </a:r>
            <a:r>
              <a:rPr lang="it-IT" sz="2000" b="1" kern="0" dirty="0" err="1">
                <a:solidFill>
                  <a:srgbClr val="FFFF00"/>
                </a:solidFill>
              </a:rPr>
              <a:t>Pseudounipolare</a:t>
            </a:r>
            <a:r>
              <a:rPr lang="it-IT" sz="2000" kern="0" dirty="0">
                <a:solidFill>
                  <a:srgbClr val="FFFF00"/>
                </a:solidFill>
              </a:rPr>
              <a:t>.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000" kern="0" dirty="0">
                <a:solidFill>
                  <a:srgbClr val="FFFF00"/>
                </a:solidFill>
              </a:rPr>
              <a:t>               Ganglio spinale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Segnaposto contenuto 3" descr="pg79_g.gif"/>
          <p:cNvPicPr>
            <a:picLocks noGrp="1" noChangeAspect="1"/>
          </p:cNvPicPr>
          <p:nvPr>
            <p:ph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61" b="23523"/>
          <a:stretch/>
        </p:blipFill>
        <p:spPr>
          <a:xfrm>
            <a:off x="611188" y="44624"/>
            <a:ext cx="8096250" cy="6768752"/>
          </a:xfrm>
        </p:spPr>
      </p:pic>
      <p:sp>
        <p:nvSpPr>
          <p:cNvPr id="3" name="Ovale 2"/>
          <p:cNvSpPr/>
          <p:nvPr/>
        </p:nvSpPr>
        <p:spPr>
          <a:xfrm>
            <a:off x="323850" y="1773238"/>
            <a:ext cx="4608513" cy="3311525"/>
          </a:xfrm>
          <a:prstGeom prst="ellipse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4" name="Ovale 3"/>
          <p:cNvSpPr/>
          <p:nvPr/>
        </p:nvSpPr>
        <p:spPr>
          <a:xfrm>
            <a:off x="1042988" y="5013325"/>
            <a:ext cx="3348037" cy="129698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olo 1"/>
          <p:cNvSpPr>
            <a:spLocks noGrp="1"/>
          </p:cNvSpPr>
          <p:nvPr>
            <p:ph type="title"/>
          </p:nvPr>
        </p:nvSpPr>
        <p:spPr bwMode="auto">
          <a:xfrm>
            <a:off x="457200" y="115888"/>
            <a:ext cx="8229600" cy="706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 sz="3200">
                <a:effectLst/>
              </a:rPr>
              <a:t>Nevroglia, guaina mielinica (lipidi)</a:t>
            </a:r>
          </a:p>
        </p:txBody>
      </p:sp>
      <p:pic>
        <p:nvPicPr>
          <p:cNvPr id="5734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500" y="765175"/>
            <a:ext cx="8901113" cy="4103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egnaposto contenuto 3"/>
          <p:cNvSpPr txBox="1">
            <a:spLocks/>
          </p:cNvSpPr>
          <p:nvPr/>
        </p:nvSpPr>
        <p:spPr>
          <a:xfrm>
            <a:off x="179388" y="4941888"/>
            <a:ext cx="8785225" cy="18002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defRPr/>
            </a:pPr>
            <a:r>
              <a:rPr lang="it-IT" sz="2000" kern="0" dirty="0">
                <a:effectLst/>
              </a:rPr>
              <a:t>SNC (Oligodendrociti) / SNP (</a:t>
            </a:r>
            <a:r>
              <a:rPr lang="it-IT" sz="2000" kern="0" dirty="0" err="1">
                <a:effectLst/>
              </a:rPr>
              <a:t>Schwann</a:t>
            </a:r>
            <a:r>
              <a:rPr lang="it-IT" sz="2000" kern="0" dirty="0">
                <a:effectLst/>
              </a:rPr>
              <a:t>, nodi di </a:t>
            </a:r>
            <a:r>
              <a:rPr lang="it-IT" sz="2000" kern="0" dirty="0" err="1">
                <a:effectLst/>
              </a:rPr>
              <a:t>Ranvier</a:t>
            </a:r>
            <a:r>
              <a:rPr lang="it-IT" sz="2000" kern="0" dirty="0">
                <a:effectLst/>
              </a:rPr>
              <a:t>)</a:t>
            </a:r>
          </a:p>
          <a:p>
            <a:pPr>
              <a:defRPr/>
            </a:pPr>
            <a:r>
              <a:rPr lang="it-IT" sz="2000" kern="0" dirty="0">
                <a:effectLst/>
              </a:rPr>
              <a:t>Assoni mielinici / </a:t>
            </a:r>
            <a:r>
              <a:rPr lang="it-IT" sz="2000" kern="0" dirty="0" err="1">
                <a:effectLst/>
              </a:rPr>
              <a:t>amielinici</a:t>
            </a:r>
            <a:r>
              <a:rPr lang="it-IT" sz="2000" kern="0" dirty="0">
                <a:effectLst/>
              </a:rPr>
              <a:t> (velocità di conduzione, c. «saltatoria»)</a:t>
            </a:r>
          </a:p>
          <a:p>
            <a:pPr>
              <a:defRPr/>
            </a:pPr>
            <a:r>
              <a:rPr lang="it-IT" sz="2000" kern="0" dirty="0">
                <a:effectLst/>
              </a:rPr>
              <a:t>Composizione del microambiente = Barriera ematoencefalica</a:t>
            </a:r>
          </a:p>
          <a:p>
            <a:pPr>
              <a:defRPr/>
            </a:pPr>
            <a:r>
              <a:rPr lang="it-IT" sz="2000" kern="0" dirty="0">
                <a:solidFill>
                  <a:srgbClr val="FFFF00"/>
                </a:solidFill>
                <a:effectLst/>
              </a:rPr>
              <a:t>Assone + Glia = Fibra nervosa</a:t>
            </a:r>
          </a:p>
          <a:p>
            <a:pPr>
              <a:defRPr/>
            </a:pPr>
            <a:endParaRPr lang="it-IT" sz="2000" kern="0" dirty="0">
              <a:effectLst/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5364163" y="908050"/>
            <a:ext cx="1187450" cy="504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dirty="0">
                <a:solidFill>
                  <a:srgbClr val="FF0000"/>
                </a:solidFill>
              </a:rPr>
              <a:t>SCLEROSI MULTIPLA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Segnaposto contenuto 3" descr="1308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3" t="1113" r="2951" b="34506"/>
          <a:stretch>
            <a:fillRect/>
          </a:stretch>
        </p:blipFill>
        <p:spPr>
          <a:xfrm>
            <a:off x="107504" y="72008"/>
            <a:ext cx="8964488" cy="6741368"/>
          </a:xfrm>
        </p:spPr>
      </p:pic>
      <p:sp>
        <p:nvSpPr>
          <p:cNvPr id="3" name="Rettangolo 2"/>
          <p:cNvSpPr/>
          <p:nvPr/>
        </p:nvSpPr>
        <p:spPr>
          <a:xfrm>
            <a:off x="4427760" y="332656"/>
            <a:ext cx="2376488" cy="9350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dirty="0">
                <a:solidFill>
                  <a:srgbClr val="FF0000"/>
                </a:solidFill>
              </a:rPr>
              <a:t>Assone</a:t>
            </a:r>
          </a:p>
          <a:p>
            <a:pPr algn="ctr" eaLnBrk="1" hangingPunct="1">
              <a:defRPr/>
            </a:pPr>
            <a:r>
              <a:rPr lang="it-IT" sz="1400" dirty="0">
                <a:solidFill>
                  <a:srgbClr val="FF0000"/>
                </a:solidFill>
              </a:rPr>
              <a:t>Mielinico          </a:t>
            </a:r>
            <a:r>
              <a:rPr lang="it-IT" sz="1400" dirty="0" err="1">
                <a:solidFill>
                  <a:srgbClr val="FF0000"/>
                </a:solidFill>
              </a:rPr>
              <a:t>Amielinico</a:t>
            </a:r>
            <a:endParaRPr lang="it-IT" sz="1400" dirty="0">
              <a:solidFill>
                <a:srgbClr val="FF0000"/>
              </a:solidFill>
            </a:endParaRPr>
          </a:p>
          <a:p>
            <a:pPr algn="ctr" eaLnBrk="1" hangingPunct="1">
              <a:defRPr/>
            </a:pPr>
            <a:endParaRPr lang="it-IT" sz="1400" dirty="0">
              <a:solidFill>
                <a:srgbClr val="FF0000"/>
              </a:solidFill>
            </a:endParaRPr>
          </a:p>
          <a:p>
            <a:pPr algn="ctr" eaLnBrk="1" hangingPunct="1">
              <a:defRPr/>
            </a:pPr>
            <a:r>
              <a:rPr lang="it-IT" sz="1400" dirty="0">
                <a:solidFill>
                  <a:srgbClr val="FF0000"/>
                </a:solidFill>
              </a:rPr>
              <a:t>Velocità di conduzione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Segnaposto contenuto 3" descr="pg92_b.gif"/>
          <p:cNvPicPr>
            <a:picLocks noGrp="1" noChangeAspect="1"/>
          </p:cNvPicPr>
          <p:nvPr>
            <p:ph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313" y="44450"/>
            <a:ext cx="8967787" cy="3671888"/>
          </a:xfrm>
        </p:spPr>
      </p:pic>
      <p:pic>
        <p:nvPicPr>
          <p:cNvPr id="61443" name="Segnaposto contenuto 3" descr="pg93_c.gif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47"/>
          <a:stretch/>
        </p:blipFill>
        <p:spPr bwMode="auto">
          <a:xfrm>
            <a:off x="93663" y="2282825"/>
            <a:ext cx="8942387" cy="445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Segnaposto contenuto 3" descr="pg93_d.gif"/>
          <p:cNvPicPr>
            <a:picLocks noGrp="1" noChangeAspect="1"/>
          </p:cNvPicPr>
          <p:nvPr>
            <p:ph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89"/>
          <a:stretch/>
        </p:blipFill>
        <p:spPr>
          <a:xfrm>
            <a:off x="109538" y="1468562"/>
            <a:ext cx="8926512" cy="4408710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107950" y="188913"/>
            <a:ext cx="8856663" cy="113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altLang="it-IT" sz="2000" kern="0" dirty="0">
                <a:effectLst/>
              </a:rPr>
              <a:t>SNC: BARRIERA EMATO-ENCEFALICA               SNP: GUAINA PERINEURALE</a:t>
            </a:r>
          </a:p>
          <a:p>
            <a:pPr marL="0" indent="0">
              <a:buFont typeface="Wingdings" pitchFamily="2" charset="2"/>
              <a:buNone/>
              <a:defRPr/>
            </a:pPr>
            <a:endParaRPr lang="it-IT" altLang="it-IT" sz="1600" kern="0" dirty="0">
              <a:effectLst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it-IT" altLang="it-IT" sz="1600" kern="0" dirty="0">
                <a:effectLst/>
              </a:rPr>
              <a:t>  Giunzioni occludenti, Lamina basale, </a:t>
            </a:r>
            <a:r>
              <a:rPr lang="it-IT" altLang="it-IT" sz="1600" kern="0" dirty="0" err="1">
                <a:effectLst/>
              </a:rPr>
              <a:t>Astrociti</a:t>
            </a:r>
            <a:r>
              <a:rPr lang="it-IT" altLang="it-IT" sz="1600" kern="0" dirty="0">
                <a:effectLst/>
              </a:rPr>
              <a:t>                                Giunzioni occludenti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Segnaposto contenuto 3" descr="pg81_b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5" t="117" r="6806" b="19506"/>
          <a:stretch>
            <a:fillRect/>
          </a:stretch>
        </p:blipFill>
        <p:spPr>
          <a:xfrm>
            <a:off x="119632" y="144016"/>
            <a:ext cx="8990013" cy="6525344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710182" y="188466"/>
            <a:ext cx="8229600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sz="2800" kern="0" dirty="0">
                <a:solidFill>
                  <a:schemeClr val="bg2"/>
                </a:solidFill>
                <a:effectLst/>
              </a:rPr>
              <a:t>NEUROMERI = SEGMENTI DI MIDOLLO SPINALE</a:t>
            </a:r>
          </a:p>
        </p:txBody>
      </p:sp>
      <p:sp>
        <p:nvSpPr>
          <p:cNvPr id="2" name="Rettangolo 1"/>
          <p:cNvSpPr/>
          <p:nvPr/>
        </p:nvSpPr>
        <p:spPr>
          <a:xfrm>
            <a:off x="6395020" y="3428554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5" name="Rettangolo 4"/>
          <p:cNvSpPr/>
          <p:nvPr/>
        </p:nvSpPr>
        <p:spPr>
          <a:xfrm>
            <a:off x="8652445" y="2636391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6" name="Rettangolo 5"/>
          <p:cNvSpPr/>
          <p:nvPr/>
        </p:nvSpPr>
        <p:spPr>
          <a:xfrm>
            <a:off x="8795320" y="4652516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b="1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8" name="Rettangolo 7"/>
          <p:cNvSpPr/>
          <p:nvPr/>
        </p:nvSpPr>
        <p:spPr>
          <a:xfrm>
            <a:off x="6420420" y="1244154"/>
            <a:ext cx="935037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dirty="0">
                <a:solidFill>
                  <a:schemeClr val="bg2"/>
                </a:solidFill>
              </a:rPr>
              <a:t>mediale</a:t>
            </a:r>
          </a:p>
        </p:txBody>
      </p:sp>
      <p:sp>
        <p:nvSpPr>
          <p:cNvPr id="9" name="Rettangolo 8"/>
          <p:cNvSpPr/>
          <p:nvPr/>
        </p:nvSpPr>
        <p:spPr>
          <a:xfrm>
            <a:off x="7355457" y="1701354"/>
            <a:ext cx="936625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dirty="0">
                <a:solidFill>
                  <a:schemeClr val="bg2"/>
                </a:solidFill>
              </a:rPr>
              <a:t>laterale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708650" y="188913"/>
            <a:ext cx="3255963" cy="598487"/>
          </a:xfrm>
        </p:spPr>
        <p:txBody>
          <a:bodyPr/>
          <a:lstStyle/>
          <a:p>
            <a:pPr>
              <a:defRPr/>
            </a:pPr>
            <a:r>
              <a:rPr lang="it-IT" sz="2400" dirty="0"/>
              <a:t>MIDOLLO SPINALE</a:t>
            </a:r>
          </a:p>
        </p:txBody>
      </p:sp>
      <p:pic>
        <p:nvPicPr>
          <p:cNvPr id="6758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23825"/>
            <a:ext cx="5040312" cy="668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8" name="Segnaposto contenuto 3" descr="1403.gif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34"/>
          <a:stretch>
            <a:fillRect/>
          </a:stretch>
        </p:blipFill>
        <p:spPr bwMode="auto">
          <a:xfrm>
            <a:off x="6084888" y="715963"/>
            <a:ext cx="2605087" cy="609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-26988"/>
            <a:ext cx="8229600" cy="1143001"/>
          </a:xfrm>
        </p:spPr>
        <p:txBody>
          <a:bodyPr/>
          <a:lstStyle/>
          <a:p>
            <a:pPr>
              <a:defRPr/>
            </a:pPr>
            <a:r>
              <a:rPr lang="it-IT" dirty="0"/>
              <a:t>NEUROMERO</a:t>
            </a:r>
          </a:p>
        </p:txBody>
      </p:sp>
      <p:pic>
        <p:nvPicPr>
          <p:cNvPr id="69635" name="Segnaposto contenuto 3" descr="pg80.gif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83"/>
          <a:stretch>
            <a:fillRect/>
          </a:stretch>
        </p:blipFill>
        <p:spPr>
          <a:xfrm>
            <a:off x="755650" y="698501"/>
            <a:ext cx="7696200" cy="6042868"/>
          </a:xfrm>
        </p:spPr>
      </p:pic>
      <p:sp>
        <p:nvSpPr>
          <p:cNvPr id="5" name="Rettangolo 4"/>
          <p:cNvSpPr/>
          <p:nvPr/>
        </p:nvSpPr>
        <p:spPr>
          <a:xfrm>
            <a:off x="6300788" y="1412875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2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8" name="Rettangolo 7"/>
          <p:cNvSpPr/>
          <p:nvPr/>
        </p:nvSpPr>
        <p:spPr>
          <a:xfrm>
            <a:off x="7786688" y="2684463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200" b="1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9" name="Rettangolo 8"/>
          <p:cNvSpPr/>
          <p:nvPr/>
        </p:nvSpPr>
        <p:spPr>
          <a:xfrm>
            <a:off x="4932363" y="5995988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200" b="1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10" name="Rettangolo 9"/>
          <p:cNvSpPr/>
          <p:nvPr/>
        </p:nvSpPr>
        <p:spPr>
          <a:xfrm>
            <a:off x="7380288" y="3979863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200" b="1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11" name="Rettangolo 10"/>
          <p:cNvSpPr/>
          <p:nvPr/>
        </p:nvSpPr>
        <p:spPr>
          <a:xfrm>
            <a:off x="5122863" y="2755900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200" b="1" dirty="0">
                <a:solidFill>
                  <a:schemeClr val="bg2"/>
                </a:solidFill>
              </a:rPr>
              <a:t>1</a:t>
            </a:r>
          </a:p>
        </p:txBody>
      </p:sp>
      <p:cxnSp>
        <p:nvCxnSpPr>
          <p:cNvPr id="12" name="Connettore 1 11"/>
          <p:cNvCxnSpPr/>
          <p:nvPr/>
        </p:nvCxnSpPr>
        <p:spPr>
          <a:xfrm>
            <a:off x="5908675" y="4365625"/>
            <a:ext cx="8159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/>
          <p:cNvCxnSpPr/>
          <p:nvPr/>
        </p:nvCxnSpPr>
        <p:spPr>
          <a:xfrm>
            <a:off x="4665663" y="5229225"/>
            <a:ext cx="896937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/>
          <p:cNvCxnSpPr/>
          <p:nvPr/>
        </p:nvCxnSpPr>
        <p:spPr>
          <a:xfrm>
            <a:off x="6203950" y="1844675"/>
            <a:ext cx="67310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Segnaposto contenuto 3" descr="pg86_a.gif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" t="9025" b="20587"/>
          <a:stretch>
            <a:fillRect/>
          </a:stretch>
        </p:blipFill>
        <p:spPr>
          <a:xfrm>
            <a:off x="175567" y="44624"/>
            <a:ext cx="5116513" cy="6741369"/>
          </a:xfrm>
        </p:spPr>
      </p:pic>
      <p:sp>
        <p:nvSpPr>
          <p:cNvPr id="6" name="Titolo 1"/>
          <p:cNvSpPr txBox="1">
            <a:spLocks/>
          </p:cNvSpPr>
          <p:nvPr/>
        </p:nvSpPr>
        <p:spPr bwMode="auto">
          <a:xfrm>
            <a:off x="5580063" y="908050"/>
            <a:ext cx="3035300" cy="266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sz="2400" kern="0" dirty="0">
                <a:effectLst/>
              </a:rPr>
              <a:t>INNERVAZIONE SENSITIVA: dermatomeri corrispondenti ai nervi cutanei</a:t>
            </a:r>
          </a:p>
        </p:txBody>
      </p:sp>
      <p:pic>
        <p:nvPicPr>
          <p:cNvPr id="71684" name="Segnaposto contenuto 3" descr="pg86_b.gif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4" r="18350" b="24705"/>
          <a:stretch>
            <a:fillRect/>
          </a:stretch>
        </p:blipFill>
        <p:spPr bwMode="auto">
          <a:xfrm>
            <a:off x="5436096" y="3429000"/>
            <a:ext cx="3312417" cy="2996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Segnaposto contenuto 3" descr="pg82_b.gif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8" b="500"/>
          <a:stretch/>
        </p:blipFill>
        <p:spPr bwMode="auto">
          <a:xfrm>
            <a:off x="107950" y="44625"/>
            <a:ext cx="4344988" cy="6768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1" name="Segnaposto contenuto 3" descr="pg83.gif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62" b="13346"/>
          <a:stretch/>
        </p:blipFill>
        <p:spPr bwMode="auto">
          <a:xfrm>
            <a:off x="4899025" y="2138363"/>
            <a:ext cx="4137471" cy="467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2" name="Segnaposto contenuto 3" descr="pg82_a.gif"/>
          <p:cNvPicPr>
            <a:picLocks noGrp="1" noChangeAspect="1"/>
          </p:cNvPicPr>
          <p:nvPr>
            <p:ph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9" b="19231"/>
          <a:stretch/>
        </p:blipFill>
        <p:spPr>
          <a:xfrm>
            <a:off x="2195513" y="44624"/>
            <a:ext cx="3889375" cy="6768752"/>
          </a:xfrm>
        </p:spPr>
      </p:pic>
      <p:sp>
        <p:nvSpPr>
          <p:cNvPr id="5" name="Titolo 1"/>
          <p:cNvSpPr txBox="1">
            <a:spLocks/>
          </p:cNvSpPr>
          <p:nvPr/>
        </p:nvSpPr>
        <p:spPr bwMode="auto">
          <a:xfrm>
            <a:off x="6073775" y="111125"/>
            <a:ext cx="3035300" cy="194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sz="2400" kern="0" dirty="0">
                <a:effectLst/>
              </a:rPr>
              <a:t>INNERVAZIONE SENSITIVA </a:t>
            </a:r>
            <a:r>
              <a:rPr lang="it-IT" sz="2400" kern="0" dirty="0">
                <a:solidFill>
                  <a:srgbClr val="FFC000"/>
                </a:solidFill>
                <a:effectLst/>
              </a:rPr>
              <a:t>RADICOLARE</a:t>
            </a:r>
            <a:r>
              <a:rPr lang="it-IT" sz="2400" kern="0" dirty="0">
                <a:effectLst/>
              </a:rPr>
              <a:t>: </a:t>
            </a: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400" kern="0" dirty="0">
                <a:effectLst/>
              </a:rPr>
              <a:t>NEUROMERI e DERMATOMERI</a:t>
            </a:r>
          </a:p>
        </p:txBody>
      </p:sp>
      <p:sp>
        <p:nvSpPr>
          <p:cNvPr id="6" name="Rettangolo 5"/>
          <p:cNvSpPr/>
          <p:nvPr/>
        </p:nvSpPr>
        <p:spPr>
          <a:xfrm>
            <a:off x="4932363" y="765175"/>
            <a:ext cx="6477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200" b="1" dirty="0">
                <a:solidFill>
                  <a:schemeClr val="bg2"/>
                </a:solidFill>
              </a:rPr>
              <a:t>8NC</a:t>
            </a:r>
          </a:p>
        </p:txBody>
      </p:sp>
      <p:sp>
        <p:nvSpPr>
          <p:cNvPr id="7" name="Rettangolo 6"/>
          <p:cNvSpPr/>
          <p:nvPr/>
        </p:nvSpPr>
        <p:spPr>
          <a:xfrm>
            <a:off x="7812088" y="3835400"/>
            <a:ext cx="1439862" cy="746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000" b="1" dirty="0">
                <a:solidFill>
                  <a:schemeClr val="bg2"/>
                </a:solidFill>
              </a:rPr>
              <a:t>DERMATOMERO</a:t>
            </a:r>
          </a:p>
          <a:p>
            <a:pPr algn="ctr" eaLnBrk="1" hangingPunct="1">
              <a:defRPr/>
            </a:pPr>
            <a:r>
              <a:rPr lang="it-IT" sz="1000" b="1" dirty="0">
                <a:solidFill>
                  <a:schemeClr val="bg2"/>
                </a:solidFill>
              </a:rPr>
              <a:t>C1 NON ESISTE:</a:t>
            </a:r>
          </a:p>
          <a:p>
            <a:pPr algn="ctr" eaLnBrk="1" hangingPunct="1">
              <a:defRPr/>
            </a:pPr>
            <a:r>
              <a:rPr lang="it-IT" sz="800" b="1" dirty="0">
                <a:solidFill>
                  <a:schemeClr val="bg2"/>
                </a:solidFill>
              </a:rPr>
              <a:t>solo fibre</a:t>
            </a:r>
          </a:p>
          <a:p>
            <a:pPr algn="ctr" eaLnBrk="1" hangingPunct="1">
              <a:defRPr/>
            </a:pPr>
            <a:r>
              <a:rPr lang="it-IT" sz="1000" b="1" dirty="0">
                <a:solidFill>
                  <a:schemeClr val="bg2"/>
                </a:solidFill>
              </a:rPr>
              <a:t>MOTORIE</a:t>
            </a:r>
          </a:p>
        </p:txBody>
      </p:sp>
      <p:sp>
        <p:nvSpPr>
          <p:cNvPr id="73736" name="Rettangolo 1"/>
          <p:cNvSpPr>
            <a:spLocks noChangeArrowheads="1"/>
          </p:cNvSpPr>
          <p:nvPr/>
        </p:nvSpPr>
        <p:spPr bwMode="auto">
          <a:xfrm>
            <a:off x="6643688" y="6237288"/>
            <a:ext cx="17446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>
                <a:solidFill>
                  <a:srgbClr val="FF0000"/>
                </a:solidFill>
              </a:rPr>
              <a:t>«QUADRUPEDE»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Segnaposto contenuto 3" descr="pg84_a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5" r="10640" b="33460"/>
          <a:stretch>
            <a:fillRect/>
          </a:stretch>
        </p:blipFill>
        <p:spPr>
          <a:xfrm>
            <a:off x="107504" y="1700213"/>
            <a:ext cx="8964613" cy="4033043"/>
          </a:xfrm>
        </p:spPr>
      </p:pic>
      <p:sp>
        <p:nvSpPr>
          <p:cNvPr id="2" name="Rettangolo 1"/>
          <p:cNvSpPr/>
          <p:nvPr/>
        </p:nvSpPr>
        <p:spPr>
          <a:xfrm>
            <a:off x="179388" y="260350"/>
            <a:ext cx="8785225" cy="14398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b="1" dirty="0">
                <a:solidFill>
                  <a:schemeClr val="tx1"/>
                </a:solidFill>
              </a:rPr>
              <a:t>INNERVAZIONE SENSITIVA</a:t>
            </a:r>
          </a:p>
          <a:p>
            <a:pPr algn="ctr" eaLnBrk="1" hangingPunct="1">
              <a:defRPr/>
            </a:pPr>
            <a:r>
              <a:rPr lang="it-IT" dirty="0">
                <a:solidFill>
                  <a:schemeClr val="tx1"/>
                </a:solidFill>
              </a:rPr>
              <a:t>Negli arti POSTERIORI (</a:t>
            </a:r>
            <a:r>
              <a:rPr lang="it-IT" b="1" dirty="0">
                <a:solidFill>
                  <a:schemeClr val="tx1"/>
                </a:solidFill>
              </a:rPr>
              <a:t>INFERIORI</a:t>
            </a:r>
            <a:r>
              <a:rPr lang="it-IT" dirty="0">
                <a:solidFill>
                  <a:schemeClr val="tx1"/>
                </a:solidFill>
              </a:rPr>
              <a:t>)  le superfici dorsali diventano </a:t>
            </a:r>
            <a:r>
              <a:rPr lang="it-IT" b="1" dirty="0">
                <a:solidFill>
                  <a:schemeClr val="tx1"/>
                </a:solidFill>
              </a:rPr>
              <a:t>VENTRALI</a:t>
            </a:r>
          </a:p>
          <a:p>
            <a:pPr algn="ctr" eaLnBrk="1" hangingPunct="1">
              <a:defRPr/>
            </a:pPr>
            <a:r>
              <a:rPr lang="it-IT" dirty="0">
                <a:solidFill>
                  <a:schemeClr val="tx1"/>
                </a:solidFill>
              </a:rPr>
              <a:t>Negli arti ANTERIORI (</a:t>
            </a:r>
            <a:r>
              <a:rPr lang="it-IT" b="1" dirty="0">
                <a:solidFill>
                  <a:schemeClr val="tx1"/>
                </a:solidFill>
              </a:rPr>
              <a:t>SUPERIORI</a:t>
            </a:r>
            <a:r>
              <a:rPr lang="it-IT" dirty="0">
                <a:solidFill>
                  <a:schemeClr val="tx1"/>
                </a:solidFill>
              </a:rPr>
              <a:t>)  le superfici dorsali ruotano all’</a:t>
            </a:r>
            <a:r>
              <a:rPr lang="it-IT" b="1" dirty="0">
                <a:solidFill>
                  <a:schemeClr val="tx1"/>
                </a:solidFill>
              </a:rPr>
              <a:t>INDIETRO</a:t>
            </a:r>
          </a:p>
          <a:p>
            <a:pPr algn="ctr" eaLnBrk="1" hangingPunct="1">
              <a:defRPr/>
            </a:pPr>
            <a:r>
              <a:rPr lang="it-IT" dirty="0">
                <a:solidFill>
                  <a:schemeClr val="tx1"/>
                </a:solidFill>
              </a:rPr>
              <a:t>pertanto dermatomeri e miotomi sembrano </a:t>
            </a:r>
            <a:r>
              <a:rPr lang="it-IT" b="1" dirty="0">
                <a:solidFill>
                  <a:schemeClr val="tx1"/>
                </a:solidFill>
              </a:rPr>
              <a:t>«disordinati»    e…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olo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 sz="2000">
                <a:solidFill>
                  <a:schemeClr val="tx1"/>
                </a:solidFill>
                <a:effectLst/>
              </a:rPr>
              <a:t>Gli assoni che trasportano le afferenze sensitive da un </a:t>
            </a:r>
            <a:r>
              <a:rPr lang="it-IT" altLang="it-IT" sz="2000" b="1">
                <a:solidFill>
                  <a:schemeClr val="tx1"/>
                </a:solidFill>
                <a:effectLst/>
              </a:rPr>
              <a:t>Dermatomero</a:t>
            </a:r>
            <a:r>
              <a:rPr lang="it-IT" altLang="it-IT" sz="2000">
                <a:solidFill>
                  <a:schemeClr val="tx1"/>
                </a:solidFill>
                <a:effectLst/>
              </a:rPr>
              <a:t> attraversano più nervi periferici quindi convergono nella radice posteriore dello stesso </a:t>
            </a:r>
            <a:r>
              <a:rPr lang="it-IT" altLang="it-IT" sz="2000" b="1">
                <a:solidFill>
                  <a:schemeClr val="tx1"/>
                </a:solidFill>
                <a:effectLst/>
              </a:rPr>
              <a:t>mielomero</a:t>
            </a:r>
          </a:p>
        </p:txBody>
      </p:sp>
      <p:pic>
        <p:nvPicPr>
          <p:cNvPr id="77827" name="Segnaposto contenuto 3" descr="pg85_c.gif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76"/>
          <a:stretch/>
        </p:blipFill>
        <p:spPr>
          <a:xfrm>
            <a:off x="539750" y="1484313"/>
            <a:ext cx="8064500" cy="518504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Segnaposto contenuto 3" descr="pg84_b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0" r="7695"/>
          <a:stretch>
            <a:fillRect/>
          </a:stretch>
        </p:blipFill>
        <p:spPr>
          <a:xfrm>
            <a:off x="107503" y="735013"/>
            <a:ext cx="8928993" cy="5718175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457200" y="44450"/>
            <a:ext cx="82296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Percorso MIELOMERO- DERMATOMERO</a:t>
            </a:r>
          </a:p>
        </p:txBody>
      </p:sp>
      <p:sp>
        <p:nvSpPr>
          <p:cNvPr id="5" name="Titolo 1"/>
          <p:cNvSpPr txBox="1">
            <a:spLocks/>
          </p:cNvSpPr>
          <p:nvPr/>
        </p:nvSpPr>
        <p:spPr bwMode="auto">
          <a:xfrm>
            <a:off x="0" y="4149725"/>
            <a:ext cx="9144000" cy="2303463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sz="2800" kern="0" dirty="0">
                <a:solidFill>
                  <a:schemeClr val="bg2"/>
                </a:solidFill>
                <a:effectLst/>
              </a:rPr>
              <a:t>                    INNERVAZIONE SENSITIVA</a:t>
            </a:r>
          </a:p>
          <a:p>
            <a:pPr marL="0" indent="0">
              <a:buFont typeface="Wingdings" pitchFamily="2" charset="2"/>
              <a:buNone/>
              <a:defRPr/>
            </a:pPr>
            <a:endParaRPr lang="it-IT" sz="2800" kern="0" dirty="0">
              <a:solidFill>
                <a:schemeClr val="bg2"/>
              </a:solidFill>
              <a:effectLst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800" kern="0" dirty="0">
                <a:solidFill>
                  <a:schemeClr val="bg2"/>
                </a:solidFill>
                <a:effectLst/>
              </a:rPr>
              <a:t>    RADICOLARE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800" kern="0" dirty="0">
                <a:solidFill>
                  <a:schemeClr val="bg2"/>
                </a:solidFill>
                <a:effectLst/>
              </a:rPr>
              <a:t>  = SEGMENTALE                            PERIFERICA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Segnaposto contenuto 3" descr="pg86_a.gif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4" b="17778"/>
          <a:stretch/>
        </p:blipFill>
        <p:spPr>
          <a:xfrm>
            <a:off x="539750" y="44624"/>
            <a:ext cx="4794250" cy="6696744"/>
          </a:xfrm>
        </p:spPr>
      </p:pic>
      <p:sp>
        <p:nvSpPr>
          <p:cNvPr id="6" name="Titolo 1"/>
          <p:cNvSpPr txBox="1">
            <a:spLocks/>
          </p:cNvSpPr>
          <p:nvPr/>
        </p:nvSpPr>
        <p:spPr bwMode="auto">
          <a:xfrm>
            <a:off x="5581650" y="1196975"/>
            <a:ext cx="3035300" cy="223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INNERVAZIONE SENSITIVA: </a:t>
            </a:r>
            <a:r>
              <a:rPr lang="it-IT" kern="0" dirty="0">
                <a:solidFill>
                  <a:srgbClr val="FFC000"/>
                </a:solidFill>
                <a:effectLst/>
              </a:rPr>
              <a:t>RADICOLARE</a:t>
            </a:r>
          </a:p>
        </p:txBody>
      </p:sp>
      <p:pic>
        <p:nvPicPr>
          <p:cNvPr id="81924" name="Segnaposto contenuto 3" descr="pg86_b.gif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21" b="25826"/>
          <a:stretch/>
        </p:blipFill>
        <p:spPr bwMode="auto">
          <a:xfrm>
            <a:off x="5046663" y="3789363"/>
            <a:ext cx="3917825" cy="2952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 bwMode="auto">
          <a:xfrm>
            <a:off x="6011863" y="-26988"/>
            <a:ext cx="2674937" cy="2879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endParaRPr lang="it-IT" kern="0" dirty="0">
              <a:effectLst/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Innervazione </a:t>
            </a: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SENSITIVA </a:t>
            </a:r>
            <a:r>
              <a:rPr lang="it-IT" kern="0" dirty="0">
                <a:solidFill>
                  <a:srgbClr val="FFC000"/>
                </a:solidFill>
                <a:effectLst/>
              </a:rPr>
              <a:t>PERIFERICA</a:t>
            </a:r>
          </a:p>
        </p:txBody>
      </p:sp>
      <p:pic>
        <p:nvPicPr>
          <p:cNvPr id="83971" name="Segnaposto contenuto 3" descr="pg87_d.gi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4" b="24028"/>
          <a:stretch>
            <a:fillRect/>
          </a:stretch>
        </p:blipFill>
        <p:spPr bwMode="auto">
          <a:xfrm>
            <a:off x="4931346" y="2643188"/>
            <a:ext cx="4105150" cy="4098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2" name="Segnaposto contenuto 3" descr="pg87_c.gif"/>
          <p:cNvPicPr>
            <a:picLocks noGrp="1" noChangeAspect="1"/>
          </p:cNvPicPr>
          <p:nvPr>
            <p:ph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31"/>
          <a:stretch>
            <a:fillRect/>
          </a:stretch>
        </p:blipFill>
        <p:spPr>
          <a:xfrm>
            <a:off x="34925" y="57151"/>
            <a:ext cx="5689600" cy="6684218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Segnaposto contenuto 3" descr="pg86_b.gif"/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61" b="31519"/>
          <a:stretch>
            <a:fillRect/>
          </a:stretch>
        </p:blipFill>
        <p:spPr>
          <a:xfrm>
            <a:off x="223565" y="836613"/>
            <a:ext cx="5716587" cy="453660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olo 5"/>
          <p:cNvSpPr>
            <a:spLocks noGrp="1"/>
          </p:cNvSpPr>
          <p:nvPr>
            <p:ph type="title"/>
          </p:nvPr>
        </p:nvSpPr>
        <p:spPr>
          <a:xfrm>
            <a:off x="179388" y="-26988"/>
            <a:ext cx="8713787" cy="792163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it-IT" dirty="0">
                <a:solidFill>
                  <a:schemeClr val="tx1"/>
                </a:solidFill>
              </a:rPr>
              <a:t>LESIONE NUCLEI (</a:t>
            </a:r>
            <a:r>
              <a:rPr lang="it-IT" dirty="0">
                <a:solidFill>
                  <a:srgbClr val="FFC000"/>
                </a:solidFill>
              </a:rPr>
              <a:t>CENTRALE</a:t>
            </a:r>
            <a:r>
              <a:rPr lang="it-IT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86020" name="Segnaposto contenuto 3" descr="pg87_d.gif"/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79" b="26312"/>
          <a:stretch>
            <a:fillRect/>
          </a:stretch>
        </p:blipFill>
        <p:spPr>
          <a:xfrm>
            <a:off x="3715445" y="836613"/>
            <a:ext cx="5249043" cy="50406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olo 5"/>
          <p:cNvSpPr txBox="1">
            <a:spLocks/>
          </p:cNvSpPr>
          <p:nvPr/>
        </p:nvSpPr>
        <p:spPr>
          <a:xfrm>
            <a:off x="223565" y="5877768"/>
            <a:ext cx="8740923" cy="863600"/>
          </a:xfrm>
          <a:prstGeom prst="rect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kern="0" dirty="0">
                <a:solidFill>
                  <a:srgbClr val="002060"/>
                </a:solidFill>
              </a:rPr>
              <a:t>LESIONE BRANCHE (PERIFERICA)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sz="3600" dirty="0"/>
              <a:t>VIA ASCENDENTE (sensitiva): </a:t>
            </a:r>
            <a:br>
              <a:rPr lang="it-IT" sz="3600" dirty="0"/>
            </a:br>
            <a:r>
              <a:rPr lang="it-IT" sz="3600" dirty="0"/>
              <a:t>spino-talamo-corticale</a:t>
            </a:r>
          </a:p>
        </p:txBody>
      </p:sp>
      <p:pic>
        <p:nvPicPr>
          <p:cNvPr id="8806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6513" y="1512888"/>
            <a:ext cx="9190038" cy="5229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2916238" y="2852738"/>
            <a:ext cx="3538537" cy="1800225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4800" dirty="0"/>
              <a:t>EFFERENZE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865187"/>
          </a:xfrm>
        </p:spPr>
        <p:txBody>
          <a:bodyPr/>
          <a:lstStyle/>
          <a:p>
            <a:pPr>
              <a:defRPr/>
            </a:pPr>
            <a:r>
              <a:rPr lang="it-IT" dirty="0"/>
              <a:t>INNERVAZIONE MOTORIA</a:t>
            </a:r>
          </a:p>
        </p:txBody>
      </p:sp>
      <p:pic>
        <p:nvPicPr>
          <p:cNvPr id="91139" name="Segnaposto contenuto 3" descr="pg88_a.gif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16"/>
          <a:stretch/>
        </p:blipFill>
        <p:spPr>
          <a:xfrm>
            <a:off x="1187450" y="981075"/>
            <a:ext cx="6692900" cy="5832301"/>
          </a:xfrm>
        </p:spPr>
      </p:pic>
      <p:sp>
        <p:nvSpPr>
          <p:cNvPr id="3" name="Ovale 2"/>
          <p:cNvSpPr/>
          <p:nvPr/>
        </p:nvSpPr>
        <p:spPr>
          <a:xfrm>
            <a:off x="2555875" y="1196975"/>
            <a:ext cx="1079500" cy="576263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5" name="Rettangolo 4"/>
          <p:cNvSpPr/>
          <p:nvPr/>
        </p:nvSpPr>
        <p:spPr>
          <a:xfrm>
            <a:off x="2530475" y="4292600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6" name="Rettangolo 5"/>
          <p:cNvSpPr/>
          <p:nvPr/>
        </p:nvSpPr>
        <p:spPr>
          <a:xfrm>
            <a:off x="2555875" y="3500438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7" name="Rettangolo 6"/>
          <p:cNvSpPr/>
          <p:nvPr/>
        </p:nvSpPr>
        <p:spPr>
          <a:xfrm>
            <a:off x="2555875" y="4941888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b="1" dirty="0">
                <a:solidFill>
                  <a:schemeClr val="bg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Segnaposto contenuto 3" descr="pg88_b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30"/>
          <a:stretch>
            <a:fillRect/>
          </a:stretch>
        </p:blipFill>
        <p:spPr>
          <a:xfrm>
            <a:off x="573088" y="914400"/>
            <a:ext cx="8031162" cy="5749925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-252413" y="193675"/>
            <a:ext cx="9577388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sz="2400" kern="0" dirty="0">
                <a:effectLst/>
              </a:rPr>
              <a:t>MIELOMERO - RAD.ANT.- RAD.NERVO - PLESSO - NERVO</a:t>
            </a:r>
          </a:p>
        </p:txBody>
      </p:sp>
      <p:sp>
        <p:nvSpPr>
          <p:cNvPr id="4" name="Rettangolo 3"/>
          <p:cNvSpPr/>
          <p:nvPr/>
        </p:nvSpPr>
        <p:spPr>
          <a:xfrm>
            <a:off x="1954213" y="2997200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5" name="Rettangolo 4"/>
          <p:cNvSpPr/>
          <p:nvPr/>
        </p:nvSpPr>
        <p:spPr>
          <a:xfrm>
            <a:off x="1954213" y="2276475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6" name="Rettangolo 5"/>
          <p:cNvSpPr/>
          <p:nvPr/>
        </p:nvSpPr>
        <p:spPr>
          <a:xfrm>
            <a:off x="1954213" y="3789363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b="1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7" name="Rettangolo 6"/>
          <p:cNvSpPr/>
          <p:nvPr/>
        </p:nvSpPr>
        <p:spPr>
          <a:xfrm>
            <a:off x="1954213" y="4627563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sz="1400" b="1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8" name="Ovale 7"/>
          <p:cNvSpPr/>
          <p:nvPr/>
        </p:nvSpPr>
        <p:spPr>
          <a:xfrm>
            <a:off x="4716463" y="2997200"/>
            <a:ext cx="2879725" cy="457200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Segnaposto contenuto 3" descr="pg85_d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20"/>
          <a:stretch>
            <a:fillRect/>
          </a:stretch>
        </p:blipFill>
        <p:spPr>
          <a:xfrm>
            <a:off x="1023938" y="908051"/>
            <a:ext cx="7219950" cy="5761310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0" y="44450"/>
            <a:ext cx="914400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sz="2400" b="1" kern="0" dirty="0">
                <a:effectLst/>
              </a:rPr>
              <a:t>PLESSO</a:t>
            </a:r>
            <a:r>
              <a:rPr lang="it-IT" sz="2400" kern="0" dirty="0">
                <a:effectLst/>
              </a:rPr>
              <a:t>: a livello degli arti gli abbozzi muscolari ventrali migrano con la propria innervazione segmentale (</a:t>
            </a:r>
            <a:r>
              <a:rPr lang="it-IT" sz="2400" kern="0" dirty="0" err="1">
                <a:effectLst/>
              </a:rPr>
              <a:t>Rr</a:t>
            </a:r>
            <a:r>
              <a:rPr lang="it-IT" sz="2400" kern="0" dirty="0">
                <a:effectLst/>
              </a:rPr>
              <a:t> ANT. dei N.S.)</a:t>
            </a:r>
          </a:p>
        </p:txBody>
      </p:sp>
      <p:sp>
        <p:nvSpPr>
          <p:cNvPr id="4" name="Ovale 3"/>
          <p:cNvSpPr/>
          <p:nvPr/>
        </p:nvSpPr>
        <p:spPr>
          <a:xfrm>
            <a:off x="6659563" y="1628775"/>
            <a:ext cx="720725" cy="2305050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Segnaposto contenuto 3" descr="pg88_c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" r="5819" b="4702"/>
          <a:stretch>
            <a:fillRect/>
          </a:stretch>
        </p:blipFill>
        <p:spPr>
          <a:xfrm>
            <a:off x="107949" y="765175"/>
            <a:ext cx="8928101" cy="6048375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3625850" y="44450"/>
            <a:ext cx="1954213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/>
              <a:t>RIFLESSI</a:t>
            </a:r>
          </a:p>
        </p:txBody>
      </p:sp>
      <p:sp>
        <p:nvSpPr>
          <p:cNvPr id="4" name="Rettangolo 3"/>
          <p:cNvSpPr/>
          <p:nvPr/>
        </p:nvSpPr>
        <p:spPr>
          <a:xfrm>
            <a:off x="107950" y="5085184"/>
            <a:ext cx="5472113" cy="16561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t-IT" dirty="0">
                <a:solidFill>
                  <a:srgbClr val="002060"/>
                </a:solidFill>
              </a:rPr>
              <a:t>PROPRIOCETTIVO MONOSINAPTICO: </a:t>
            </a:r>
            <a:r>
              <a:rPr lang="it-IT" dirty="0">
                <a:solidFill>
                  <a:srgbClr val="FF0000"/>
                </a:solidFill>
              </a:rPr>
              <a:t>ROTULEO</a:t>
            </a:r>
            <a:endParaRPr lang="it-IT" dirty="0">
              <a:solidFill>
                <a:srgbClr val="002060"/>
              </a:solidFill>
            </a:endParaRPr>
          </a:p>
          <a:p>
            <a:pPr algn="ctr" eaLnBrk="1" hangingPunct="1">
              <a:defRPr/>
            </a:pPr>
            <a:endParaRPr lang="it-IT" dirty="0">
              <a:solidFill>
                <a:srgbClr val="002060"/>
              </a:solidFill>
            </a:endParaRPr>
          </a:p>
          <a:p>
            <a:pPr algn="ctr" eaLnBrk="1" hangingPunct="1">
              <a:defRPr/>
            </a:pPr>
            <a:r>
              <a:rPr lang="it-IT" dirty="0">
                <a:solidFill>
                  <a:srgbClr val="002060"/>
                </a:solidFill>
              </a:rPr>
              <a:t>ESTEROCETTIVO: POLISINAPTICO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Segnaposto contenuto 3" descr="pg89_d.gif"/>
          <p:cNvPicPr>
            <a:picLocks noGrp="1" noChangeAspect="1"/>
          </p:cNvPicPr>
          <p:nvPr>
            <p:ph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2" b="19484"/>
          <a:stretch>
            <a:fillRect/>
          </a:stretch>
        </p:blipFill>
        <p:spPr>
          <a:xfrm>
            <a:off x="179512" y="116632"/>
            <a:ext cx="5327650" cy="6669087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5435600" y="188913"/>
            <a:ext cx="3708400" cy="619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sz="2800" kern="0" dirty="0">
                <a:effectLst/>
              </a:rPr>
              <a:t>RIFLESSI PROPRIOCETTIVI</a:t>
            </a: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000" kern="0" dirty="0">
                <a:effectLst/>
              </a:rPr>
              <a:t>(innervazione </a:t>
            </a:r>
            <a:r>
              <a:rPr lang="it-IT" sz="2000" kern="0" dirty="0" err="1">
                <a:effectLst/>
              </a:rPr>
              <a:t>polisegmentale</a:t>
            </a:r>
            <a:r>
              <a:rPr lang="it-IT" sz="2000" kern="0" dirty="0">
                <a:effectLst/>
              </a:rPr>
              <a:t>)</a:t>
            </a:r>
          </a:p>
          <a:p>
            <a:pPr marL="0" indent="0" algn="ctr">
              <a:buFont typeface="Wingdings" pitchFamily="2" charset="2"/>
              <a:buNone/>
              <a:defRPr/>
            </a:pPr>
            <a:endParaRPr lang="it-IT" sz="2800" kern="0" dirty="0">
              <a:effectLst/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800" kern="0" dirty="0" err="1">
                <a:effectLst/>
              </a:rPr>
              <a:t>Bicipitale</a:t>
            </a:r>
            <a:endParaRPr lang="it-IT" sz="2800" kern="0" dirty="0">
              <a:effectLst/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800" kern="0" dirty="0" err="1">
                <a:effectLst/>
              </a:rPr>
              <a:t>Tricipitale</a:t>
            </a:r>
            <a:endParaRPr lang="it-IT" sz="2800" kern="0" dirty="0">
              <a:effectLst/>
            </a:endParaRPr>
          </a:p>
          <a:p>
            <a:pPr marL="0" indent="0" algn="ctr">
              <a:buFont typeface="Wingdings" pitchFamily="2" charset="2"/>
              <a:buNone/>
              <a:defRPr/>
            </a:pPr>
            <a:endParaRPr lang="it-IT" sz="2800" kern="0" dirty="0">
              <a:effectLst/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800" kern="0" dirty="0">
                <a:effectLst/>
              </a:rPr>
              <a:t>Rotuleo</a:t>
            </a: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800" kern="0" dirty="0">
                <a:effectLst/>
              </a:rPr>
              <a:t>Calcaneare</a:t>
            </a:r>
          </a:p>
          <a:p>
            <a:pPr marL="0" indent="0" algn="ctr">
              <a:buFont typeface="Wingdings" pitchFamily="2" charset="2"/>
              <a:buNone/>
              <a:defRPr/>
            </a:pPr>
            <a:endParaRPr lang="it-IT" sz="2800" kern="0" dirty="0">
              <a:effectLst/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800" kern="0" dirty="0">
                <a:effectLst/>
              </a:rPr>
              <a:t>Bilateralmente</a:t>
            </a:r>
          </a:p>
          <a:p>
            <a:pPr marL="0" indent="0" algn="ctr">
              <a:buFont typeface="Wingdings" pitchFamily="2" charset="2"/>
              <a:buNone/>
              <a:defRPr/>
            </a:pPr>
            <a:endParaRPr lang="it-IT" sz="2800" kern="0" dirty="0">
              <a:effectLst/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sz="2800" kern="0" dirty="0">
                <a:effectLst/>
              </a:rPr>
              <a:t>MONOSINAPTICO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Segnaposto contenuto 3" descr="pg89_e.gif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" t="1540" r="2019" b="27910"/>
          <a:stretch>
            <a:fillRect/>
          </a:stretch>
        </p:blipFill>
        <p:spPr>
          <a:xfrm>
            <a:off x="179512" y="116120"/>
            <a:ext cx="8784976" cy="6552967"/>
          </a:xfrm>
        </p:spPr>
      </p:pic>
      <p:sp>
        <p:nvSpPr>
          <p:cNvPr id="3" name="Segnaposto contenuto 3"/>
          <p:cNvSpPr txBox="1">
            <a:spLocks/>
          </p:cNvSpPr>
          <p:nvPr/>
        </p:nvSpPr>
        <p:spPr>
          <a:xfrm>
            <a:off x="323850" y="836613"/>
            <a:ext cx="2592388" cy="23050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sz="2400" kern="0" dirty="0">
                <a:solidFill>
                  <a:srgbClr val="000000"/>
                </a:solidFill>
                <a:effectLst/>
              </a:rPr>
              <a:t>AFFERENTI</a:t>
            </a:r>
          </a:p>
          <a:p>
            <a:pPr marL="0" indent="0">
              <a:buFont typeface="Wingdings" pitchFamily="2" charset="2"/>
              <a:buNone/>
              <a:defRPr/>
            </a:pPr>
            <a:endParaRPr lang="it-IT" sz="2400" kern="0" dirty="0">
              <a:solidFill>
                <a:srgbClr val="000000"/>
              </a:solidFill>
              <a:effectLst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400" kern="0" dirty="0">
                <a:solidFill>
                  <a:schemeClr val="bg1"/>
                </a:solidFill>
                <a:effectLst/>
              </a:rPr>
              <a:t>Cute, muscoli, articolazioni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400" kern="0" dirty="0">
                <a:solidFill>
                  <a:schemeClr val="accent1"/>
                </a:solidFill>
                <a:effectLst/>
              </a:rPr>
              <a:t>Visceri</a:t>
            </a:r>
          </a:p>
          <a:p>
            <a:pPr>
              <a:defRPr/>
            </a:pPr>
            <a:endParaRPr lang="it-IT" sz="2400" kern="0" dirty="0">
              <a:effectLst/>
            </a:endParaRPr>
          </a:p>
        </p:txBody>
      </p:sp>
      <p:sp>
        <p:nvSpPr>
          <p:cNvPr id="4" name="Segnaposto contenuto 4"/>
          <p:cNvSpPr txBox="1">
            <a:spLocks/>
          </p:cNvSpPr>
          <p:nvPr/>
        </p:nvSpPr>
        <p:spPr>
          <a:xfrm>
            <a:off x="6875463" y="2347913"/>
            <a:ext cx="2649537" cy="26654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sz="2400" kern="0" dirty="0">
                <a:solidFill>
                  <a:srgbClr val="000000"/>
                </a:solidFill>
                <a:effectLst/>
              </a:rPr>
              <a:t>EFFERENTI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400" kern="0" dirty="0" err="1">
                <a:solidFill>
                  <a:srgbClr val="FF0000"/>
                </a:solidFill>
                <a:effectLst/>
              </a:rPr>
              <a:t>Somatomotorie</a:t>
            </a:r>
            <a:endParaRPr lang="it-IT" sz="2400" kern="0" dirty="0">
              <a:solidFill>
                <a:srgbClr val="FF0000"/>
              </a:solidFill>
              <a:effectLst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400" kern="0" dirty="0">
                <a:solidFill>
                  <a:srgbClr val="FF0000"/>
                </a:solidFill>
                <a:effectLst/>
              </a:rPr>
              <a:t>   SN Volontario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400" kern="0" dirty="0" err="1">
                <a:solidFill>
                  <a:srgbClr val="993300"/>
                </a:solidFill>
                <a:effectLst/>
              </a:rPr>
              <a:t>Visceromotorie</a:t>
            </a:r>
            <a:endParaRPr lang="it-IT" sz="2400" kern="0" dirty="0">
              <a:solidFill>
                <a:srgbClr val="993300"/>
              </a:solidFill>
              <a:effectLst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400" kern="0" dirty="0">
                <a:solidFill>
                  <a:srgbClr val="993300"/>
                </a:solidFill>
                <a:effectLst/>
              </a:rPr>
              <a:t>Corno laterale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it-IT" sz="2400" kern="0" dirty="0">
                <a:solidFill>
                  <a:srgbClr val="993300"/>
                </a:solidFill>
                <a:effectLst/>
              </a:rPr>
              <a:t>        SNA</a:t>
            </a:r>
          </a:p>
        </p:txBody>
      </p:sp>
      <p:sp>
        <p:nvSpPr>
          <p:cNvPr id="5" name="Ovale 4"/>
          <p:cNvSpPr/>
          <p:nvPr/>
        </p:nvSpPr>
        <p:spPr>
          <a:xfrm rot="21050782">
            <a:off x="4364038" y="3724275"/>
            <a:ext cx="4819650" cy="2651125"/>
          </a:xfrm>
          <a:prstGeom prst="ellipse">
            <a:avLst/>
          </a:prstGeom>
          <a:noFill/>
          <a:ln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6" name="Ovale 5"/>
          <p:cNvSpPr/>
          <p:nvPr/>
        </p:nvSpPr>
        <p:spPr>
          <a:xfrm>
            <a:off x="0" y="188913"/>
            <a:ext cx="4183063" cy="331152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/>
        </p:nvSpPr>
        <p:spPr bwMode="auto">
          <a:xfrm>
            <a:off x="2411413" y="120650"/>
            <a:ext cx="47625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sz="2000" kern="0" dirty="0"/>
              <a:t>INNERVAZIONE SENSITIVA E MOTORIA</a:t>
            </a:r>
          </a:p>
        </p:txBody>
      </p:sp>
      <p:pic>
        <p:nvPicPr>
          <p:cNvPr id="103427" name="Segnaposto contenuto 3" descr="pg91_b.gif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2" r="15638" b="21457"/>
          <a:stretch>
            <a:fillRect/>
          </a:stretch>
        </p:blipFill>
        <p:spPr bwMode="auto">
          <a:xfrm>
            <a:off x="2555776" y="658813"/>
            <a:ext cx="4104456" cy="607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Segnaposto contenuto 3" descr="pg90.gif"/>
          <p:cNvPicPr>
            <a:picLocks noGrp="1" noChangeAspect="1"/>
          </p:cNvPicPr>
          <p:nvPr>
            <p:ph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92"/>
          <a:stretch>
            <a:fillRect/>
          </a:stretch>
        </p:blipFill>
        <p:spPr>
          <a:xfrm>
            <a:off x="695325" y="695325"/>
            <a:ext cx="4597400" cy="6118225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457200" y="44450"/>
            <a:ext cx="82296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kern="0" dirty="0"/>
              <a:t>VIA DISCENDENTE (motoria): PIRAMIDALE</a:t>
            </a:r>
          </a:p>
        </p:txBody>
      </p:sp>
      <p:sp>
        <p:nvSpPr>
          <p:cNvPr id="2" name="Saetta 1"/>
          <p:cNvSpPr/>
          <p:nvPr/>
        </p:nvSpPr>
        <p:spPr>
          <a:xfrm rot="6578022">
            <a:off x="4635500" y="755650"/>
            <a:ext cx="457200" cy="4572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6" name="Saetta 5"/>
          <p:cNvSpPr/>
          <p:nvPr/>
        </p:nvSpPr>
        <p:spPr>
          <a:xfrm rot="11619237">
            <a:off x="3482975" y="6491288"/>
            <a:ext cx="665163" cy="29210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grpSp>
        <p:nvGrpSpPr>
          <p:cNvPr id="105478" name="Gruppo 3"/>
          <p:cNvGrpSpPr>
            <a:grpSpLocks/>
          </p:cNvGrpSpPr>
          <p:nvPr/>
        </p:nvGrpSpPr>
        <p:grpSpPr bwMode="auto">
          <a:xfrm>
            <a:off x="6037263" y="692150"/>
            <a:ext cx="2422525" cy="6000750"/>
            <a:chOff x="1043608" y="692696"/>
            <a:chExt cx="2422774" cy="6000750"/>
          </a:xfrm>
        </p:grpSpPr>
        <p:sp>
          <p:nvSpPr>
            <p:cNvPr id="7" name="Rettangolo 6"/>
            <p:cNvSpPr/>
            <p:nvPr/>
          </p:nvSpPr>
          <p:spPr>
            <a:xfrm>
              <a:off x="1450050" y="692696"/>
              <a:ext cx="1513043" cy="6000750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2">
                  <a:lumMod val="9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it-IT" dirty="0">
                <a:solidFill>
                  <a:srgbClr val="FF0000"/>
                </a:solidFill>
              </a:endParaRPr>
            </a:p>
            <a:p>
              <a:pPr algn="ctr" eaLnBrk="1" hangingPunct="1">
                <a:defRPr/>
              </a:pPr>
              <a:r>
                <a:rPr lang="it-IT" dirty="0">
                  <a:solidFill>
                    <a:srgbClr val="FF0000"/>
                  </a:solidFill>
                </a:rPr>
                <a:t>Lesione centrale</a:t>
              </a:r>
            </a:p>
            <a:p>
              <a:pPr algn="ctr" eaLnBrk="1" hangingPunct="1">
                <a:defRPr/>
              </a:pPr>
              <a:endParaRPr lang="it-IT" dirty="0">
                <a:solidFill>
                  <a:srgbClr val="FF0000"/>
                </a:solidFill>
              </a:endParaRPr>
            </a:p>
            <a:p>
              <a:pPr algn="ctr" eaLnBrk="1" hangingPunct="1">
                <a:defRPr/>
              </a:pPr>
              <a:endParaRPr lang="it-IT" dirty="0">
                <a:solidFill>
                  <a:srgbClr val="FF0000"/>
                </a:solidFill>
              </a:endParaRPr>
            </a:p>
            <a:p>
              <a:pPr algn="ctr" eaLnBrk="1" hangingPunct="1">
                <a:defRPr/>
              </a:pPr>
              <a:endParaRPr lang="it-IT" dirty="0">
                <a:solidFill>
                  <a:srgbClr val="FF0000"/>
                </a:solidFill>
              </a:endParaRPr>
            </a:p>
            <a:p>
              <a:pPr algn="ctr" eaLnBrk="1" hangingPunct="1">
                <a:defRPr/>
              </a:pPr>
              <a:r>
                <a:rPr lang="it-IT" dirty="0">
                  <a:solidFill>
                    <a:srgbClr val="FF0000"/>
                  </a:solidFill>
                </a:rPr>
                <a:t>SPASTICA</a:t>
              </a:r>
              <a:endParaRPr lang="it-IT" dirty="0">
                <a:solidFill>
                  <a:srgbClr val="002060"/>
                </a:solidFill>
              </a:endParaRPr>
            </a:p>
            <a:p>
              <a:pPr algn="ctr" eaLnBrk="1" hangingPunct="1">
                <a:defRPr/>
              </a:pPr>
              <a:endParaRPr lang="it-IT" b="1" dirty="0">
                <a:solidFill>
                  <a:srgbClr val="002060"/>
                </a:solidFill>
              </a:endParaRPr>
            </a:p>
            <a:p>
              <a:pPr algn="ctr" eaLnBrk="1" hangingPunct="1">
                <a:defRPr/>
              </a:pPr>
              <a:endParaRPr lang="it-IT" b="1" dirty="0">
                <a:solidFill>
                  <a:srgbClr val="002060"/>
                </a:solidFill>
              </a:endParaRPr>
            </a:p>
            <a:p>
              <a:pPr algn="ctr" eaLnBrk="1" hangingPunct="1">
                <a:defRPr/>
              </a:pPr>
              <a:r>
                <a:rPr lang="it-IT" b="1" dirty="0">
                  <a:solidFill>
                    <a:srgbClr val="002060"/>
                  </a:solidFill>
                </a:rPr>
                <a:t>PARALISI</a:t>
              </a:r>
              <a:r>
                <a:rPr lang="it-IT" dirty="0">
                  <a:solidFill>
                    <a:srgbClr val="002060"/>
                  </a:solidFill>
                </a:rPr>
                <a:t> </a:t>
              </a:r>
            </a:p>
            <a:p>
              <a:pPr algn="ctr" eaLnBrk="1" hangingPunct="1">
                <a:defRPr/>
              </a:pPr>
              <a:endParaRPr lang="it-IT" dirty="0">
                <a:solidFill>
                  <a:srgbClr val="002060"/>
                </a:solidFill>
              </a:endParaRPr>
            </a:p>
            <a:p>
              <a:pPr algn="ctr" eaLnBrk="1" hangingPunct="1">
                <a:defRPr/>
              </a:pPr>
              <a:endParaRPr lang="it-IT" dirty="0">
                <a:solidFill>
                  <a:srgbClr val="002060"/>
                </a:solidFill>
              </a:endParaRPr>
            </a:p>
            <a:p>
              <a:pPr algn="ctr" eaLnBrk="1" hangingPunct="1">
                <a:defRPr/>
              </a:pPr>
              <a:r>
                <a:rPr lang="it-IT" dirty="0">
                  <a:solidFill>
                    <a:srgbClr val="002060"/>
                  </a:solidFill>
                </a:rPr>
                <a:t>FLACCIDA</a:t>
              </a:r>
            </a:p>
            <a:p>
              <a:pPr algn="ctr" eaLnBrk="1" hangingPunct="1">
                <a:defRPr/>
              </a:pPr>
              <a:endParaRPr lang="it-IT" dirty="0">
                <a:solidFill>
                  <a:srgbClr val="002060"/>
                </a:solidFill>
              </a:endParaRPr>
            </a:p>
            <a:p>
              <a:pPr algn="ctr" eaLnBrk="1" hangingPunct="1">
                <a:defRPr/>
              </a:pPr>
              <a:endParaRPr lang="it-IT" dirty="0">
                <a:solidFill>
                  <a:srgbClr val="002060"/>
                </a:solidFill>
              </a:endParaRPr>
            </a:p>
            <a:p>
              <a:pPr algn="ctr" eaLnBrk="1" hangingPunct="1">
                <a:defRPr/>
              </a:pPr>
              <a:endParaRPr lang="it-IT" dirty="0">
                <a:solidFill>
                  <a:srgbClr val="002060"/>
                </a:solidFill>
              </a:endParaRPr>
            </a:p>
            <a:p>
              <a:pPr algn="ctr" eaLnBrk="1" hangingPunct="1">
                <a:defRPr/>
              </a:pPr>
              <a:r>
                <a:rPr lang="it-IT" dirty="0">
                  <a:solidFill>
                    <a:srgbClr val="002060"/>
                  </a:solidFill>
                </a:rPr>
                <a:t>Lesione periferica (radice anteriore)</a:t>
              </a:r>
            </a:p>
          </p:txBody>
        </p:sp>
        <p:sp>
          <p:nvSpPr>
            <p:cNvPr id="9" name="Ovale 8"/>
            <p:cNvSpPr/>
            <p:nvPr/>
          </p:nvSpPr>
          <p:spPr>
            <a:xfrm>
              <a:off x="1043608" y="2277021"/>
              <a:ext cx="2422774" cy="2663825"/>
            </a:xfrm>
            <a:prstGeom prst="ellipse">
              <a:avLst/>
            </a:prstGeom>
            <a:noFill/>
            <a:ln>
              <a:solidFill>
                <a:schemeClr val="tx2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it-IT"/>
            </a:p>
          </p:txBody>
        </p:sp>
        <p:sp>
          <p:nvSpPr>
            <p:cNvPr id="10" name="Ovale 9"/>
            <p:cNvSpPr/>
            <p:nvPr/>
          </p:nvSpPr>
          <p:spPr>
            <a:xfrm>
              <a:off x="1043608" y="3285084"/>
              <a:ext cx="2422774" cy="576262"/>
            </a:xfrm>
            <a:prstGeom prst="ellipse">
              <a:avLst/>
            </a:prstGeom>
            <a:noFill/>
            <a:ln>
              <a:solidFill>
                <a:schemeClr val="tx2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it-IT"/>
            </a:p>
          </p:txBody>
        </p:sp>
      </p:grpSp>
      <p:sp>
        <p:nvSpPr>
          <p:cNvPr id="105479" name="Rettangolo 1"/>
          <p:cNvSpPr>
            <a:spLocks noChangeArrowheads="1"/>
          </p:cNvSpPr>
          <p:nvPr/>
        </p:nvSpPr>
        <p:spPr bwMode="auto">
          <a:xfrm>
            <a:off x="1690688" y="836613"/>
            <a:ext cx="5048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5480" name="Rettangolo 1"/>
          <p:cNvSpPr>
            <a:spLocks noChangeArrowheads="1"/>
          </p:cNvSpPr>
          <p:nvPr/>
        </p:nvSpPr>
        <p:spPr bwMode="auto">
          <a:xfrm>
            <a:off x="755650" y="5949950"/>
            <a:ext cx="151288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000">
                <a:solidFill>
                  <a:srgbClr val="FF0000"/>
                </a:solidFill>
              </a:rPr>
              <a:t>interneurone</a:t>
            </a:r>
          </a:p>
        </p:txBody>
      </p:sp>
      <p:sp>
        <p:nvSpPr>
          <p:cNvPr id="105481" name="Rettangolo 1"/>
          <p:cNvSpPr>
            <a:spLocks noChangeArrowheads="1"/>
          </p:cNvSpPr>
          <p:nvPr/>
        </p:nvSpPr>
        <p:spPr bwMode="auto">
          <a:xfrm>
            <a:off x="755650" y="5961063"/>
            <a:ext cx="5048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5482" name="Rettangolo 1"/>
          <p:cNvSpPr>
            <a:spLocks noChangeArrowheads="1"/>
          </p:cNvSpPr>
          <p:nvPr/>
        </p:nvSpPr>
        <p:spPr bwMode="auto">
          <a:xfrm>
            <a:off x="3419475" y="5300663"/>
            <a:ext cx="5048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5483" name="Rettangolo 1"/>
          <p:cNvSpPr>
            <a:spLocks noChangeArrowheads="1"/>
          </p:cNvSpPr>
          <p:nvPr/>
        </p:nvSpPr>
        <p:spPr bwMode="auto">
          <a:xfrm>
            <a:off x="3779838" y="5445125"/>
            <a:ext cx="5048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7" name="Stella a 4 punte 16"/>
          <p:cNvSpPr/>
          <p:nvPr/>
        </p:nvSpPr>
        <p:spPr>
          <a:xfrm>
            <a:off x="3995738" y="4868863"/>
            <a:ext cx="215900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8" name="Stella a 4 punte 17"/>
          <p:cNvSpPr/>
          <p:nvPr/>
        </p:nvSpPr>
        <p:spPr>
          <a:xfrm>
            <a:off x="1258888" y="4868863"/>
            <a:ext cx="215900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105486" name="Rettangolo 1"/>
          <p:cNvSpPr>
            <a:spLocks noChangeArrowheads="1"/>
          </p:cNvSpPr>
          <p:nvPr/>
        </p:nvSpPr>
        <p:spPr bwMode="auto">
          <a:xfrm>
            <a:off x="4268788" y="6096000"/>
            <a:ext cx="5048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200">
                <a:solidFill>
                  <a:srgbClr val="00B05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>
          <a:xfrm>
            <a:off x="1155700" y="2132013"/>
            <a:ext cx="7088188" cy="2520950"/>
          </a:xfrm>
        </p:spPr>
        <p:txBody>
          <a:bodyPr/>
          <a:lstStyle/>
          <a:p>
            <a:pPr>
              <a:defRPr/>
            </a:pPr>
            <a:r>
              <a:rPr lang="it-IT" dirty="0"/>
              <a:t>COS’E’,  </a:t>
            </a:r>
          </a:p>
          <a:p>
            <a:pPr>
              <a:defRPr/>
            </a:pPr>
            <a:r>
              <a:rPr lang="it-IT" dirty="0"/>
              <a:t>A COSA SERVE</a:t>
            </a:r>
          </a:p>
          <a:p>
            <a:pPr>
              <a:defRPr/>
            </a:pPr>
            <a:r>
              <a:rPr lang="it-IT" dirty="0"/>
              <a:t>IL SISTEMA NERVOSO «AUTONOMO»?</a:t>
            </a:r>
          </a:p>
          <a:p>
            <a:pPr>
              <a:defRPr/>
            </a:pPr>
            <a:endParaRPr lang="it-IT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CHECK" val="0"/>
  <p:tag name="ARTICULATE_PROJECT_OPEN" val="0"/>
</p:tagLst>
</file>

<file path=ppt/theme/theme1.xml><?xml version="1.0" encoding="utf-8"?>
<a:theme xmlns:a="http://schemas.openxmlformats.org/drawingml/2006/main" name="1_Strutturato">
  <a:themeElements>
    <a:clrScheme name="1_Strutturato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1_Strutturat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to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to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1006</TotalTime>
  <Words>1887</Words>
  <Application>Microsoft Office PowerPoint</Application>
  <PresentationFormat>Presentazione su schermo (4:3)</PresentationFormat>
  <Paragraphs>278</Paragraphs>
  <Slides>46</Slides>
  <Notes>43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46</vt:i4>
      </vt:variant>
    </vt:vector>
  </HeadingPairs>
  <TitlesOfParts>
    <vt:vector size="51" baseType="lpstr">
      <vt:lpstr>Arial</vt:lpstr>
      <vt:lpstr>Calibri</vt:lpstr>
      <vt:lpstr>Tahoma</vt:lpstr>
      <vt:lpstr>Wingdings</vt:lpstr>
      <vt:lpstr>1_Strutturato</vt:lpstr>
      <vt:lpstr>Presentazione standard di PowerPoint</vt:lpstr>
      <vt:lpstr>Presentazione standard di PowerPoint</vt:lpstr>
      <vt:lpstr>Sviluppo del SNC:  Midollo Spinale (canale vertebrale) ed Encefalo (cranio)</vt:lpstr>
      <vt:lpstr>Sviluppo del SNC: Midollo Spinale</vt:lpstr>
      <vt:lpstr>Difetti di chiusura del Tubo Neurale</vt:lpstr>
      <vt:lpstr>Presentazione standard di PowerPoint</vt:lpstr>
      <vt:lpstr>Sviluppo del SNC / SNP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ARCO RIFLESSO  ORIZZONTALE MONOSINAPTICO «PATELLARE»</vt:lpstr>
      <vt:lpstr>ARCO RIFLESSO  ORIZZONTALE  POLI-SINAPTICO PIU’ MUSCOLI OMOLATERALMENTE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Nevroglia, guaina mielinica (lipidi)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MIDOLLO SPINALE</vt:lpstr>
      <vt:lpstr>NEUROMERO</vt:lpstr>
      <vt:lpstr>Presentazione standard di PowerPoint</vt:lpstr>
      <vt:lpstr>Presentazione standard di PowerPoint</vt:lpstr>
      <vt:lpstr>Presentazione standard di PowerPoint</vt:lpstr>
      <vt:lpstr>Gli assoni che trasportano le afferenze sensitive da un Dermatomero attraversano più nervi periferici quindi convergono nella radice posteriore dello stesso mielomero</vt:lpstr>
      <vt:lpstr>Presentazione standard di PowerPoint</vt:lpstr>
      <vt:lpstr>Presentazione standard di PowerPoint</vt:lpstr>
      <vt:lpstr>Presentazione standard di PowerPoint</vt:lpstr>
      <vt:lpstr>LESIONE NUCLEI (CENTRALE)</vt:lpstr>
      <vt:lpstr>VIA ASCENDENTE (sensitiva):  spino-talamo-corticale</vt:lpstr>
      <vt:lpstr>Presentazione standard di PowerPoint</vt:lpstr>
      <vt:lpstr>INNERVAZIONE MOTORIA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Fabrizio Crisafulli</dc:creator>
  <cp:lastModifiedBy>gabriella cusella</cp:lastModifiedBy>
  <cp:revision>203</cp:revision>
  <dcterms:created xsi:type="dcterms:W3CDTF">2002-09-16T09:40:28Z</dcterms:created>
  <dcterms:modified xsi:type="dcterms:W3CDTF">2026-02-21T10:23:11Z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Path">
    <vt:lpwstr>Cap1</vt:lpwstr>
  </property>
  <property fmtid="{D5CDD505-2E9C-101B-9397-08002B2CF9AE}" pid="4" name="ArticulateGUID">
    <vt:lpwstr>1A36A2F8-C520-479C-AF55-7827F99676CC</vt:lpwstr>
  </property>
  <property fmtid="{D5CDD505-2E9C-101B-9397-08002B2CF9AE}" pid="5" name="ArticulateProjectFull">
    <vt:lpwstr>C:\Users\pdelvecchio.EDI\Desktop\Sedra\PPT\Capitolo1.ppta</vt:lpwstr>
  </property>
</Properties>
</file>