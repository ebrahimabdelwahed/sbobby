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1077" r:id="rId2"/>
    <p:sldId id="340" r:id="rId3"/>
    <p:sldId id="342" r:id="rId4"/>
    <p:sldId id="1085" r:id="rId5"/>
    <p:sldId id="339" r:id="rId6"/>
    <p:sldId id="365" r:id="rId7"/>
    <p:sldId id="369" r:id="rId8"/>
    <p:sldId id="387" r:id="rId9"/>
    <p:sldId id="388" r:id="rId10"/>
    <p:sldId id="1078" r:id="rId11"/>
    <p:sldId id="1091" r:id="rId12"/>
    <p:sldId id="1086" r:id="rId13"/>
    <p:sldId id="361" r:id="rId14"/>
    <p:sldId id="1087" r:id="rId15"/>
    <p:sldId id="360" r:id="rId16"/>
    <p:sldId id="362" r:id="rId17"/>
    <p:sldId id="1088" r:id="rId18"/>
    <p:sldId id="364" r:id="rId19"/>
    <p:sldId id="363" r:id="rId20"/>
    <p:sldId id="1080" r:id="rId21"/>
    <p:sldId id="256" r:id="rId22"/>
    <p:sldId id="461" r:id="rId23"/>
    <p:sldId id="367" r:id="rId24"/>
    <p:sldId id="561" r:id="rId25"/>
    <p:sldId id="572" r:id="rId26"/>
    <p:sldId id="283" r:id="rId27"/>
    <p:sldId id="405" r:id="rId28"/>
    <p:sldId id="1094" r:id="rId29"/>
    <p:sldId id="411" r:id="rId30"/>
    <p:sldId id="410" r:id="rId31"/>
    <p:sldId id="406" r:id="rId32"/>
    <p:sldId id="409" r:id="rId33"/>
    <p:sldId id="563" r:id="rId34"/>
    <p:sldId id="414" r:id="rId35"/>
    <p:sldId id="1092" r:id="rId36"/>
    <p:sldId id="564" r:id="rId37"/>
    <p:sldId id="474" r:id="rId38"/>
    <p:sldId id="286" r:id="rId39"/>
    <p:sldId id="565" r:id="rId40"/>
    <p:sldId id="442" r:id="rId41"/>
    <p:sldId id="412" r:id="rId42"/>
    <p:sldId id="1093" r:id="rId43"/>
    <p:sldId id="1082" r:id="rId44"/>
    <p:sldId id="1095" r:id="rId45"/>
    <p:sldId id="1089" r:id="rId46"/>
    <p:sldId id="1090" r:id="rId47"/>
    <p:sldId id="416" r:id="rId48"/>
    <p:sldId id="567" r:id="rId49"/>
    <p:sldId id="847" r:id="rId50"/>
    <p:sldId id="400" r:id="rId51"/>
    <p:sldId id="401" r:id="rId52"/>
    <p:sldId id="1076" r:id="rId53"/>
    <p:sldId id="403" r:id="rId54"/>
    <p:sldId id="402" r:id="rId55"/>
    <p:sldId id="418" r:id="rId56"/>
    <p:sldId id="417" r:id="rId57"/>
    <p:sldId id="1083" r:id="rId58"/>
    <p:sldId id="1075" r:id="rId59"/>
    <p:sldId id="413" r:id="rId60"/>
    <p:sldId id="408" r:id="rId61"/>
    <p:sldId id="399" r:id="rId62"/>
    <p:sldId id="407" r:id="rId63"/>
  </p:sldIdLst>
  <p:sldSz cx="9144000" cy="6858000" type="screen4x3"/>
  <p:notesSz cx="6858000" cy="9144000"/>
  <p:photoAlbum/>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BEF3"/>
    <a:srgbClr val="00FFFF"/>
    <a:srgbClr val="00FF00"/>
    <a:srgbClr val="BABABC"/>
    <a:srgbClr val="ADB0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22" autoAdjust="0"/>
    <p:restoredTop sz="96283" autoAdjust="0"/>
  </p:normalViewPr>
  <p:slideViewPr>
    <p:cSldViewPr>
      <p:cViewPr varScale="1">
        <p:scale>
          <a:sx n="112" d="100"/>
          <a:sy n="112" d="100"/>
        </p:scale>
        <p:origin x="1584" y="96"/>
      </p:cViewPr>
      <p:guideLst>
        <p:guide orient="horz" pos="2160"/>
        <p:guide pos="2880"/>
      </p:guideLst>
    </p:cSldViewPr>
  </p:slideViewPr>
  <p:outlineViewPr>
    <p:cViewPr>
      <p:scale>
        <a:sx n="33" d="100"/>
        <a:sy n="33" d="100"/>
      </p:scale>
      <p:origin x="0" y="-96"/>
    </p:cViewPr>
  </p:outlineViewPr>
  <p:notesTextViewPr>
    <p:cViewPr>
      <p:scale>
        <a:sx n="100" d="100"/>
        <a:sy n="100" d="100"/>
      </p:scale>
      <p:origin x="0" y="0"/>
    </p:cViewPr>
  </p:notesTextViewPr>
  <p:sorterViewPr>
    <p:cViewPr>
      <p:scale>
        <a:sx n="140" d="100"/>
        <a:sy n="140" d="100"/>
      </p:scale>
      <p:origin x="0" y="-54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E068C5-51C6-4C07-97E7-CE4597C1884F}" type="datetimeFigureOut">
              <a:rPr lang="it-IT" smtClean="0"/>
              <a:t>23/02/2026</a:t>
            </a:fld>
            <a:endParaRPr lang="it-IT"/>
          </a:p>
        </p:txBody>
      </p:sp>
      <p:sp>
        <p:nvSpPr>
          <p:cNvPr id="4" name="Segnaposto immagin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A5E31C-9073-44EB-8892-F5A875C1C17D}" type="slidenum">
              <a:rPr lang="it-IT" smtClean="0"/>
              <a:t>‹N›</a:t>
            </a:fld>
            <a:endParaRPr lang="it-IT"/>
          </a:p>
        </p:txBody>
      </p:sp>
    </p:spTree>
    <p:extLst>
      <p:ext uri="{BB962C8B-B14F-4D97-AF65-F5344CB8AC3E}">
        <p14:creationId xmlns:p14="http://schemas.microsoft.com/office/powerpoint/2010/main" val="37157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google.com/search?q=osteofiti&amp;oq=UNCOARTROSI&amp;gs_lcrp=EgZjaHJvbWUyCQgAEEUYORiABDIHCAEQABiABDIHCAIQABiABDIHCAMQABiABDIHCAQQABiABDIHCAUQABiABDIHCAYQABiABDIHCAcQABiABDIHCAgQABiABDIHCAkQABiABNIBCDM2MjJqMGo3qAIAsAIA&amp;sourceid=chrome&amp;ie=UTF-8&amp;mstk=AUtExfCu2bN7WgK2am07u0JPUDTtsCuHD4A4BEzZwbX5BAjSRKz3thyAUDMdl_s06W4NXr-Qg2XfhrSmZ6cvmEHJvuOGJHNcdTddfoH7DYz_MNmYjlABfQ26GQLk7LGtFksz4xU&amp;csui=3&amp;ved=2ahUKEwivnoTtpeOSAxUPnf0HHYNSDwgQgK4QegYIAQgBEAE"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google.com/search?q=Spazio+Interscalenico&amp;oq=I+MUSCOLI+SCALENI+COME+SONO+LOCALIZZATI+RISPETTO+ALLE+FASCE+CERVICALI%3F&amp;gs_lcrp=EgZjaHJvbWUyBggAEEUYOTIGCAEQRRhA0gEJMzQzMjdqMGo5qAIGsAIB8QWQAmwwWf5aJQ&amp;sourceid=chrome&amp;ie=UTF-8&amp;mstk=AUtExfAogdNKGr0Sx5Wlqkpj2J8ZKJp2F3LF6B3xaXaznHRZbwSIdAKi-TQwoWBrzG1z6VwiRaqBIrbHn2MUlDk4lEoRiIfeqAJ_qfTYHTV3yr5fqy-UxLOm2oZEahWJDsvLp8LoOwFQWgQ-3m2dsvuiXI7j6obyhIbPe-FiiDmHjKZaVKj0DcHle_arfmFd9lzy-aIGjVTjVat3tS0wcfZGPL1mNQb8B8cjWUtDY5G9sxpMTWnHK9qErXkHQqUw2aCDm5QgNR04s4pN5s7CeAr9t7aZ&amp;csui=3&amp;ved=2ahUKEwiqw8GW8eKSAxX09QIHHTU2DAwQgK4QegQIAxAD" TargetMode="External"/><Relationship Id="rId7" Type="http://schemas.openxmlformats.org/officeDocument/2006/relationships/hyperlink" Target="https://www.google.com/search?q=Muscolo+tiroioideo&amp;sca_esv=0ccad900ef2a9a41&amp;sxsrf=ANbL-n6lmBFBrtsy4i8MuqllC67aTZiE5Q%3A1771405962500&amp;ei=ioKVadaUHsmR9u8PxKWr-Qo&amp;biw=1920&amp;bih=919&amp;ved=2ahUKEwjHyaD74-KSAxXchf0HHeSeAAEQgK4QegQIAxAH&amp;uact=5&amp;oq=QUALI+SONO+I+MUSCOLI+SOTTOIOIDEI&amp;gs_lp=Egxnd3Mtd2l6LXNlcnAiIFFVQUxJIFNPTk8gSSBNVVNDT0xJIFNPVFRPSU9JREVJMgUQABiABDIIEAAYgAQYogQyBRAAGO8FMgUQABjvBTIFEAAY7wVI2EFQAFjkPXAAeAGQAQCYAX6gAdIVqgEEMjkuM7gBA8gBAPgBAZgCIKAC6hjCAgQQIxgnwgIOEAAYgAQYsQMYgwEYigXCAg4QLhiABBixAxiDARiKBcICCxAAGIAEGLEDGIMBwgIKEAAYgAQYQxiKBcICChAjGPAFGCcYngbCAg0QABiABBixAxhDGIoFwgIKECMY8AUYJxjJAsICCBAuGIAEGLEDwgIIEAAYgAQYsQPCAhEQLhiABBixAxiDARjHARivAcICCxAAGIAEGLEDGIoFwgIKEAAYgAQYFBiHAsICBhAAGBYYHpgDAJIHBTE5LjEzoAe3lgKyBwUxOS4xM7gH6hjCBwkyLTEzLjE3LjLIB8kCgAgA&amp;sclient=gws-wiz-serp&amp;mstk=AUtExfC8_nj4aDm0Hha6-w91ojet7alxVW_qPDeJFQgbTnbzpdXvXbKTyHITBmBvuPrpHuPOW3642J0RL8SILRe-Th7ZvXyV_mSymNQlHB7w_B_GLf8WFgA9YoKSk3I7pTmkrZP8WFarAst3XG05vMfdCrWaZ3wamxug1kRTomizCuJn3qk&amp;csui=3" TargetMode="External"/><Relationship Id="rId2" Type="http://schemas.openxmlformats.org/officeDocument/2006/relationships/slide" Target="../slides/slide51.xml"/><Relationship Id="rId1" Type="http://schemas.openxmlformats.org/officeDocument/2006/relationships/notesMaster" Target="../notesMasters/notesMaster1.xml"/><Relationship Id="rId6" Type="http://schemas.openxmlformats.org/officeDocument/2006/relationships/hyperlink" Target="https://www.google.com/search?q=Muscolo+sternotiroideo&amp;sca_esv=0ccad900ef2a9a41&amp;sxsrf=ANbL-n6lmBFBrtsy4i8MuqllC67aTZiE5Q%3A1771405962500&amp;ei=ioKVadaUHsmR9u8PxKWr-Qo&amp;biw=1920&amp;bih=919&amp;ved=2ahUKEwjHyaD74-KSAxXchf0HHeSeAAEQgK4QegQIAxAF&amp;uact=5&amp;oq=QUALI+SONO+I+MUSCOLI+SOTTOIOIDEI&amp;gs_lp=Egxnd3Mtd2l6LXNlcnAiIFFVQUxJIFNPTk8gSSBNVVNDT0xJIFNPVFRPSU9JREVJMgUQABiABDIIEAAYgAQYogQyBRAAGO8FMgUQABjvBTIFEAAY7wVI2EFQAFjkPXAAeAGQAQCYAX6gAdIVqgEEMjkuM7gBA8gBAPgBAZgCIKAC6hjCAgQQIxgnwgIOEAAYgAQYsQMYgwEYigXCAg4QLhiABBixAxiDARiKBcICCxAAGIAEGLEDGIMBwgIKEAAYgAQYQxiKBcICChAjGPAFGCcYngbCAg0QABiABBixAxhDGIoFwgIKECMY8AUYJxjJAsICCBAuGIAEGLEDwgIIEAAYgAQYsQPCAhEQLhiABBixAxiDARjHARivAcICCxAAGIAEGLEDGIoFwgIKEAAYgAQYFBiHAsICBhAAGBYYHpgDAJIHBTE5LjEzoAe3lgKyBwUxOS4xM7gH6hjCBwkyLTEzLjE3LjLIB8kCgAgA&amp;sclient=gws-wiz-serp&amp;mstk=AUtExfC8_nj4aDm0Hha6-w91ojet7alxVW_qPDeJFQgbTnbzpdXvXbKTyHITBmBvuPrpHuPOW3642J0RL8SILRe-Th7ZvXyV_mSymNQlHB7w_B_GLf8WFgA9YoKSk3I7pTmkrZP8WFarAst3XG05vMfdCrWaZ3wamxug1kRTomizCuJn3qk&amp;csui=3" TargetMode="External"/><Relationship Id="rId5" Type="http://schemas.openxmlformats.org/officeDocument/2006/relationships/hyperlink" Target="https://www.google.com/search?q=Muscolo+omoioideo&amp;sca_esv=0ccad900ef2a9a41&amp;sxsrf=ANbL-n6lmBFBrtsy4i8MuqllC67aTZiE5Q%3A1771405962500&amp;ei=ioKVadaUHsmR9u8PxKWr-Qo&amp;biw=1920&amp;bih=919&amp;ved=2ahUKEwjHyaD74-KSAxXchf0HHeSeAAEQgK4QegQIAxAD&amp;uact=5&amp;oq=QUALI+SONO+I+MUSCOLI+SOTTOIOIDEI&amp;gs_lp=Egxnd3Mtd2l6LXNlcnAiIFFVQUxJIFNPTk8gSSBNVVNDT0xJIFNPVFRPSU9JREVJMgUQABiABDIIEAAYgAQYogQyBRAAGO8FMgUQABjvBTIFEAAY7wVI2EFQAFjkPXAAeAGQAQCYAX6gAdIVqgEEMjkuM7gBA8gBAPgBAZgCIKAC6hjCAgQQIxgnwgIOEAAYgAQYsQMYgwEYigXCAg4QLhiABBixAxiDARiKBcICCxAAGIAEGLEDGIMBwgIKEAAYgAQYQxiKBcICChAjGPAFGCcYngbCAg0QABiABBixAxhDGIoFwgIKECMY8AUYJxjJAsICCBAuGIAEGLEDwgIIEAAYgAQYsQPCAhEQLhiABBixAxiDARjHARivAcICCxAAGIAEGLEDGIoFwgIKEAAYgAQYFBiHAsICBhAAGBYYHpgDAJIHBTE5LjEzoAe3lgKyBwUxOS4xM7gH6hjCBwkyLTEzLjE3LjLIB8kCgAgA&amp;sclient=gws-wiz-serp&amp;mstk=AUtExfC8_nj4aDm0Hha6-w91ojet7alxVW_qPDeJFQgbTnbzpdXvXbKTyHITBmBvuPrpHuPOW3642J0RL8SILRe-Th7ZvXyV_mSymNQlHB7w_B_GLf8WFgA9YoKSk3I7pTmkrZP8WFarAst3XG05vMfdCrWaZ3wamxug1kRTomizCuJn3qk&amp;csui=3" TargetMode="External"/><Relationship Id="rId4" Type="http://schemas.openxmlformats.org/officeDocument/2006/relationships/hyperlink" Target="https://www.google.com/search?q=Muscolo+sternoioideo&amp;sca_esv=0ccad900ef2a9a41&amp;sxsrf=ANbL-n6lmBFBrtsy4i8MuqllC67aTZiE5Q%3A1771405962500&amp;ei=ioKVadaUHsmR9u8PxKWr-Qo&amp;biw=1920&amp;bih=919&amp;ved=2ahUKEwjHyaD74-KSAxXchf0HHeSeAAEQgK4QegQIAxAB&amp;uact=5&amp;oq=QUALI+SONO+I+MUSCOLI+SOTTOIOIDEI&amp;gs_lp=Egxnd3Mtd2l6LXNlcnAiIFFVQUxJIFNPTk8gSSBNVVNDT0xJIFNPVFRPSU9JREVJMgUQABiABDIIEAAYgAQYogQyBRAAGO8FMgUQABjvBTIFEAAY7wVI2EFQAFjkPXAAeAGQAQCYAX6gAdIVqgEEMjkuM7gBA8gBAPgBAZgCIKAC6hjCAgQQIxgnwgIOEAAYgAQYsQMYgwEYigXCAg4QLhiABBixAxiDARiKBcICCxAAGIAEGLEDGIMBwgIKEAAYgAQYQxiKBcICChAjGPAFGCcYngbCAg0QABiABBixAxhDGIoFwgIKECMY8AUYJxjJAsICCBAuGIAEGLEDwgIIEAAYgAQYsQPCAhEQLhiABBixAxiDARjHARivAcICCxAAGIAEGLEDGIoFwgIKEAAYgAQYFBiHAsICBhAAGBYYHpgDAJIHBTE5LjEzoAe3lgKyBwUxOS4xM7gH6hjCBwkyLTEzLjE3LjLIB8kCgAgA&amp;sclient=gws-wiz-serp&amp;mstk=AUtExfC8_nj4aDm0Hha6-w91ojet7alxVW_qPDeJFQgbTnbzpdXvXbKTyHITBmBvuPrpHuPOW3642J0RL8SILRe-Th7ZvXyV_mSymNQlHB7w_B_GLf8WFgA9YoKSk3I7pTmkrZP8WFarAst3XG05vMfdCrWaZ3wamxug1kRTomizCuJn3qk&amp;csui=3"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www.google.com/search?q=Nervi&amp;sca_esv=bf84d0236feb05f8&amp;biw=1920&amp;bih=919&amp;sxsrf=ANbL-n7RBqrXKW_xLpMk84Kxx5eevXYI3g%3A1771419580888&amp;ei=vLeVabDuNf-N9u8P4bLh4AE&amp;ved=2ahUKEwjYxpTilOOSAxXdgP0HHXqtA9IQgK4QegQIBBAB&amp;uact=5&amp;oq=QUALI+STRUTTURE+SI+TROVANO+NEL+TRIANGOLO+POSTERIORE+DEL+COLLO%3F&amp;gs_lp=Egxnd3Mtd2l6LXNlcnAiPlFVQUxJIFNUUlVUVFVSRSBTSSBUUk9WQU5PIE5FTCBUUklBTkdPTE8gUE9TVEVSSU9SRSBERUwgQ09MTE8_SJh5UABYynVwAHgAkAEAmAGaAaAB1DCqAQUzNi4yNrgBA8gBAPgBAZgCPKAC1DTCAg4QABiABBixAxiDARiKBcICDhAuGIAEGLEDGIMBGIoFwgIIEAAYgAQYsQPCAgsQABiABBixAxiDAcICChAjGIAEGCcYigXCAgQQIxgnwgIKEAAYgAQYQxiKBcICDRAAGIAEGLEDGEMYigXCAgUQABiABMICCBAuGIAEGLEDwgIKECMY8AUYJxieBsICChAjGPAFGCcYyQLCAgsQABiABBixAxiKBcICBBAAGAPCAgYQABgWGB7CAggQABgWGAoYHsICBRAAGO8FwgIIEAAYogQYiQXCAgUQIRigAcICBRAhGJ8FwgIEECEYFZgDAJIHBTEyLjQ4oAf2iwOyBwUxMi40OLgH1DTCBwwwLjEwLjIzLjI2LjHIB-MDgAgA&amp;sclient=gws-wiz-serp&amp;mstk=AUtExfDMxWpg3y7WMDSkhDE12bLOIPmh0XSgIkqj9pTYv2vmrpYih51_rO1DoDgOg1ZgolEyR4iTajaIX3cgFKpNw792nCx0z4A5WkTYRHfU2kxsQvoPSYzpKk1VtYrY0pjuiqRw2lvi0tyYOuchyuSO0m1gmEHgoTynCmjzB-t6T0K4eyQ&amp;csui=3" TargetMode="External"/><Relationship Id="rId2" Type="http://schemas.openxmlformats.org/officeDocument/2006/relationships/slide" Target="../slides/slide55.xml"/><Relationship Id="rId1" Type="http://schemas.openxmlformats.org/officeDocument/2006/relationships/notesMaster" Target="../notesMasters/notesMaster1.xml"/><Relationship Id="rId6" Type="http://schemas.openxmlformats.org/officeDocument/2006/relationships/hyperlink" Target="https://www.google.com/search?q=Altro&amp;sca_esv=bf84d0236feb05f8&amp;biw=1920&amp;bih=919&amp;sxsrf=ANbL-n7RBqrXKW_xLpMk84Kxx5eevXYI3g%3A1771419580888&amp;ei=vLeVabDuNf-N9u8P4bLh4AE&amp;ved=2ahUKEwjYxpTilOOSAxXdgP0HHXqtA9IQgK4QegQIBBAH&amp;uact=5&amp;oq=QUALI+STRUTTURE+SI+TROVANO+NEL+TRIANGOLO+POSTERIORE+DEL+COLLO%3F&amp;gs_lp=Egxnd3Mtd2l6LXNlcnAiPlFVQUxJIFNUUlVUVFVSRSBTSSBUUk9WQU5PIE5FTCBUUklBTkdPTE8gUE9TVEVSSU9SRSBERUwgQ09MTE8_SJh5UABYynVwAHgAkAEAmAGaAaAB1DCqAQUzNi4yNrgBA8gBAPgBAZgCPKAC1DTCAg4QABiABBixAxiDARiKBcICDhAuGIAEGLEDGIMBGIoFwgIIEAAYgAQYsQPCAgsQABiABBixAxiDAcICChAjGIAEGCcYigXCAgQQIxgnwgIKEAAYgAQYQxiKBcICDRAAGIAEGLEDGEMYigXCAgUQABiABMICCBAuGIAEGLEDwgIKECMY8AUYJxieBsICChAjGPAFGCcYyQLCAgsQABiABBixAxiKBcICBBAAGAPCAgYQABgWGB7CAggQABgWGAoYHsICBRAAGO8FwgIIEAAYogQYiQXCAgUQIRigAcICBRAhGJ8FwgIEECEYFZgDAJIHBTEyLjQ4oAf2iwOyBwUxMi40OLgH1DTCBwwwLjEwLjIzLjI2LjHIB-MDgAgA&amp;sclient=gws-wiz-serp&amp;mstk=AUtExfDMxWpg3y7WMDSkhDE12bLOIPmh0XSgIkqj9pTYv2vmrpYih51_rO1DoDgOg1ZgolEyR4iTajaIX3cgFKpNw792nCx0z4A5WkTYRHfU2kxsQvoPSYzpKk1VtYrY0pjuiqRw2lvi0tyYOuchyuSO0m1gmEHgoTynCmjzB-t6T0K4eyQ&amp;csui=3" TargetMode="External"/><Relationship Id="rId5" Type="http://schemas.openxmlformats.org/officeDocument/2006/relationships/hyperlink" Target="https://www.google.com/search?q=Muscoli&amp;sca_esv=bf84d0236feb05f8&amp;biw=1920&amp;bih=919&amp;sxsrf=ANbL-n7RBqrXKW_xLpMk84Kxx5eevXYI3g%3A1771419580888&amp;ei=vLeVabDuNf-N9u8P4bLh4AE&amp;ved=2ahUKEwjYxpTilOOSAxXdgP0HHXqtA9IQgK4QegQIBBAF&amp;uact=5&amp;oq=QUALI+STRUTTURE+SI+TROVANO+NEL+TRIANGOLO+POSTERIORE+DEL+COLLO%3F&amp;gs_lp=Egxnd3Mtd2l6LXNlcnAiPlFVQUxJIFNUUlVUVFVSRSBTSSBUUk9WQU5PIE5FTCBUUklBTkdPTE8gUE9TVEVSSU9SRSBERUwgQ09MTE8_SJh5UABYynVwAHgAkAEAmAGaAaAB1DCqAQUzNi4yNrgBA8gBAPgBAZgCPKAC1DTCAg4QABiABBixAxiDARiKBcICDhAuGIAEGLEDGIMBGIoFwgIIEAAYgAQYsQPCAgsQABiABBixAxiDAcICChAjGIAEGCcYigXCAgQQIxgnwgIKEAAYgAQYQxiKBcICDRAAGIAEGLEDGEMYigXCAgUQABiABMICCBAuGIAEGLEDwgIKECMY8AUYJxieBsICChAjGPAFGCcYyQLCAgsQABiABBixAxiKBcICBBAAGAPCAgYQABgWGB7CAggQABgWGAoYHsICBRAAGO8FwgIIEAAYogQYiQXCAgUQIRigAcICBRAhGJ8FwgIEECEYFZgDAJIHBTEyLjQ4oAf2iwOyBwUxMi40OLgH1DTCBwwwLjEwLjIzLjI2LjHIB-MDgAgA&amp;sclient=gws-wiz-serp&amp;mstk=AUtExfDMxWpg3y7WMDSkhDE12bLOIPmh0XSgIkqj9pTYv2vmrpYih51_rO1DoDgOg1ZgolEyR4iTajaIX3cgFKpNw792nCx0z4A5WkTYRHfU2kxsQvoPSYzpKk1VtYrY0pjuiqRw2lvi0tyYOuchyuSO0m1gmEHgoTynCmjzB-t6T0K4eyQ&amp;csui=3" TargetMode="External"/><Relationship Id="rId4" Type="http://schemas.openxmlformats.org/officeDocument/2006/relationships/hyperlink" Target="https://www.google.com/search?q=Vasi&amp;sca_esv=bf84d0236feb05f8&amp;biw=1920&amp;bih=919&amp;sxsrf=ANbL-n7RBqrXKW_xLpMk84Kxx5eevXYI3g%3A1771419580888&amp;ei=vLeVabDuNf-N9u8P4bLh4AE&amp;ved=2ahUKEwjYxpTilOOSAxXdgP0HHXqtA9IQgK4QegQIBBAD&amp;uact=5&amp;oq=QUALI+STRUTTURE+SI+TROVANO+NEL+TRIANGOLO+POSTERIORE+DEL+COLLO%3F&amp;gs_lp=Egxnd3Mtd2l6LXNlcnAiPlFVQUxJIFNUUlVUVFVSRSBTSSBUUk9WQU5PIE5FTCBUUklBTkdPTE8gUE9TVEVSSU9SRSBERUwgQ09MTE8_SJh5UABYynVwAHgAkAEAmAGaAaAB1DCqAQUzNi4yNrgBA8gBAPgBAZgCPKAC1DTCAg4QABiABBixAxiDARiKBcICDhAuGIAEGLEDGIMBGIoFwgIIEAAYgAQYsQPCAgsQABiABBixAxiDAcICChAjGIAEGCcYigXCAgQQIxgnwgIKEAAYgAQYQxiKBcICDRAAGIAEGLEDGEMYigXCAgUQABiABMICCBAuGIAEGLEDwgIKECMY8AUYJxieBsICChAjGPAFGCcYyQLCAgsQABiABBixAxiKBcICBBAAGAPCAgYQABgWGB7CAggQABgWGAoYHsICBRAAGO8FwgIIEAAYogQYiQXCAgUQIRigAcICBRAhGJ8FwgIEECEYFZgDAJIHBTEyLjQ4oAf2iwOyBwUxMi40OLgH1DTCBwwwLjEwLjIzLjI2LjHIB-MDgAgA&amp;sclient=gws-wiz-serp&amp;mstk=AUtExfDMxWpg3y7WMDSkhDE12bLOIPmh0XSgIkqj9pTYv2vmrpYih51_rO1DoDgOg1ZgolEyR4iTajaIX3cgFKpNw792nCx0z4A5WkTYRHfU2kxsQvoPSYzpKk1VtYrY0pjuiqRw2lvi0tyYOuchyuSO0m1gmEHgoTynCmjzB-t6T0K4eyQ&amp;csui=3"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6</a:t>
            </a:fld>
            <a:endParaRPr lang="it-IT"/>
          </a:p>
        </p:txBody>
      </p:sp>
    </p:spTree>
    <p:extLst>
      <p:ext uri="{BB962C8B-B14F-4D97-AF65-F5344CB8AC3E}">
        <p14:creationId xmlns:p14="http://schemas.microsoft.com/office/powerpoint/2010/main" val="3187843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L'</a:t>
            </a:r>
            <a:r>
              <a:rPr lang="it-IT" sz="1200" b="0" i="0" kern="1200" dirty="0" err="1">
                <a:solidFill>
                  <a:schemeClr val="tx1"/>
                </a:solidFill>
                <a:effectLst/>
                <a:latin typeface="+mn-lt"/>
                <a:ea typeface="+mn-ea"/>
                <a:cs typeface="+mn-cs"/>
              </a:rPr>
              <a:t>uncoartrosi</a:t>
            </a:r>
            <a:r>
              <a:rPr lang="it-IT" sz="1200" b="0" i="0" kern="1200" dirty="0">
                <a:solidFill>
                  <a:schemeClr val="tx1"/>
                </a:solidFill>
                <a:effectLst/>
                <a:latin typeface="+mn-lt"/>
                <a:ea typeface="+mn-ea"/>
                <a:cs typeface="+mn-cs"/>
              </a:rPr>
              <a:t>, o artrosi uncovertebrale, è una forma degenerativa di artrosi cervicale che colpisce le articolazioni tra i margini delle vertebre C3-C7. È causata dall'usura cartilaginea, con formazione di osteofiti che riducono la mobilità, causano dolore al collo, scricchiolii e possibili radicolopatie (dolore irradiato agli arti superiori). </a:t>
            </a:r>
          </a:p>
          <a:p>
            <a:r>
              <a:rPr lang="it-IT" sz="1200" b="1" i="0" kern="1200" dirty="0">
                <a:solidFill>
                  <a:schemeClr val="tx1"/>
                </a:solidFill>
                <a:effectLst/>
                <a:latin typeface="+mn-lt"/>
                <a:ea typeface="+mn-ea"/>
                <a:cs typeface="+mn-cs"/>
              </a:rPr>
              <a:t>Aspetti Chiave dell'</a:t>
            </a:r>
            <a:r>
              <a:rPr lang="it-IT" sz="1200" b="1" i="0" kern="1200" dirty="0" err="1">
                <a:solidFill>
                  <a:schemeClr val="tx1"/>
                </a:solidFill>
                <a:effectLst/>
                <a:latin typeface="+mn-lt"/>
                <a:ea typeface="+mn-ea"/>
                <a:cs typeface="+mn-cs"/>
              </a:rPr>
              <a:t>Uncoartrosi</a:t>
            </a:r>
            <a:r>
              <a:rPr lang="it-IT" sz="1200" b="1" i="0" kern="1200" dirty="0">
                <a:solidFill>
                  <a:schemeClr val="tx1"/>
                </a:solidFill>
                <a:effectLst/>
                <a:latin typeface="+mn-lt"/>
                <a:ea typeface="+mn-ea"/>
                <a:cs typeface="+mn-cs"/>
              </a:rPr>
              <a:t>:</a:t>
            </a:r>
            <a:endParaRPr lang="it-IT" sz="1200" b="0"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Definizione:</a:t>
            </a:r>
            <a:r>
              <a:rPr lang="it-IT" sz="1200" b="0" i="0" kern="1200" dirty="0">
                <a:solidFill>
                  <a:schemeClr val="tx1"/>
                </a:solidFill>
                <a:effectLst/>
                <a:latin typeface="+mn-lt"/>
                <a:ea typeface="+mn-ea"/>
                <a:cs typeface="+mn-cs"/>
              </a:rPr>
              <a:t> Processo artrosico delle articolazioni uncovertebrali nella colonna cervicale.</a:t>
            </a:r>
          </a:p>
          <a:p>
            <a:r>
              <a:rPr lang="it-IT" sz="1200" b="1" i="0" kern="1200" dirty="0">
                <a:solidFill>
                  <a:schemeClr val="tx1"/>
                </a:solidFill>
                <a:effectLst/>
                <a:latin typeface="+mn-lt"/>
                <a:ea typeface="+mn-ea"/>
                <a:cs typeface="+mn-cs"/>
              </a:rPr>
              <a:t>Cause:</a:t>
            </a:r>
            <a:r>
              <a:rPr lang="it-IT" sz="1200" b="0" i="0" kern="1200" dirty="0">
                <a:solidFill>
                  <a:schemeClr val="tx1"/>
                </a:solidFill>
                <a:effectLst/>
                <a:latin typeface="+mn-lt"/>
                <a:ea typeface="+mn-ea"/>
                <a:cs typeface="+mn-cs"/>
              </a:rPr>
              <a:t> Principalmente dovuta all'invecchiamento (spesso dopo i 50 anni), può essere causata anche da rigidità muscolare cronica o traumi pregressi.</a:t>
            </a:r>
          </a:p>
          <a:p>
            <a:r>
              <a:rPr lang="it-IT" sz="1200" b="1" i="0" kern="1200" dirty="0">
                <a:solidFill>
                  <a:schemeClr val="tx1"/>
                </a:solidFill>
                <a:effectLst/>
                <a:latin typeface="+mn-lt"/>
                <a:ea typeface="+mn-ea"/>
                <a:cs typeface="+mn-cs"/>
              </a:rPr>
              <a:t>Sintomi:</a:t>
            </a:r>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 Dolore al collo (cervicalgia), rigidità, crepitii nei movimenti (scricchiolii), cefalea muscolo-tensiva, vertigini e, nei casi più gravi, formicolii o dolore irradiato alle braccia</a:t>
            </a:r>
          </a:p>
          <a:p>
            <a:r>
              <a:rPr lang="it-IT" sz="1200" b="0" i="0" kern="1200" dirty="0">
                <a:solidFill>
                  <a:schemeClr val="tx1"/>
                </a:solidFill>
                <a:effectLst/>
                <a:latin typeface="+mn-lt"/>
                <a:ea typeface="+mn-ea"/>
                <a:cs typeface="+mn-cs"/>
              </a:rPr>
              <a:t>.</a:t>
            </a:r>
          </a:p>
          <a:p>
            <a:r>
              <a:rPr lang="it-IT" sz="1200" b="1" i="0" kern="1200" dirty="0">
                <a:solidFill>
                  <a:schemeClr val="tx1"/>
                </a:solidFill>
                <a:effectLst/>
                <a:latin typeface="+mn-lt"/>
                <a:ea typeface="+mn-ea"/>
                <a:cs typeface="+mn-cs"/>
              </a:rPr>
              <a:t>Diagnosi:</a:t>
            </a:r>
            <a:r>
              <a:rPr lang="it-IT" sz="1200" b="0" i="0" kern="1200" dirty="0">
                <a:solidFill>
                  <a:schemeClr val="tx1"/>
                </a:solidFill>
                <a:effectLst/>
                <a:latin typeface="+mn-lt"/>
                <a:ea typeface="+mn-ea"/>
                <a:cs typeface="+mn-cs"/>
              </a:rPr>
              <a:t> Si diagnostica principalmente tramite radiografia (RX), che mostra la riduzione dello spazio articolare e la formazione di </a:t>
            </a:r>
            <a:r>
              <a:rPr lang="it-IT" sz="1200" b="0" i="0" kern="1200" dirty="0">
                <a:solidFill>
                  <a:schemeClr val="tx1"/>
                </a:solidFill>
                <a:effectLst/>
                <a:latin typeface="+mn-lt"/>
                <a:ea typeface="+mn-ea"/>
                <a:cs typeface="+mn-cs"/>
                <a:hlinkClick r:id="rId3"/>
              </a:rPr>
              <a:t>osteofiti</a:t>
            </a:r>
            <a:r>
              <a:rPr lang="it-IT" sz="1200" b="0" i="0" kern="1200" dirty="0">
                <a:solidFill>
                  <a:schemeClr val="tx1"/>
                </a:solidFill>
                <a:effectLst/>
                <a:latin typeface="+mn-lt"/>
                <a:ea typeface="+mn-ea"/>
                <a:cs typeface="+mn-cs"/>
              </a:rPr>
              <a:t>.</a:t>
            </a:r>
          </a:p>
          <a:p>
            <a:r>
              <a:rPr lang="it-IT" sz="1200" b="1" i="0" kern="1200" dirty="0">
                <a:solidFill>
                  <a:schemeClr val="tx1"/>
                </a:solidFill>
                <a:effectLst/>
                <a:latin typeface="+mn-lt"/>
                <a:ea typeface="+mn-ea"/>
                <a:cs typeface="+mn-cs"/>
              </a:rPr>
              <a:t>Trattamento:</a:t>
            </a:r>
            <a:r>
              <a:rPr lang="it-IT" sz="1200" b="0" i="0" kern="1200" dirty="0">
                <a:solidFill>
                  <a:schemeClr val="tx1"/>
                </a:solidFill>
                <a:effectLst/>
                <a:latin typeface="+mn-lt"/>
                <a:ea typeface="+mn-ea"/>
                <a:cs typeface="+mn-cs"/>
              </a:rPr>
              <a:t> Non è reversibile, ma gestibile. Il trattamento include fisioterapia, esercizi di mobilità, correzione posturale e farmaci antinfiammatori (FANS) o miorilassanti. </a:t>
            </a:r>
          </a:p>
          <a:p>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10</a:t>
            </a:fld>
            <a:endParaRPr lang="it-IT"/>
          </a:p>
        </p:txBody>
      </p:sp>
    </p:spTree>
    <p:extLst>
      <p:ext uri="{BB962C8B-B14F-4D97-AF65-F5344CB8AC3E}">
        <p14:creationId xmlns:p14="http://schemas.microsoft.com/office/powerpoint/2010/main" val="738372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egnaposto immagine diapositiva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Segnaposto note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it-IT" altLang="it-IT"/>
          </a:p>
        </p:txBody>
      </p:sp>
      <p:sp>
        <p:nvSpPr>
          <p:cNvPr id="16388" name="Segnaposto numero diapositiva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ADE758B-6765-4A29-AC9D-9739C175152C}" type="slidenum">
              <a:rPr lang="it-IT" altLang="it-IT" smtClean="0"/>
              <a:pPr/>
              <a:t>22</a:t>
            </a:fld>
            <a:endParaRPr lang="it-IT" altLang="it-IT"/>
          </a:p>
        </p:txBody>
      </p:sp>
    </p:spTree>
    <p:extLst>
      <p:ext uri="{BB962C8B-B14F-4D97-AF65-F5344CB8AC3E}">
        <p14:creationId xmlns:p14="http://schemas.microsoft.com/office/powerpoint/2010/main" val="3102816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30F2B-A567-657F-4F43-D1ED4B8B23E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095D9E7-415F-BD70-6F15-DC876D1A125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67F0DF99-04F6-634D-7D4B-B4DBFEB230E7}"/>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2ADCCDF1-437F-2F8C-1D14-205BB6770D15}"/>
              </a:ext>
            </a:extLst>
          </p:cNvPr>
          <p:cNvSpPr>
            <a:spLocks noGrp="1"/>
          </p:cNvSpPr>
          <p:nvPr>
            <p:ph type="sldNum" sz="quarter" idx="5"/>
          </p:nvPr>
        </p:nvSpPr>
        <p:spPr/>
        <p:txBody>
          <a:bodyPr/>
          <a:lstStyle/>
          <a:p>
            <a:fld id="{1CCAF729-CD07-4F68-A5E4-B7A4576B16C3}" type="slidenum">
              <a:rPr lang="it-IT" smtClean="0"/>
              <a:t>28</a:t>
            </a:fld>
            <a:endParaRPr lang="it-IT"/>
          </a:p>
        </p:txBody>
      </p:sp>
    </p:spTree>
    <p:extLst>
      <p:ext uri="{BB962C8B-B14F-4D97-AF65-F5344CB8AC3E}">
        <p14:creationId xmlns:p14="http://schemas.microsoft.com/office/powerpoint/2010/main" val="3132376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1CCAF729-CD07-4F68-A5E4-B7A4576B16C3}" type="slidenum">
              <a:rPr lang="it-IT" smtClean="0"/>
              <a:t>36</a:t>
            </a:fld>
            <a:endParaRPr lang="it-IT"/>
          </a:p>
        </p:txBody>
      </p:sp>
    </p:spTree>
    <p:extLst>
      <p:ext uri="{BB962C8B-B14F-4D97-AF65-F5344CB8AC3E}">
        <p14:creationId xmlns:p14="http://schemas.microsoft.com/office/powerpoint/2010/main" val="1216746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Nello </a:t>
            </a:r>
            <a:r>
              <a:rPr lang="it-IT" sz="1200" b="1" i="0" kern="1200" dirty="0">
                <a:solidFill>
                  <a:schemeClr val="tx1"/>
                </a:solidFill>
                <a:effectLst/>
                <a:latin typeface="+mn-lt"/>
                <a:ea typeface="+mn-ea"/>
                <a:cs typeface="+mn-cs"/>
              </a:rPr>
              <a:t>spazio </a:t>
            </a:r>
            <a:r>
              <a:rPr lang="it-IT" sz="1200" b="1" i="0" kern="1200" dirty="0" err="1">
                <a:solidFill>
                  <a:schemeClr val="tx1"/>
                </a:solidFill>
                <a:effectLst/>
                <a:latin typeface="+mn-lt"/>
                <a:ea typeface="+mn-ea"/>
                <a:cs typeface="+mn-cs"/>
              </a:rPr>
              <a:t>interscalenico</a:t>
            </a:r>
            <a:r>
              <a:rPr lang="it-IT" sz="1200" b="0" i="0" kern="1200" dirty="0">
                <a:solidFill>
                  <a:schemeClr val="tx1"/>
                </a:solidFill>
                <a:effectLst/>
                <a:latin typeface="+mn-lt"/>
                <a:ea typeface="+mn-ea"/>
                <a:cs typeface="+mn-cs"/>
              </a:rPr>
              <a:t> (o triangolo </a:t>
            </a:r>
            <a:r>
              <a:rPr lang="it-IT" sz="1200" b="0" i="0" kern="1200" dirty="0" err="1">
                <a:solidFill>
                  <a:schemeClr val="tx1"/>
                </a:solidFill>
                <a:effectLst/>
                <a:latin typeface="+mn-lt"/>
                <a:ea typeface="+mn-ea"/>
                <a:cs typeface="+mn-cs"/>
              </a:rPr>
              <a:t>interscalenico</a:t>
            </a:r>
            <a:r>
              <a:rPr lang="it-IT" sz="1200" b="0" i="0" kern="1200" dirty="0">
                <a:solidFill>
                  <a:schemeClr val="tx1"/>
                </a:solidFill>
                <a:effectLst/>
                <a:latin typeface="+mn-lt"/>
                <a:ea typeface="+mn-ea"/>
                <a:cs typeface="+mn-cs"/>
              </a:rPr>
              <a:t>), delimitato dai muscoli scaleno anteriore e scaleno medio e dalla prima costa, passano strutture fondamentali per l'arto superiore: </a:t>
            </a:r>
          </a:p>
          <a:p>
            <a:endParaRPr lang="it-IT" sz="1200" b="1"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Plesso brachiale:</a:t>
            </a:r>
            <a:r>
              <a:rPr lang="it-IT" sz="1200" b="0" i="0" kern="1200" dirty="0">
                <a:solidFill>
                  <a:schemeClr val="tx1"/>
                </a:solidFill>
                <a:effectLst/>
                <a:latin typeface="+mn-lt"/>
                <a:ea typeface="+mn-ea"/>
                <a:cs typeface="+mn-cs"/>
              </a:rPr>
              <a:t> in particolare le sue radici (C5-T1) e i tronchi primari, che forniscono l'innervazione motoria e sensitiva a braccio e mano.</a:t>
            </a:r>
          </a:p>
          <a:p>
            <a:r>
              <a:rPr lang="it-IT" sz="1200" b="1" i="0" kern="1200" dirty="0">
                <a:solidFill>
                  <a:schemeClr val="tx1"/>
                </a:solidFill>
                <a:effectLst/>
                <a:latin typeface="+mn-lt"/>
                <a:ea typeface="+mn-ea"/>
                <a:cs typeface="+mn-cs"/>
              </a:rPr>
              <a:t>Arteria succlavia:</a:t>
            </a:r>
            <a:r>
              <a:rPr lang="it-IT" sz="1200" b="0" i="0" kern="1200" dirty="0">
                <a:solidFill>
                  <a:schemeClr val="tx1"/>
                </a:solidFill>
                <a:effectLst/>
                <a:latin typeface="+mn-lt"/>
                <a:ea typeface="+mn-ea"/>
                <a:cs typeface="+mn-cs"/>
              </a:rPr>
              <a:t> il principale vaso che porta sangue ossigenato all'arto superiore. </a:t>
            </a:r>
          </a:p>
          <a:p>
            <a:endParaRPr lang="it-IT" sz="1200" b="1"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Nota importante:</a:t>
            </a:r>
            <a:r>
              <a:rPr lang="it-IT" sz="1200" b="0" i="0" kern="1200" dirty="0">
                <a:solidFill>
                  <a:schemeClr val="tx1"/>
                </a:solidFill>
                <a:effectLst/>
                <a:latin typeface="+mn-lt"/>
                <a:ea typeface="+mn-ea"/>
                <a:cs typeface="+mn-cs"/>
              </a:rPr>
              <a:t> La </a:t>
            </a:r>
            <a:r>
              <a:rPr lang="it-IT" sz="1200" b="1" i="0" kern="1200" dirty="0">
                <a:solidFill>
                  <a:schemeClr val="tx1"/>
                </a:solidFill>
                <a:effectLst/>
                <a:latin typeface="+mn-lt"/>
                <a:ea typeface="+mn-ea"/>
                <a:cs typeface="+mn-cs"/>
              </a:rPr>
              <a:t>vena succlavia</a:t>
            </a:r>
            <a:r>
              <a:rPr lang="it-IT" sz="1200" b="0" i="0" kern="1200" dirty="0">
                <a:solidFill>
                  <a:schemeClr val="tx1"/>
                </a:solidFill>
                <a:effectLst/>
                <a:latin typeface="+mn-lt"/>
                <a:ea typeface="+mn-ea"/>
                <a:cs typeface="+mn-cs"/>
              </a:rPr>
              <a:t> non attraversa questo spazio, poiché passa </a:t>
            </a:r>
            <a:r>
              <a:rPr lang="it-IT" sz="1200" b="0" i="1" kern="1200" dirty="0">
                <a:solidFill>
                  <a:schemeClr val="tx1"/>
                </a:solidFill>
                <a:effectLst/>
                <a:latin typeface="+mn-lt"/>
                <a:ea typeface="+mn-ea"/>
                <a:cs typeface="+mn-cs"/>
              </a:rPr>
              <a:t>anteriormente</a:t>
            </a:r>
            <a:r>
              <a:rPr lang="it-IT" sz="1200" b="0" i="0" kern="1200" dirty="0">
                <a:solidFill>
                  <a:schemeClr val="tx1"/>
                </a:solidFill>
                <a:effectLst/>
                <a:latin typeface="+mn-lt"/>
                <a:ea typeface="+mn-ea"/>
                <a:cs typeface="+mn-cs"/>
              </a:rPr>
              <a:t> al muscolo scaleno anteriore.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Questo spazio è clinicamente rilevante sia per l'esecuzione del </a:t>
            </a:r>
            <a:r>
              <a:rPr lang="it-IT" sz="1200" b="1" i="0" kern="1200" dirty="0">
                <a:solidFill>
                  <a:schemeClr val="tx1"/>
                </a:solidFill>
                <a:effectLst/>
                <a:latin typeface="+mn-lt"/>
                <a:ea typeface="+mn-ea"/>
                <a:cs typeface="+mn-cs"/>
              </a:rPr>
              <a:t>blocco del plesso brachiale</a:t>
            </a:r>
            <a:r>
              <a:rPr lang="it-IT" sz="1200" b="0" i="0" kern="1200" dirty="0">
                <a:solidFill>
                  <a:schemeClr val="tx1"/>
                </a:solidFill>
                <a:effectLst/>
                <a:latin typeface="+mn-lt"/>
                <a:ea typeface="+mn-ea"/>
                <a:cs typeface="+mn-cs"/>
              </a:rPr>
              <a:t> in anestesia, sia perché una sua restrizione può causare la </a:t>
            </a:r>
            <a:r>
              <a:rPr lang="it-IT" sz="1200" b="1" i="0" kern="1200" dirty="0">
                <a:solidFill>
                  <a:schemeClr val="tx1"/>
                </a:solidFill>
                <a:effectLst/>
                <a:latin typeface="+mn-lt"/>
                <a:ea typeface="+mn-ea"/>
                <a:cs typeface="+mn-cs"/>
              </a:rPr>
              <a:t>sindrome dello stretto toracico</a:t>
            </a:r>
            <a:r>
              <a:rPr lang="it-IT" sz="1200" b="0" i="0" kern="1200" dirty="0">
                <a:solidFill>
                  <a:schemeClr val="tx1"/>
                </a:solidFill>
                <a:effectLst/>
                <a:latin typeface="+mn-lt"/>
                <a:ea typeface="+mn-ea"/>
                <a:cs typeface="+mn-cs"/>
              </a:rPr>
              <a:t> (TOS), con compressione dei nervi o dei vasi citati.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Hai sintomi particolari come </a:t>
            </a:r>
            <a:r>
              <a:rPr lang="it-IT" sz="1200" b="1" i="0" kern="1200" dirty="0">
                <a:solidFill>
                  <a:schemeClr val="tx1"/>
                </a:solidFill>
                <a:effectLst/>
                <a:latin typeface="+mn-lt"/>
                <a:ea typeface="+mn-ea"/>
                <a:cs typeface="+mn-cs"/>
              </a:rPr>
              <a:t>formicolio</a:t>
            </a:r>
            <a:r>
              <a:rPr lang="it-IT" sz="1200" b="0" i="0" kern="1200" dirty="0">
                <a:solidFill>
                  <a:schemeClr val="tx1"/>
                </a:solidFill>
                <a:effectLst/>
                <a:latin typeface="+mn-lt"/>
                <a:ea typeface="+mn-ea"/>
                <a:cs typeface="+mn-cs"/>
              </a:rPr>
              <a:t> o </a:t>
            </a:r>
            <a:r>
              <a:rPr lang="it-IT" sz="1200" b="1" i="0" kern="1200" dirty="0">
                <a:solidFill>
                  <a:schemeClr val="tx1"/>
                </a:solidFill>
                <a:effectLst/>
                <a:latin typeface="+mn-lt"/>
                <a:ea typeface="+mn-ea"/>
                <a:cs typeface="+mn-cs"/>
              </a:rPr>
              <a:t>dolore</a:t>
            </a:r>
            <a:r>
              <a:rPr lang="it-IT" sz="1200" b="0" i="0" kern="1200" dirty="0">
                <a:solidFill>
                  <a:schemeClr val="tx1"/>
                </a:solidFill>
                <a:effectLst/>
                <a:latin typeface="+mn-lt"/>
                <a:ea typeface="+mn-ea"/>
                <a:cs typeface="+mn-cs"/>
              </a:rPr>
              <a:t> al braccio che ti hanno spinto a fare questa ricerca?</a:t>
            </a:r>
          </a:p>
          <a:p>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40</a:t>
            </a:fld>
            <a:endParaRPr lang="it-IT"/>
          </a:p>
        </p:txBody>
      </p:sp>
    </p:spTree>
    <p:extLst>
      <p:ext uri="{BB962C8B-B14F-4D97-AF65-F5344CB8AC3E}">
        <p14:creationId xmlns:p14="http://schemas.microsoft.com/office/powerpoint/2010/main" val="26635843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Ecco una descrizione dettagliata e le indicazioni per visualizzare le sezioni trasversali del collo a livello della quinta vertebra cervicale (C5), focalizzandosi sui muscoli scaleni e i loro rapporti con le fasce cervicali.</a:t>
            </a:r>
          </a:p>
          <a:p>
            <a:endParaRPr lang="it-IT" sz="1200" b="1"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Struttura in sezione trasversale (Livello C5)</a:t>
            </a:r>
          </a:p>
          <a:p>
            <a:r>
              <a:rPr lang="it-IT" sz="1200" b="0" i="0" kern="1200" dirty="0">
                <a:solidFill>
                  <a:schemeClr val="tx1"/>
                </a:solidFill>
                <a:effectLst/>
                <a:latin typeface="+mn-lt"/>
                <a:ea typeface="+mn-ea"/>
                <a:cs typeface="+mn-cs"/>
              </a:rPr>
              <a:t>A livello di C5, una sezione trasversale mostra la vertebra cervicale al centro, circondata da piani muscolari avvolti da fasce. I muscoli scaleni si trovano nella regione laterale, profondi rispetto allo sterno-</a:t>
            </a:r>
            <a:r>
              <a:rPr lang="it-IT" sz="1200" b="0" i="0" kern="1200" dirty="0" err="1">
                <a:solidFill>
                  <a:schemeClr val="tx1"/>
                </a:solidFill>
                <a:effectLst/>
                <a:latin typeface="+mn-lt"/>
                <a:ea typeface="+mn-ea"/>
                <a:cs typeface="+mn-cs"/>
              </a:rPr>
              <a:t>cleido</a:t>
            </a:r>
            <a:r>
              <a:rPr lang="it-IT" sz="1200" b="0" i="0" kern="1200" dirty="0">
                <a:solidFill>
                  <a:schemeClr val="tx1"/>
                </a:solidFill>
                <a:effectLst/>
                <a:latin typeface="+mn-lt"/>
                <a:ea typeface="+mn-ea"/>
                <a:cs typeface="+mn-cs"/>
              </a:rPr>
              <a:t>-mastoideo (SCM). </a:t>
            </a:r>
          </a:p>
          <a:p>
            <a:endParaRPr lang="it-IT" sz="1200" b="1"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Elementi chiave in sezione (da superficiale a profondo):</a:t>
            </a:r>
            <a:endParaRPr lang="it-IT" sz="1200" b="0"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Fascia Cervicale Superficiale (Investente):</a:t>
            </a:r>
            <a:r>
              <a:rPr lang="it-IT" sz="1200" b="0" i="0" kern="1200" dirty="0">
                <a:solidFill>
                  <a:schemeClr val="tx1"/>
                </a:solidFill>
                <a:effectLst/>
                <a:latin typeface="+mn-lt"/>
                <a:ea typeface="+mn-ea"/>
                <a:cs typeface="+mn-cs"/>
              </a:rPr>
              <a:t> Circonda tutto il collo, avvolgendo il muscolo SCM e il trapezio.</a:t>
            </a:r>
          </a:p>
          <a:p>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41</a:t>
            </a:fld>
            <a:endParaRPr lang="it-IT"/>
          </a:p>
        </p:txBody>
      </p:sp>
    </p:spTree>
    <p:extLst>
      <p:ext uri="{BB962C8B-B14F-4D97-AF65-F5344CB8AC3E}">
        <p14:creationId xmlns:p14="http://schemas.microsoft.com/office/powerpoint/2010/main" val="2087638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In una sezione trasversa del collo passante per la quinta vertebra cervicale (C5), sono visibili numerosi muscoli organizzati in compartimenti fasciali, che circondano la colonna vertebrale e le strutture viscerali.</a:t>
            </a:r>
          </a:p>
          <a:p>
            <a:r>
              <a:rPr lang="it-IT" sz="1200" b="0" i="0" kern="1200" dirty="0">
                <a:solidFill>
                  <a:schemeClr val="tx1"/>
                </a:solidFill>
                <a:effectLst/>
                <a:latin typeface="+mn-lt"/>
                <a:ea typeface="+mn-ea"/>
                <a:cs typeface="+mn-cs"/>
              </a:rPr>
              <a:t>Ecco i principali muscoli visibili, suddivisi per posizione:</a:t>
            </a:r>
          </a:p>
          <a:p>
            <a:endParaRPr lang="it-IT" sz="1200" b="0"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Muscoli Anteriori e Prevertebrali</a:t>
            </a:r>
            <a:r>
              <a:rPr lang="it-IT" sz="1200" b="0" i="0" kern="1200" dirty="0">
                <a:solidFill>
                  <a:schemeClr val="tx1"/>
                </a:solidFill>
                <a:effectLst/>
                <a:latin typeface="+mn-lt"/>
                <a:ea typeface="+mn-ea"/>
                <a:cs typeface="+mn-cs"/>
              </a:rPr>
              <a:t> </a:t>
            </a:r>
          </a:p>
          <a:p>
            <a:r>
              <a:rPr lang="it-IT" sz="1200" b="1" i="0" kern="1200" dirty="0">
                <a:solidFill>
                  <a:schemeClr val="tx1"/>
                </a:solidFill>
                <a:effectLst/>
                <a:latin typeface="+mn-lt"/>
                <a:ea typeface="+mn-ea"/>
                <a:cs typeface="+mn-cs"/>
              </a:rPr>
              <a:t>Muscolo </a:t>
            </a:r>
            <a:r>
              <a:rPr lang="it-IT" sz="1200" b="1" i="0" kern="1200" dirty="0" err="1">
                <a:solidFill>
                  <a:schemeClr val="tx1"/>
                </a:solidFill>
                <a:effectLst/>
                <a:latin typeface="+mn-lt"/>
                <a:ea typeface="+mn-ea"/>
                <a:cs typeface="+mn-cs"/>
              </a:rPr>
              <a:t>Platisma</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Superficiale, sottile muscolo cutaneo.</a:t>
            </a:r>
          </a:p>
          <a:p>
            <a:r>
              <a:rPr lang="it-IT" sz="1200" b="1" i="0" kern="1200" dirty="0">
                <a:solidFill>
                  <a:schemeClr val="tx1"/>
                </a:solidFill>
                <a:effectLst/>
                <a:latin typeface="+mn-lt"/>
                <a:ea typeface="+mn-ea"/>
                <a:cs typeface="+mn-cs"/>
              </a:rPr>
              <a:t>Muscolo Sternocleidomastoideo (SCOM):</a:t>
            </a:r>
            <a:r>
              <a:rPr lang="it-IT" sz="1200" b="0" i="0" kern="1200" dirty="0">
                <a:solidFill>
                  <a:schemeClr val="tx1"/>
                </a:solidFill>
                <a:effectLst/>
                <a:latin typeface="+mn-lt"/>
                <a:ea typeface="+mn-ea"/>
                <a:cs typeface="+mn-cs"/>
              </a:rPr>
              <a:t> Muscolo grande e superficiale anterolaterale.</a:t>
            </a:r>
          </a:p>
          <a:p>
            <a:r>
              <a:rPr lang="it-IT" sz="1200" b="1" i="0" kern="1200" dirty="0">
                <a:solidFill>
                  <a:schemeClr val="tx1"/>
                </a:solidFill>
                <a:effectLst/>
                <a:latin typeface="+mn-lt"/>
                <a:ea typeface="+mn-ea"/>
                <a:cs typeface="+mn-cs"/>
              </a:rPr>
              <a:t>Muscoli Sottoioidei:</a:t>
            </a:r>
            <a:r>
              <a:rPr lang="it-IT" sz="1200" b="0" i="0" kern="1200" dirty="0">
                <a:solidFill>
                  <a:schemeClr val="tx1"/>
                </a:solidFill>
                <a:effectLst/>
                <a:latin typeface="+mn-lt"/>
                <a:ea typeface="+mn-ea"/>
                <a:cs typeface="+mn-cs"/>
              </a:rPr>
              <a:t> Tra cui il ventre superiore dell'</a:t>
            </a:r>
            <a:r>
              <a:rPr lang="it-IT" sz="1200" b="0" i="0" kern="1200" dirty="0" err="1">
                <a:solidFill>
                  <a:schemeClr val="tx1"/>
                </a:solidFill>
                <a:effectLst/>
                <a:latin typeface="+mn-lt"/>
                <a:ea typeface="+mn-ea"/>
                <a:cs typeface="+mn-cs"/>
              </a:rPr>
              <a:t>omoioideo</a:t>
            </a:r>
            <a:r>
              <a:rPr lang="it-IT" sz="1200" b="0" i="0" kern="1200" dirty="0">
                <a:solidFill>
                  <a:schemeClr val="tx1"/>
                </a:solidFill>
                <a:effectLst/>
                <a:latin typeface="+mn-lt"/>
                <a:ea typeface="+mn-ea"/>
                <a:cs typeface="+mn-cs"/>
              </a:rPr>
              <a:t> e muscoli tiroioideo/</a:t>
            </a:r>
            <a:r>
              <a:rPr lang="it-IT" sz="1200" b="0" i="0" kern="1200" dirty="0" err="1">
                <a:solidFill>
                  <a:schemeClr val="tx1"/>
                </a:solidFill>
                <a:effectLst/>
                <a:latin typeface="+mn-lt"/>
                <a:ea typeface="+mn-ea"/>
                <a:cs typeface="+mn-cs"/>
              </a:rPr>
              <a:t>sternoioideo</a:t>
            </a:r>
            <a:r>
              <a:rPr lang="it-IT" sz="1200" b="0" i="0" kern="1200" dirty="0">
                <a:solidFill>
                  <a:schemeClr val="tx1"/>
                </a:solidFill>
                <a:effectLst/>
                <a:latin typeface="+mn-lt"/>
                <a:ea typeface="+mn-ea"/>
                <a:cs typeface="+mn-cs"/>
              </a:rPr>
              <a:t>.</a:t>
            </a:r>
          </a:p>
          <a:p>
            <a:r>
              <a:rPr lang="it-IT" sz="1200" b="1" i="0" kern="1200" dirty="0">
                <a:solidFill>
                  <a:schemeClr val="tx1"/>
                </a:solidFill>
                <a:effectLst/>
                <a:latin typeface="+mn-lt"/>
                <a:ea typeface="+mn-ea"/>
                <a:cs typeface="+mn-cs"/>
              </a:rPr>
              <a:t>Muscoli Lunghi del Collo e della Testa (</a:t>
            </a:r>
            <a:r>
              <a:rPr lang="it-IT" sz="1200" b="1" i="0" kern="1200" dirty="0" err="1">
                <a:solidFill>
                  <a:schemeClr val="tx1"/>
                </a:solidFill>
                <a:effectLst/>
                <a:latin typeface="+mn-lt"/>
                <a:ea typeface="+mn-ea"/>
                <a:cs typeface="+mn-cs"/>
              </a:rPr>
              <a:t>Longus</a:t>
            </a:r>
            <a:r>
              <a:rPr lang="it-IT" sz="1200" b="1" i="0" kern="1200" dirty="0">
                <a:solidFill>
                  <a:schemeClr val="tx1"/>
                </a:solidFill>
                <a:effectLst/>
                <a:latin typeface="+mn-lt"/>
                <a:ea typeface="+mn-ea"/>
                <a:cs typeface="+mn-cs"/>
              </a:rPr>
              <a:t> colli/</a:t>
            </a:r>
            <a:r>
              <a:rPr lang="it-IT" sz="1200" b="1" i="0" kern="1200" dirty="0" err="1">
                <a:solidFill>
                  <a:schemeClr val="tx1"/>
                </a:solidFill>
                <a:effectLst/>
                <a:latin typeface="+mn-lt"/>
                <a:ea typeface="+mn-ea"/>
                <a:cs typeface="+mn-cs"/>
              </a:rPr>
              <a:t>capitis</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Muscoli profondi situati anteriormente ai corpi vertebrali.</a:t>
            </a:r>
          </a:p>
          <a:p>
            <a:r>
              <a:rPr lang="it-IT" sz="1200" b="1" i="0" kern="1200" dirty="0">
                <a:solidFill>
                  <a:schemeClr val="tx1"/>
                </a:solidFill>
                <a:effectLst/>
                <a:latin typeface="+mn-lt"/>
                <a:ea typeface="+mn-ea"/>
                <a:cs typeface="+mn-cs"/>
              </a:rPr>
              <a:t>Muscoli Scaleni (Anteriore, Medio e Posteriore):</a:t>
            </a:r>
            <a:r>
              <a:rPr lang="it-IT" sz="1200" b="0" i="0" kern="1200" dirty="0">
                <a:solidFill>
                  <a:schemeClr val="tx1"/>
                </a:solidFill>
                <a:effectLst/>
                <a:latin typeface="+mn-lt"/>
                <a:ea typeface="+mn-ea"/>
                <a:cs typeface="+mn-cs"/>
              </a:rPr>
              <a:t> Lateralmente, tra la colonna vertebrale e lo SCOM, fondamentali per la respirazione e la mobilità del collo.</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I muscoli scaleni (anteriore, medio, posteriore) sono localizzati profondamente nella regione laterale del collo,</a:t>
            </a:r>
          </a:p>
          <a:p>
            <a:r>
              <a:rPr lang="it-IT" sz="1200" b="0" i="0" kern="1200" dirty="0">
                <a:solidFill>
                  <a:schemeClr val="tx1"/>
                </a:solidFill>
                <a:effectLst/>
                <a:latin typeface="+mn-lt"/>
                <a:ea typeface="+mn-ea"/>
                <a:cs typeface="+mn-cs"/>
              </a:rPr>
              <a:t>situati al di sotto della fascia cervicale superficiale e del muscolo sternocleidomastoideo.</a:t>
            </a:r>
          </a:p>
          <a:p>
            <a:r>
              <a:rPr lang="it-IT" sz="1200" b="0" i="0" kern="1200" dirty="0">
                <a:solidFill>
                  <a:schemeClr val="tx1"/>
                </a:solidFill>
                <a:effectLst/>
                <a:latin typeface="+mn-lt"/>
                <a:ea typeface="+mn-ea"/>
                <a:cs typeface="+mn-cs"/>
              </a:rPr>
              <a:t>Essi sono rivestiti dalla fascia prevertebrale (o profonda), che li avvolge e li separa dai piani superficiali, formando la </a:t>
            </a:r>
            <a:r>
              <a:rPr lang="it-IT" sz="1200" b="1" i="0" kern="1200" dirty="0">
                <a:solidFill>
                  <a:schemeClr val="tx1"/>
                </a:solidFill>
                <a:effectLst/>
                <a:latin typeface="+mn-lt"/>
                <a:ea typeface="+mn-ea"/>
                <a:cs typeface="+mn-cs"/>
              </a:rPr>
              <a:t>loggia che contiene il plesso brachiale e l'arteria succlavia</a:t>
            </a:r>
            <a:r>
              <a:rPr lang="it-IT" sz="1200" b="0" i="0" kern="1200" dirty="0">
                <a:solidFill>
                  <a:schemeClr val="tx1"/>
                </a:solidFill>
                <a:effectLst/>
                <a:latin typeface="+mn-lt"/>
                <a:ea typeface="+mn-ea"/>
                <a:cs typeface="+mn-cs"/>
              </a:rPr>
              <a:t>.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Ecco i dettagli anatomici principali:</a:t>
            </a:r>
          </a:p>
          <a:p>
            <a:r>
              <a:rPr lang="it-IT" sz="1200" b="1" i="0" kern="1200" dirty="0">
                <a:solidFill>
                  <a:schemeClr val="tx1"/>
                </a:solidFill>
                <a:effectLst/>
                <a:latin typeface="+mn-lt"/>
                <a:ea typeface="+mn-ea"/>
                <a:cs typeface="+mn-cs"/>
              </a:rPr>
              <a:t>Rapporto con le Fasce:</a:t>
            </a:r>
            <a:r>
              <a:rPr lang="it-IT" sz="1200" b="0" i="0" kern="1200" dirty="0">
                <a:solidFill>
                  <a:schemeClr val="tx1"/>
                </a:solidFill>
                <a:effectLst/>
                <a:latin typeface="+mn-lt"/>
                <a:ea typeface="+mn-ea"/>
                <a:cs typeface="+mn-cs"/>
              </a:rPr>
              <a:t> La fascia cervicale profonda (strato prevertebrale) avvolge gli scaleni, estendendosi ai tubercoli dei processi trasversi delle vertebre cervicali.</a:t>
            </a:r>
          </a:p>
          <a:p>
            <a:r>
              <a:rPr lang="it-IT" sz="1200" b="1" i="0" kern="1200" dirty="0">
                <a:solidFill>
                  <a:schemeClr val="tx1"/>
                </a:solidFill>
                <a:effectLst/>
                <a:latin typeface="+mn-lt"/>
                <a:ea typeface="+mn-ea"/>
                <a:cs typeface="+mn-cs"/>
              </a:rPr>
              <a:t>Posizione Profonda:</a:t>
            </a:r>
            <a:r>
              <a:rPr lang="it-IT" sz="1200" b="0" i="0" kern="1200" dirty="0">
                <a:solidFill>
                  <a:schemeClr val="tx1"/>
                </a:solidFill>
                <a:effectLst/>
                <a:latin typeface="+mn-lt"/>
                <a:ea typeface="+mn-ea"/>
                <a:cs typeface="+mn-cs"/>
              </a:rPr>
              <a:t> Sono situati profondamente nel collo, situandosi lateralmente rispetto ai muscoli prevertebrali e ai visceri del collo.</a:t>
            </a:r>
          </a:p>
          <a:p>
            <a:r>
              <a:rPr lang="it-IT" sz="1200" b="1" i="0" kern="1200" dirty="0">
                <a:solidFill>
                  <a:schemeClr val="tx1"/>
                </a:solidFill>
                <a:effectLst/>
                <a:latin typeface="+mn-lt"/>
                <a:ea typeface="+mn-ea"/>
                <a:cs typeface="+mn-cs"/>
                <a:hlinkClick r:id="rId3"/>
              </a:rPr>
              <a:t>Spazio </a:t>
            </a:r>
            <a:r>
              <a:rPr lang="it-IT" sz="1200" b="1" i="0" kern="1200" dirty="0" err="1">
                <a:solidFill>
                  <a:schemeClr val="tx1"/>
                </a:solidFill>
                <a:effectLst/>
                <a:latin typeface="+mn-lt"/>
                <a:ea typeface="+mn-ea"/>
                <a:cs typeface="+mn-cs"/>
                <a:hlinkClick r:id="rId3"/>
              </a:rPr>
              <a:t>Interscalenico</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Tra lo scaleno anteriore e medio si forma uno spazio (fessura scalena) delimitato dalla fascia, attraverso il quale passano l'arteria succlavia e i tronchi del plesso brachiale.</a:t>
            </a:r>
          </a:p>
          <a:p>
            <a:r>
              <a:rPr lang="it-IT" sz="1200" b="1" i="0" kern="1200" dirty="0">
                <a:solidFill>
                  <a:schemeClr val="tx1"/>
                </a:solidFill>
                <a:effectLst/>
                <a:latin typeface="+mn-lt"/>
                <a:ea typeface="+mn-ea"/>
                <a:cs typeface="+mn-cs"/>
              </a:rPr>
              <a:t>Rapporti Superficiali:</a:t>
            </a:r>
            <a:r>
              <a:rPr lang="it-IT" sz="1200" b="0" i="0" kern="1200" dirty="0">
                <a:solidFill>
                  <a:schemeClr val="tx1"/>
                </a:solidFill>
                <a:effectLst/>
                <a:latin typeface="+mn-lt"/>
                <a:ea typeface="+mn-ea"/>
                <a:cs typeface="+mn-cs"/>
              </a:rPr>
              <a:t> Il muscolo sternocleidomastoideo copre in parte gli scaleni nella regione laterale. </a:t>
            </a:r>
          </a:p>
          <a:p>
            <a:r>
              <a:rPr lang="it-IT" sz="1200" b="0" i="0" kern="1200" dirty="0">
                <a:solidFill>
                  <a:schemeClr val="tx1"/>
                </a:solidFill>
                <a:effectLst/>
                <a:latin typeface="+mn-lt"/>
                <a:ea typeface="+mn-ea"/>
                <a:cs typeface="+mn-cs"/>
              </a:rPr>
              <a:t>In sintesi, gli scaleni sono muscoli profondi, avvolti dalla fascia prevertebrale e posizionati tra le coste (inserzione inferiore) e i processi trasversi cervicali (origine superiore). </a:t>
            </a:r>
          </a:p>
          <a:p>
            <a:endParaRPr lang="it-IT" sz="1200" b="0"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Muscoli Posteriori (Docce Vertebrali/Nuca)</a:t>
            </a:r>
            <a:endParaRPr lang="it-IT" sz="1200" b="0"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Muscolo Trapezio:</a:t>
            </a:r>
            <a:r>
              <a:rPr lang="it-IT" sz="1200" b="0" i="0" kern="1200" dirty="0">
                <a:solidFill>
                  <a:schemeClr val="tx1"/>
                </a:solidFill>
                <a:effectLst/>
                <a:latin typeface="+mn-lt"/>
                <a:ea typeface="+mn-ea"/>
                <a:cs typeface="+mn-cs"/>
              </a:rPr>
              <a:t> Il più superficiale dei muscoli posteriori.</a:t>
            </a:r>
          </a:p>
          <a:p>
            <a:r>
              <a:rPr lang="it-IT" sz="1200" b="1" i="0" kern="1200" dirty="0">
                <a:solidFill>
                  <a:schemeClr val="tx1"/>
                </a:solidFill>
                <a:effectLst/>
                <a:latin typeface="+mn-lt"/>
                <a:ea typeface="+mn-ea"/>
                <a:cs typeface="+mn-cs"/>
              </a:rPr>
              <a:t>Muscolo Elevatore della Scapola:</a:t>
            </a:r>
            <a:r>
              <a:rPr lang="it-IT" sz="1200" b="0" i="0" kern="1200" dirty="0">
                <a:solidFill>
                  <a:schemeClr val="tx1"/>
                </a:solidFill>
                <a:effectLst/>
                <a:latin typeface="+mn-lt"/>
                <a:ea typeface="+mn-ea"/>
                <a:cs typeface="+mn-cs"/>
              </a:rPr>
              <a:t> Situato lateralmente ai muscoli più profondi.</a:t>
            </a:r>
          </a:p>
          <a:p>
            <a:r>
              <a:rPr lang="it-IT" sz="1200" b="1" i="0" kern="1200" dirty="0">
                <a:solidFill>
                  <a:schemeClr val="tx1"/>
                </a:solidFill>
                <a:effectLst/>
                <a:latin typeface="+mn-lt"/>
                <a:ea typeface="+mn-ea"/>
                <a:cs typeface="+mn-cs"/>
              </a:rPr>
              <a:t>Muscoli </a:t>
            </a:r>
            <a:r>
              <a:rPr lang="it-IT" sz="1200" b="1" i="0" kern="1200" dirty="0" err="1">
                <a:solidFill>
                  <a:schemeClr val="tx1"/>
                </a:solidFill>
                <a:effectLst/>
                <a:latin typeface="+mn-lt"/>
                <a:ea typeface="+mn-ea"/>
                <a:cs typeface="+mn-cs"/>
              </a:rPr>
              <a:t>Splenii</a:t>
            </a:r>
            <a:r>
              <a:rPr lang="it-IT" sz="1200" b="1" i="0" kern="1200" dirty="0">
                <a:solidFill>
                  <a:schemeClr val="tx1"/>
                </a:solidFill>
                <a:effectLst/>
                <a:latin typeface="+mn-lt"/>
                <a:ea typeface="+mn-ea"/>
                <a:cs typeface="+mn-cs"/>
              </a:rPr>
              <a:t> (della testa e del collo):</a:t>
            </a:r>
            <a:r>
              <a:rPr lang="it-IT" sz="1200" b="0" i="0" kern="1200" dirty="0">
                <a:solidFill>
                  <a:schemeClr val="tx1"/>
                </a:solidFill>
                <a:effectLst/>
                <a:latin typeface="+mn-lt"/>
                <a:ea typeface="+mn-ea"/>
                <a:cs typeface="+mn-cs"/>
              </a:rPr>
              <a:t> Postero-laterali.</a:t>
            </a:r>
          </a:p>
          <a:p>
            <a:r>
              <a:rPr lang="it-IT" sz="1200" b="1" i="0" kern="1200" dirty="0">
                <a:solidFill>
                  <a:schemeClr val="tx1"/>
                </a:solidFill>
                <a:effectLst/>
                <a:latin typeface="+mn-lt"/>
                <a:ea typeface="+mn-ea"/>
                <a:cs typeface="+mn-cs"/>
              </a:rPr>
              <a:t>Muscoli </a:t>
            </a:r>
            <a:r>
              <a:rPr lang="it-IT" sz="1200" b="1" i="0" kern="1200" dirty="0" err="1">
                <a:solidFill>
                  <a:schemeClr val="tx1"/>
                </a:solidFill>
                <a:effectLst/>
                <a:latin typeface="+mn-lt"/>
                <a:ea typeface="+mn-ea"/>
                <a:cs typeface="+mn-cs"/>
              </a:rPr>
              <a:t>Trasversospinali</a:t>
            </a:r>
            <a:r>
              <a:rPr lang="it-IT" sz="1200" b="1" i="0" kern="1200" dirty="0">
                <a:solidFill>
                  <a:schemeClr val="tx1"/>
                </a:solidFill>
                <a:effectLst/>
                <a:latin typeface="+mn-lt"/>
                <a:ea typeface="+mn-ea"/>
                <a:cs typeface="+mn-cs"/>
              </a:rPr>
              <a:t>:</a:t>
            </a:r>
            <a:endParaRPr lang="it-IT" sz="1200" b="0" i="0" kern="1200" dirty="0">
              <a:solidFill>
                <a:schemeClr val="tx1"/>
              </a:solidFill>
              <a:effectLst/>
              <a:latin typeface="+mn-lt"/>
              <a:ea typeface="+mn-ea"/>
              <a:cs typeface="+mn-cs"/>
            </a:endParaRPr>
          </a:p>
          <a:p>
            <a:pPr lvl="1"/>
            <a:r>
              <a:rPr lang="it-IT" sz="1200" b="1" i="0" kern="1200" dirty="0" err="1">
                <a:solidFill>
                  <a:schemeClr val="tx1"/>
                </a:solidFill>
                <a:effectLst/>
                <a:latin typeface="+mn-lt"/>
                <a:ea typeface="+mn-ea"/>
                <a:cs typeface="+mn-cs"/>
              </a:rPr>
              <a:t>Semispinale</a:t>
            </a:r>
            <a:r>
              <a:rPr lang="it-IT" sz="1200" b="1" i="0" kern="1200" dirty="0">
                <a:solidFill>
                  <a:schemeClr val="tx1"/>
                </a:solidFill>
                <a:effectLst/>
                <a:latin typeface="+mn-lt"/>
                <a:ea typeface="+mn-ea"/>
                <a:cs typeface="+mn-cs"/>
              </a:rPr>
              <a:t> della testa (</a:t>
            </a:r>
            <a:r>
              <a:rPr lang="it-IT" sz="1200" b="1" i="0" kern="1200" dirty="0" err="1">
                <a:solidFill>
                  <a:schemeClr val="tx1"/>
                </a:solidFill>
                <a:effectLst/>
                <a:latin typeface="+mn-lt"/>
                <a:ea typeface="+mn-ea"/>
                <a:cs typeface="+mn-cs"/>
              </a:rPr>
              <a:t>Capitis</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Muscolo potente e superficiale nel piano profondo.</a:t>
            </a:r>
          </a:p>
          <a:p>
            <a:pPr lvl="1"/>
            <a:r>
              <a:rPr lang="it-IT" sz="1200" b="1" i="0" kern="1200" dirty="0" err="1">
                <a:solidFill>
                  <a:schemeClr val="tx1"/>
                </a:solidFill>
                <a:effectLst/>
                <a:latin typeface="+mn-lt"/>
                <a:ea typeface="+mn-ea"/>
                <a:cs typeface="+mn-cs"/>
              </a:rPr>
              <a:t>Semispinale</a:t>
            </a:r>
            <a:r>
              <a:rPr lang="it-IT" sz="1200" b="1" i="0" kern="1200" dirty="0">
                <a:solidFill>
                  <a:schemeClr val="tx1"/>
                </a:solidFill>
                <a:effectLst/>
                <a:latin typeface="+mn-lt"/>
                <a:ea typeface="+mn-ea"/>
                <a:cs typeface="+mn-cs"/>
              </a:rPr>
              <a:t> del collo (</a:t>
            </a:r>
            <a:r>
              <a:rPr lang="it-IT" sz="1200" b="1" i="0" kern="1200" dirty="0" err="1">
                <a:solidFill>
                  <a:schemeClr val="tx1"/>
                </a:solidFill>
                <a:effectLst/>
                <a:latin typeface="+mn-lt"/>
                <a:ea typeface="+mn-ea"/>
                <a:cs typeface="+mn-cs"/>
              </a:rPr>
              <a:t>Cervicis</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Più profondo.</a:t>
            </a:r>
          </a:p>
          <a:p>
            <a:pPr lvl="1"/>
            <a:r>
              <a:rPr lang="it-IT" sz="1200" b="1" i="0" kern="1200" dirty="0">
                <a:solidFill>
                  <a:schemeClr val="tx1"/>
                </a:solidFill>
                <a:effectLst/>
                <a:latin typeface="+mn-lt"/>
                <a:ea typeface="+mn-ea"/>
                <a:cs typeface="+mn-cs"/>
              </a:rPr>
              <a:t>Multifido (</a:t>
            </a:r>
            <a:r>
              <a:rPr lang="it-IT" sz="1200" b="1" i="0" kern="1200" dirty="0" err="1">
                <a:solidFill>
                  <a:schemeClr val="tx1"/>
                </a:solidFill>
                <a:effectLst/>
                <a:latin typeface="+mn-lt"/>
                <a:ea typeface="+mn-ea"/>
                <a:cs typeface="+mn-cs"/>
              </a:rPr>
              <a:t>Multifidus</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Molto profondo, adiacente alle vertebre.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In sintesi, la sezione a livello C5 mostra una complessa stratificazione muscolare, con:</a:t>
            </a:r>
          </a:p>
          <a:p>
            <a:r>
              <a:rPr lang="it-IT" sz="1200" b="0" i="0" kern="1200" dirty="0">
                <a:solidFill>
                  <a:schemeClr val="tx1"/>
                </a:solidFill>
                <a:effectLst/>
                <a:latin typeface="+mn-lt"/>
                <a:ea typeface="+mn-ea"/>
                <a:cs typeface="+mn-cs"/>
              </a:rPr>
              <a:t>lo SCOM e il trapezio che delimitano lateralmente il collo,</a:t>
            </a:r>
          </a:p>
          <a:p>
            <a:r>
              <a:rPr lang="it-IT" sz="1200" b="0" i="0" kern="1200" dirty="0">
                <a:solidFill>
                  <a:schemeClr val="tx1"/>
                </a:solidFill>
                <a:effectLst/>
                <a:latin typeface="+mn-lt"/>
                <a:ea typeface="+mn-ea"/>
                <a:cs typeface="+mn-cs"/>
              </a:rPr>
              <a:t>gli scaleni nella zona intermedia e</a:t>
            </a:r>
          </a:p>
          <a:p>
            <a:r>
              <a:rPr lang="it-IT" sz="1200" b="0" i="0" kern="1200" dirty="0">
                <a:solidFill>
                  <a:schemeClr val="tx1"/>
                </a:solidFill>
                <a:effectLst/>
                <a:latin typeface="+mn-lt"/>
                <a:ea typeface="+mn-ea"/>
                <a:cs typeface="+mn-cs"/>
              </a:rPr>
              <a:t>un folto gruppo di muscoli estensori (</a:t>
            </a:r>
            <a:r>
              <a:rPr lang="it-IT" sz="1200" b="0" i="0" kern="1200" dirty="0" err="1">
                <a:solidFill>
                  <a:schemeClr val="tx1"/>
                </a:solidFill>
                <a:effectLst/>
                <a:latin typeface="+mn-lt"/>
                <a:ea typeface="+mn-ea"/>
                <a:cs typeface="+mn-cs"/>
              </a:rPr>
              <a:t>trasversospinali</a:t>
            </a:r>
            <a:r>
              <a:rPr lang="it-IT" sz="1200" b="0" i="0" kern="1200" dirty="0">
                <a:solidFill>
                  <a:schemeClr val="tx1"/>
                </a:solidFill>
                <a:effectLst/>
                <a:latin typeface="+mn-lt"/>
                <a:ea typeface="+mn-ea"/>
                <a:cs typeface="+mn-cs"/>
              </a:rPr>
              <a:t> e </a:t>
            </a:r>
            <a:r>
              <a:rPr lang="it-IT" sz="1200" b="0" i="0" kern="1200" dirty="0" err="1">
                <a:solidFill>
                  <a:schemeClr val="tx1"/>
                </a:solidFill>
                <a:effectLst/>
                <a:latin typeface="+mn-lt"/>
                <a:ea typeface="+mn-ea"/>
                <a:cs typeface="+mn-cs"/>
              </a:rPr>
              <a:t>splenii</a:t>
            </a:r>
            <a:r>
              <a:rPr lang="it-IT" sz="1200" b="0" i="0" kern="1200" dirty="0">
                <a:solidFill>
                  <a:schemeClr val="tx1"/>
                </a:solidFill>
                <a:effectLst/>
                <a:latin typeface="+mn-lt"/>
                <a:ea typeface="+mn-ea"/>
                <a:cs typeface="+mn-cs"/>
              </a:rPr>
              <a:t>) nella parte posteriore.</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Il muscolo </a:t>
            </a:r>
            <a:r>
              <a:rPr lang="it-IT" sz="1200" b="1" i="0" kern="1200" dirty="0">
                <a:solidFill>
                  <a:schemeClr val="tx1"/>
                </a:solidFill>
                <a:effectLst/>
                <a:latin typeface="+mn-lt"/>
                <a:ea typeface="+mn-ea"/>
                <a:cs typeface="+mn-cs"/>
              </a:rPr>
              <a:t>PLATISMA</a:t>
            </a:r>
            <a:r>
              <a:rPr lang="it-IT" sz="1200" b="0" i="0" kern="1200" dirty="0">
                <a:solidFill>
                  <a:schemeClr val="tx1"/>
                </a:solidFill>
                <a:effectLst/>
                <a:latin typeface="+mn-lt"/>
                <a:ea typeface="+mn-ea"/>
                <a:cs typeface="+mn-cs"/>
              </a:rPr>
              <a:t> è situato </a:t>
            </a:r>
            <a:r>
              <a:rPr lang="it-IT" sz="1200" b="1" i="0" kern="1200" dirty="0">
                <a:solidFill>
                  <a:schemeClr val="tx1"/>
                </a:solidFill>
                <a:effectLst/>
                <a:latin typeface="+mn-lt"/>
                <a:ea typeface="+mn-ea"/>
                <a:cs typeface="+mn-cs"/>
              </a:rPr>
              <a:t>all'esterno</a:t>
            </a:r>
            <a:r>
              <a:rPr lang="it-IT" sz="1200" b="0" i="0" kern="1200" dirty="0">
                <a:solidFill>
                  <a:schemeClr val="tx1"/>
                </a:solidFill>
                <a:effectLst/>
                <a:latin typeface="+mn-lt"/>
                <a:ea typeface="+mn-ea"/>
                <a:cs typeface="+mn-cs"/>
              </a:rPr>
              <a:t> (o superficialmente) rispetto alla fascia cervicale superficiale (o lamina superficiale della fascia cervicale profonda), trovandosi immerso nel tessuto connettivo sottocutaneo. Essendo un muscolo pellicciaio, occupa lo strato più superficiale della regione anterolaterale del collo, coprendo la fascia cervicale stessa e i muscoli più profondi come lo sternocleidomastoideo. </a:t>
            </a:r>
          </a:p>
          <a:p>
            <a:r>
              <a:rPr lang="it-IT" sz="1200" b="1" i="0" kern="1200" dirty="0">
                <a:solidFill>
                  <a:schemeClr val="tx1"/>
                </a:solidFill>
                <a:effectLst/>
                <a:latin typeface="+mn-lt"/>
                <a:ea typeface="+mn-ea"/>
                <a:cs typeface="+mn-cs"/>
              </a:rPr>
              <a:t>Posizione:</a:t>
            </a:r>
            <a:r>
              <a:rPr lang="it-IT" sz="1200" b="0" i="0" kern="1200" dirty="0">
                <a:solidFill>
                  <a:schemeClr val="tx1"/>
                </a:solidFill>
                <a:effectLst/>
                <a:latin typeface="+mn-lt"/>
                <a:ea typeface="+mn-ea"/>
                <a:cs typeface="+mn-cs"/>
              </a:rPr>
              <a:t> Immerso nel tessuto adiposo sottocutaneo, appena sotto il derma.</a:t>
            </a:r>
          </a:p>
          <a:p>
            <a:r>
              <a:rPr lang="it-IT" sz="1200" b="1" i="0" kern="1200" dirty="0">
                <a:solidFill>
                  <a:schemeClr val="tx1"/>
                </a:solidFill>
                <a:effectLst/>
                <a:latin typeface="+mn-lt"/>
                <a:ea typeface="+mn-ea"/>
                <a:cs typeface="+mn-cs"/>
              </a:rPr>
              <a:t>Relazione con la fascia:</a:t>
            </a:r>
            <a:r>
              <a:rPr lang="it-IT" sz="1200" b="0" i="0" kern="1200" dirty="0">
                <a:solidFill>
                  <a:schemeClr val="tx1"/>
                </a:solidFill>
                <a:effectLst/>
                <a:latin typeface="+mn-lt"/>
                <a:ea typeface="+mn-ea"/>
                <a:cs typeface="+mn-cs"/>
              </a:rPr>
              <a:t> Si trova superficialmente rispetto allo strato rivestito dalla fascia cervicale superficiale/profonda.</a:t>
            </a:r>
          </a:p>
          <a:p>
            <a:r>
              <a:rPr lang="it-IT" sz="1200" b="1" i="0" kern="1200" dirty="0">
                <a:solidFill>
                  <a:schemeClr val="tx1"/>
                </a:solidFill>
                <a:effectLst/>
                <a:latin typeface="+mn-lt"/>
                <a:ea typeface="+mn-ea"/>
                <a:cs typeface="+mn-cs"/>
              </a:rPr>
              <a:t>Caratteristiche:</a:t>
            </a:r>
            <a:r>
              <a:rPr lang="it-IT" sz="1200" b="0" i="0" kern="1200" dirty="0">
                <a:solidFill>
                  <a:schemeClr val="tx1"/>
                </a:solidFill>
                <a:effectLst/>
                <a:latin typeface="+mn-lt"/>
                <a:ea typeface="+mn-ea"/>
                <a:cs typeface="+mn-cs"/>
              </a:rPr>
              <a:t> Sottile, ampio e laminare, partecipa alla muscolatura mimica e all'abbassamento della mandibola. </a:t>
            </a:r>
          </a:p>
          <a:p>
            <a:r>
              <a:rPr lang="it-IT" sz="1200" b="0" i="0" kern="1200" dirty="0">
                <a:solidFill>
                  <a:schemeClr val="tx1"/>
                </a:solidFill>
                <a:effectLst/>
                <a:latin typeface="+mn-lt"/>
                <a:ea typeface="+mn-ea"/>
                <a:cs typeface="+mn-cs"/>
              </a:rPr>
              <a:t>In sintesi, il </a:t>
            </a:r>
            <a:r>
              <a:rPr lang="it-IT" sz="1200" b="0" i="0" kern="1200" dirty="0" err="1">
                <a:solidFill>
                  <a:schemeClr val="tx1"/>
                </a:solidFill>
                <a:effectLst/>
                <a:latin typeface="+mn-lt"/>
                <a:ea typeface="+mn-ea"/>
                <a:cs typeface="+mn-cs"/>
              </a:rPr>
              <a:t>platisma</a:t>
            </a:r>
            <a:r>
              <a:rPr lang="it-IT" sz="1200" b="0" i="0" kern="1200" dirty="0">
                <a:solidFill>
                  <a:schemeClr val="tx1"/>
                </a:solidFill>
                <a:effectLst/>
                <a:latin typeface="+mn-lt"/>
                <a:ea typeface="+mn-ea"/>
                <a:cs typeface="+mn-cs"/>
              </a:rPr>
              <a:t> è il muscolo più superficiale del collo, posizionato sopra la fascia cervicale.</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I muscoli sottoioidei sono quattro muscoli pari e nastriformi situati nella regione anteriore del collo, sotto l'osso ioide; agiscono principalmente come depressori dell'osso ioide e della laringe.</a:t>
            </a:r>
          </a:p>
          <a:p>
            <a:r>
              <a:rPr lang="it-IT" sz="1200" b="0" i="0" kern="1200" dirty="0">
                <a:solidFill>
                  <a:schemeClr val="tx1"/>
                </a:solidFill>
                <a:effectLst/>
                <a:latin typeface="+mn-lt"/>
                <a:ea typeface="+mn-ea"/>
                <a:cs typeface="+mn-cs"/>
              </a:rPr>
              <a:t>Sono suddivisi in strati: superficiale (</a:t>
            </a:r>
            <a:r>
              <a:rPr lang="it-IT" sz="1200" b="0" i="0" kern="1200" dirty="0" err="1">
                <a:solidFill>
                  <a:schemeClr val="tx1"/>
                </a:solidFill>
                <a:effectLst/>
                <a:latin typeface="+mn-lt"/>
                <a:ea typeface="+mn-ea"/>
                <a:cs typeface="+mn-cs"/>
              </a:rPr>
              <a:t>sternoioideo</a:t>
            </a:r>
            <a:r>
              <a:rPr lang="it-IT" sz="1200" b="0" i="0" kern="1200" dirty="0">
                <a:solidFill>
                  <a:schemeClr val="tx1"/>
                </a:solidFill>
                <a:effectLst/>
                <a:latin typeface="+mn-lt"/>
                <a:ea typeface="+mn-ea"/>
                <a:cs typeface="+mn-cs"/>
              </a:rPr>
              <a:t>, </a:t>
            </a:r>
            <a:r>
              <a:rPr lang="it-IT" sz="1200" b="0" i="0" kern="1200" dirty="0" err="1">
                <a:solidFill>
                  <a:schemeClr val="tx1"/>
                </a:solidFill>
                <a:effectLst/>
                <a:latin typeface="+mn-lt"/>
                <a:ea typeface="+mn-ea"/>
                <a:cs typeface="+mn-cs"/>
              </a:rPr>
              <a:t>omoioideo</a:t>
            </a:r>
            <a:r>
              <a:rPr lang="it-IT" sz="1200" b="0" i="0" kern="1200" dirty="0">
                <a:solidFill>
                  <a:schemeClr val="tx1"/>
                </a:solidFill>
                <a:effectLst/>
                <a:latin typeface="+mn-lt"/>
                <a:ea typeface="+mn-ea"/>
                <a:cs typeface="+mn-cs"/>
              </a:rPr>
              <a:t>) e profondo (sternotiroideo, tiroioideo). </a:t>
            </a:r>
          </a:p>
          <a:p>
            <a:endParaRPr lang="it-IT" sz="1200" b="0"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hlinkClick r:id="rId4"/>
              </a:rPr>
              <a:t>Muscolo </a:t>
            </a:r>
            <a:r>
              <a:rPr lang="it-IT" sz="1200" b="1" i="0" kern="1200" dirty="0" err="1">
                <a:solidFill>
                  <a:schemeClr val="tx1"/>
                </a:solidFill>
                <a:effectLst/>
                <a:latin typeface="+mn-lt"/>
                <a:ea typeface="+mn-ea"/>
                <a:cs typeface="+mn-cs"/>
                <a:hlinkClick r:id="rId4"/>
              </a:rPr>
              <a:t>sternoioideo</a:t>
            </a:r>
            <a:r>
              <a:rPr lang="it-IT" sz="1200" b="1" i="0" kern="1200" dirty="0">
                <a:solidFill>
                  <a:schemeClr val="tx1"/>
                </a:solidFill>
                <a:effectLst/>
                <a:latin typeface="+mn-lt"/>
                <a:ea typeface="+mn-ea"/>
                <a:cs typeface="+mn-cs"/>
              </a:rPr>
              <a:t> (o </a:t>
            </a:r>
            <a:r>
              <a:rPr lang="it-IT" sz="1200" b="1" i="0" kern="1200" dirty="0" err="1">
                <a:solidFill>
                  <a:schemeClr val="tx1"/>
                </a:solidFill>
                <a:effectLst/>
                <a:latin typeface="+mn-lt"/>
                <a:ea typeface="+mn-ea"/>
                <a:cs typeface="+mn-cs"/>
              </a:rPr>
              <a:t>sternocleidoioideo</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Il più superficiale e mediale, unisce lo sterno (manubrio) e la clavicola all'osso ioide.</a:t>
            </a:r>
          </a:p>
          <a:p>
            <a:r>
              <a:rPr lang="it-IT" sz="1200" b="1" i="0" kern="1200" dirty="0">
                <a:solidFill>
                  <a:schemeClr val="tx1"/>
                </a:solidFill>
                <a:effectLst/>
                <a:latin typeface="+mn-lt"/>
                <a:ea typeface="+mn-ea"/>
                <a:cs typeface="+mn-cs"/>
                <a:hlinkClick r:id="rId5"/>
              </a:rPr>
              <a:t>Muscolo </a:t>
            </a:r>
            <a:r>
              <a:rPr lang="it-IT" sz="1200" b="1" i="0" kern="1200" dirty="0" err="1">
                <a:solidFill>
                  <a:schemeClr val="tx1"/>
                </a:solidFill>
                <a:effectLst/>
                <a:latin typeface="+mn-lt"/>
                <a:ea typeface="+mn-ea"/>
                <a:cs typeface="+mn-cs"/>
                <a:hlinkClick r:id="rId5"/>
              </a:rPr>
              <a:t>omoioideo</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Muscolo digastrico (con due ventri) che va dal margine superiore della scapola al margine inferiore dell'osso ioide.</a:t>
            </a:r>
          </a:p>
          <a:p>
            <a:r>
              <a:rPr lang="it-IT" sz="1200" b="1" i="0" kern="1200" dirty="0">
                <a:solidFill>
                  <a:schemeClr val="tx1"/>
                </a:solidFill>
                <a:effectLst/>
                <a:latin typeface="+mn-lt"/>
                <a:ea typeface="+mn-ea"/>
                <a:cs typeface="+mn-cs"/>
                <a:hlinkClick r:id="rId6"/>
              </a:rPr>
              <a:t>Muscolo sternotiroideo</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Situato profondamente allo </a:t>
            </a:r>
            <a:r>
              <a:rPr lang="it-IT" sz="1200" b="0" i="0" kern="1200" dirty="0" err="1">
                <a:solidFill>
                  <a:schemeClr val="tx1"/>
                </a:solidFill>
                <a:effectLst/>
                <a:latin typeface="+mn-lt"/>
                <a:ea typeface="+mn-ea"/>
                <a:cs typeface="+mn-cs"/>
              </a:rPr>
              <a:t>sternoioideo</a:t>
            </a:r>
            <a:r>
              <a:rPr lang="it-IT" sz="1200" b="0" i="0" kern="1200" dirty="0">
                <a:solidFill>
                  <a:schemeClr val="tx1"/>
                </a:solidFill>
                <a:effectLst/>
                <a:latin typeface="+mn-lt"/>
                <a:ea typeface="+mn-ea"/>
                <a:cs typeface="+mn-cs"/>
              </a:rPr>
              <a:t>, unisce lo sterno e la prima cartilagine costale alla cartilagine tiroidea della laringe.</a:t>
            </a:r>
          </a:p>
          <a:p>
            <a:r>
              <a:rPr lang="it-IT" sz="1200" b="1" i="0" kern="1200" dirty="0">
                <a:solidFill>
                  <a:schemeClr val="tx1"/>
                </a:solidFill>
                <a:effectLst/>
                <a:latin typeface="+mn-lt"/>
                <a:ea typeface="+mn-ea"/>
                <a:cs typeface="+mn-cs"/>
                <a:hlinkClick r:id="rId7"/>
              </a:rPr>
              <a:t>Muscolo tiroioideo</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Proseguimento del muscolo sternotiroideo, collega la cartilagine tiroidea al corpo dell'osso ioide.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Tutti questi muscoli sono innervati dall'ansa cervicale (primi nervi cervicali) e svolgono un ruolo fondamentale nel fissare l'osso ioide e abbassarlo durante la deglutizione e l'eloquio. </a:t>
            </a:r>
          </a:p>
          <a:p>
            <a:endParaRPr lang="it-IT"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it-IT" sz="1200" b="1" i="0" kern="1200" dirty="0">
                <a:solidFill>
                  <a:schemeClr val="tx1"/>
                </a:solidFill>
                <a:effectLst/>
                <a:latin typeface="+mn-lt"/>
                <a:ea typeface="+mn-ea"/>
                <a:cs typeface="+mn-cs"/>
              </a:rPr>
              <a:t>Livello di biforcazione:</a:t>
            </a:r>
            <a:r>
              <a:rPr lang="it-IT" sz="1200" b="0" i="0" kern="1200" dirty="0">
                <a:solidFill>
                  <a:schemeClr val="tx1"/>
                </a:solidFill>
                <a:effectLst/>
                <a:latin typeface="+mn-lt"/>
                <a:ea typeface="+mn-ea"/>
                <a:cs typeface="+mn-cs"/>
              </a:rPr>
              <a:t> La carotide comune si biforca solitamente in carotide interna ed esterna a livello del margine superiore della cartilagine tiroidea che corrisponde approssimativamente al livello tra </a:t>
            </a:r>
            <a:r>
              <a:rPr lang="it-IT" sz="1200" b="1" i="0" kern="1200" dirty="0">
                <a:solidFill>
                  <a:schemeClr val="tx1"/>
                </a:solidFill>
                <a:effectLst/>
                <a:latin typeface="+mn-lt"/>
                <a:ea typeface="+mn-ea"/>
                <a:cs typeface="+mn-cs"/>
              </a:rPr>
              <a:t>C3 e C4</a:t>
            </a:r>
            <a:r>
              <a:rPr lang="it-IT" sz="1200" b="0" i="0" kern="1200" dirty="0">
                <a:solidFill>
                  <a:schemeClr val="tx1"/>
                </a:solidFill>
                <a:effectLst/>
                <a:latin typeface="+mn-lt"/>
                <a:ea typeface="+mn-ea"/>
                <a:cs typeface="+mn-cs"/>
              </a:rPr>
              <a:t>.</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In una sezione trasversale del collo all'altezza della </a:t>
            </a:r>
            <a:r>
              <a:rPr lang="it-IT" sz="1200" b="1" i="0" kern="1200" dirty="0">
                <a:solidFill>
                  <a:schemeClr val="tx1"/>
                </a:solidFill>
                <a:effectLst/>
                <a:latin typeface="+mn-lt"/>
                <a:ea typeface="+mn-ea"/>
                <a:cs typeface="+mn-cs"/>
              </a:rPr>
              <a:t>quinta vertebra cervicale (C5)</a:t>
            </a:r>
            <a:r>
              <a:rPr lang="it-IT" sz="1200" b="0" i="0" kern="1200" dirty="0">
                <a:solidFill>
                  <a:schemeClr val="tx1"/>
                </a:solidFill>
                <a:effectLst/>
                <a:latin typeface="+mn-lt"/>
                <a:ea typeface="+mn-ea"/>
                <a:cs typeface="+mn-cs"/>
              </a:rPr>
              <a:t>, sono visibili diverse vene giugulari, ma le due principali e più rilevanti dal punto di vista anatomico sono:</a:t>
            </a:r>
          </a:p>
          <a:p>
            <a:r>
              <a:rPr lang="it-IT" sz="1200" b="1" i="0" kern="1200" dirty="0">
                <a:solidFill>
                  <a:schemeClr val="tx1"/>
                </a:solidFill>
                <a:effectLst/>
                <a:latin typeface="+mn-lt"/>
                <a:ea typeface="+mn-ea"/>
                <a:cs typeface="+mn-cs"/>
              </a:rPr>
              <a:t>1. Vena Giugulare Interna</a:t>
            </a:r>
          </a:p>
          <a:p>
            <a:r>
              <a:rPr lang="it-IT" sz="1200" b="0" i="0" kern="1200" dirty="0">
                <a:solidFill>
                  <a:schemeClr val="tx1"/>
                </a:solidFill>
                <a:effectLst/>
                <a:latin typeface="+mn-lt"/>
                <a:ea typeface="+mn-ea"/>
                <a:cs typeface="+mn-cs"/>
              </a:rPr>
              <a:t>È la più voluminosa e si trova all'interno della </a:t>
            </a:r>
            <a:r>
              <a:rPr lang="it-IT" sz="1200" b="1" i="0" kern="1200" dirty="0">
                <a:solidFill>
                  <a:schemeClr val="tx1"/>
                </a:solidFill>
                <a:effectLst/>
                <a:latin typeface="+mn-lt"/>
                <a:ea typeface="+mn-ea"/>
                <a:cs typeface="+mn-cs"/>
              </a:rPr>
              <a:t>guaina carotidea</a:t>
            </a:r>
            <a:r>
              <a:rPr lang="it-IT" sz="1200" b="0" i="0" kern="1200" dirty="0">
                <a:solidFill>
                  <a:schemeClr val="tx1"/>
                </a:solidFill>
                <a:effectLst/>
                <a:latin typeface="+mn-lt"/>
                <a:ea typeface="+mn-ea"/>
                <a:cs typeface="+mn-cs"/>
              </a:rPr>
              <a:t> (il fascio vascolo-nervoso del collo).</a:t>
            </a:r>
          </a:p>
          <a:p>
            <a:r>
              <a:rPr lang="it-IT" sz="1200" b="1" i="0" kern="1200" dirty="0">
                <a:solidFill>
                  <a:schemeClr val="tx1"/>
                </a:solidFill>
                <a:effectLst/>
                <a:latin typeface="+mn-lt"/>
                <a:ea typeface="+mn-ea"/>
                <a:cs typeface="+mn-cs"/>
              </a:rPr>
              <a:t>Posizione:</a:t>
            </a:r>
            <a:r>
              <a:rPr lang="it-IT" sz="1200" b="0" i="0" kern="1200" dirty="0">
                <a:solidFill>
                  <a:schemeClr val="tx1"/>
                </a:solidFill>
                <a:effectLst/>
                <a:latin typeface="+mn-lt"/>
                <a:ea typeface="+mn-ea"/>
                <a:cs typeface="+mn-cs"/>
              </a:rPr>
              <a:t> È situata lateralmente rispetto all'arteria carotide comune.</a:t>
            </a:r>
          </a:p>
          <a:p>
            <a:r>
              <a:rPr lang="it-IT" sz="1200" b="1" i="0" kern="1200" dirty="0">
                <a:solidFill>
                  <a:schemeClr val="tx1"/>
                </a:solidFill>
                <a:effectLst/>
                <a:latin typeface="+mn-lt"/>
                <a:ea typeface="+mn-ea"/>
                <a:cs typeface="+mn-cs"/>
              </a:rPr>
              <a:t>Riferimento:</a:t>
            </a:r>
            <a:r>
              <a:rPr lang="it-IT" sz="1200" b="0" i="0" kern="1200" dirty="0">
                <a:solidFill>
                  <a:schemeClr val="tx1"/>
                </a:solidFill>
                <a:effectLst/>
                <a:latin typeface="+mn-lt"/>
                <a:ea typeface="+mn-ea"/>
                <a:cs typeface="+mn-cs"/>
              </a:rPr>
              <a:t> A livello di C5, si trova profondamente al muscolo sternocleidomastoideo.</a:t>
            </a:r>
          </a:p>
          <a:p>
            <a:r>
              <a:rPr lang="it-IT" sz="1200" b="1" i="0" kern="1200" dirty="0">
                <a:solidFill>
                  <a:schemeClr val="tx1"/>
                </a:solidFill>
                <a:effectLst/>
                <a:latin typeface="+mn-lt"/>
                <a:ea typeface="+mn-ea"/>
                <a:cs typeface="+mn-cs"/>
              </a:rPr>
              <a:t>2. Vena Giugulare Esterna</a:t>
            </a:r>
          </a:p>
          <a:p>
            <a:r>
              <a:rPr lang="it-IT" sz="1200" b="0" i="0" kern="1200" dirty="0">
                <a:solidFill>
                  <a:schemeClr val="tx1"/>
                </a:solidFill>
                <a:effectLst/>
                <a:latin typeface="+mn-lt"/>
                <a:ea typeface="+mn-ea"/>
                <a:cs typeface="+mn-cs"/>
              </a:rPr>
              <a:t>È una vena più superficiale che drena il sangue dalla faccia e dal cuoio capelluto.</a:t>
            </a:r>
          </a:p>
          <a:p>
            <a:r>
              <a:rPr lang="it-IT" sz="1200" b="1" i="0" kern="1200" dirty="0">
                <a:solidFill>
                  <a:schemeClr val="tx1"/>
                </a:solidFill>
                <a:effectLst/>
                <a:latin typeface="+mn-lt"/>
                <a:ea typeface="+mn-ea"/>
                <a:cs typeface="+mn-cs"/>
              </a:rPr>
              <a:t>Posizione:</a:t>
            </a:r>
            <a:r>
              <a:rPr lang="it-IT" sz="1200" b="0" i="0" kern="1200" dirty="0">
                <a:solidFill>
                  <a:schemeClr val="tx1"/>
                </a:solidFill>
                <a:effectLst/>
                <a:latin typeface="+mn-lt"/>
                <a:ea typeface="+mn-ea"/>
                <a:cs typeface="+mn-cs"/>
              </a:rPr>
              <a:t> Si trova sopra la fascia cervicale superficiale, decorrendo obliquamente sopra il muscolo sternocleidomastoideo.</a:t>
            </a:r>
          </a:p>
          <a:p>
            <a:r>
              <a:rPr lang="it-IT" sz="1200" b="1" i="0" kern="1200" dirty="0">
                <a:solidFill>
                  <a:schemeClr val="tx1"/>
                </a:solidFill>
                <a:effectLst/>
                <a:latin typeface="+mn-lt"/>
                <a:ea typeface="+mn-ea"/>
                <a:cs typeface="+mn-cs"/>
              </a:rPr>
              <a:t>Riferimento:</a:t>
            </a:r>
            <a:r>
              <a:rPr lang="it-IT" sz="1200" b="0" i="0" kern="1200" dirty="0">
                <a:solidFill>
                  <a:schemeClr val="tx1"/>
                </a:solidFill>
                <a:effectLst/>
                <a:latin typeface="+mn-lt"/>
                <a:ea typeface="+mn-ea"/>
                <a:cs typeface="+mn-cs"/>
              </a:rPr>
              <a:t> È spesso visibile appena sotto il tessuto sottocutaneo.</a:t>
            </a:r>
          </a:p>
          <a:p>
            <a:r>
              <a:rPr lang="it-IT" sz="1200" b="1" i="0" kern="1200" dirty="0">
                <a:solidFill>
                  <a:schemeClr val="tx1"/>
                </a:solidFill>
                <a:effectLst/>
                <a:latin typeface="+mn-lt"/>
                <a:ea typeface="+mn-ea"/>
                <a:cs typeface="+mn-cs"/>
              </a:rPr>
              <a:t>Sintesi della sezione a livello C5</a:t>
            </a:r>
          </a:p>
          <a:p>
            <a:endParaRPr lang="it-IT" sz="1200" b="0" i="0" kern="1200" dirty="0">
              <a:solidFill>
                <a:schemeClr val="tx1"/>
              </a:solidFill>
              <a:effectLst/>
              <a:latin typeface="+mn-lt"/>
              <a:ea typeface="+mn-ea"/>
              <a:cs typeface="+mn-cs"/>
            </a:endParaRPr>
          </a:p>
          <a:p>
            <a:endParaRPr lang="it-IT" sz="1200" b="0" i="0" kern="1200" dirty="0">
              <a:solidFill>
                <a:schemeClr val="tx1"/>
              </a:solidFill>
              <a:effectLst/>
              <a:latin typeface="+mn-lt"/>
              <a:ea typeface="+mn-ea"/>
              <a:cs typeface="+mn-cs"/>
            </a:endParaRPr>
          </a:p>
          <a:p>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51</a:t>
            </a:fld>
            <a:endParaRPr lang="it-IT"/>
          </a:p>
        </p:txBody>
      </p:sp>
    </p:spTree>
    <p:extLst>
      <p:ext uri="{BB962C8B-B14F-4D97-AF65-F5344CB8AC3E}">
        <p14:creationId xmlns:p14="http://schemas.microsoft.com/office/powerpoint/2010/main" val="2784088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La glottide, che costituisce la parte media della laringe e comprende le corde vocali vere, si proietta a livello della colonna vertebrale cervicale tra la </a:t>
            </a:r>
            <a:r>
              <a:rPr lang="it-IT" sz="1200" b="1" i="0" kern="1200" dirty="0">
                <a:solidFill>
                  <a:schemeClr val="tx1"/>
                </a:solidFill>
                <a:effectLst/>
                <a:latin typeface="+mn-lt"/>
                <a:ea typeface="+mn-ea"/>
                <a:cs typeface="+mn-cs"/>
              </a:rPr>
              <a:t>terza e la sesta vertebra cervicale (C3-C6)</a:t>
            </a:r>
            <a:r>
              <a:rPr lang="it-IT" sz="1200" b="0" i="0" kern="1200" dirty="0">
                <a:solidFill>
                  <a:schemeClr val="tx1"/>
                </a:solidFill>
                <a:effectLst/>
                <a:latin typeface="+mn-lt"/>
                <a:ea typeface="+mn-ea"/>
                <a:cs typeface="+mn-cs"/>
              </a:rPr>
              <a:t> negli adulti. </a:t>
            </a:r>
          </a:p>
          <a:p>
            <a:endParaRPr lang="it-IT" sz="1200" b="1"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Posizione adulta:</a:t>
            </a:r>
            <a:r>
              <a:rPr lang="it-IT" sz="1200" b="0" i="0" kern="1200" dirty="0">
                <a:solidFill>
                  <a:schemeClr val="tx1"/>
                </a:solidFill>
                <a:effectLst/>
                <a:latin typeface="+mn-lt"/>
                <a:ea typeface="+mn-ea"/>
                <a:cs typeface="+mn-cs"/>
              </a:rPr>
              <a:t> Solitamente centrata attorno a C4-C5, in corrispondenza del pomo d'Adamo (più evidente nel maschio).</a:t>
            </a:r>
          </a:p>
          <a:p>
            <a:endParaRPr lang="it-IT" sz="1200" b="1" i="0" kern="1200" dirty="0">
              <a:solidFill>
                <a:schemeClr val="tx1"/>
              </a:solidFill>
              <a:effectLst/>
              <a:latin typeface="+mn-lt"/>
              <a:ea typeface="+mn-ea"/>
              <a:cs typeface="+mn-cs"/>
            </a:endParaRPr>
          </a:p>
          <a:p>
            <a:r>
              <a:rPr lang="it-IT" sz="1200" b="1" i="0" kern="1200" dirty="0">
                <a:solidFill>
                  <a:schemeClr val="tx1"/>
                </a:solidFill>
                <a:effectLst/>
                <a:latin typeface="+mn-lt"/>
                <a:ea typeface="+mn-ea"/>
                <a:cs typeface="+mn-cs"/>
              </a:rPr>
              <a:t>Variazioni:</a:t>
            </a:r>
            <a:r>
              <a:rPr lang="it-IT" sz="1200" b="0" i="0" kern="1200" dirty="0">
                <a:solidFill>
                  <a:schemeClr val="tx1"/>
                </a:solidFill>
                <a:effectLst/>
                <a:latin typeface="+mn-lt"/>
                <a:ea typeface="+mn-ea"/>
                <a:cs typeface="+mn-cs"/>
              </a:rPr>
              <a:t> Nei bambini, la laringe è posizionata più in alto, tra </a:t>
            </a:r>
            <a:r>
              <a:rPr lang="it-IT" sz="1200" b="1" i="0" kern="1200" dirty="0">
                <a:solidFill>
                  <a:schemeClr val="tx1"/>
                </a:solidFill>
                <a:effectLst/>
                <a:latin typeface="+mn-lt"/>
                <a:ea typeface="+mn-ea"/>
                <a:cs typeface="+mn-cs"/>
              </a:rPr>
              <a:t>C2 </a:t>
            </a:r>
            <a:r>
              <a:rPr lang="it-IT" sz="1200" b="0" i="0" kern="1200" dirty="0">
                <a:solidFill>
                  <a:schemeClr val="tx1"/>
                </a:solidFill>
                <a:effectLst/>
                <a:latin typeface="+mn-lt"/>
                <a:ea typeface="+mn-ea"/>
                <a:cs typeface="+mn-cs"/>
              </a:rPr>
              <a:t>e</a:t>
            </a:r>
            <a:r>
              <a:rPr lang="it-IT" sz="1200" b="1" i="0" kern="1200" dirty="0">
                <a:solidFill>
                  <a:schemeClr val="tx1"/>
                </a:solidFill>
                <a:effectLst/>
                <a:latin typeface="+mn-lt"/>
                <a:ea typeface="+mn-ea"/>
                <a:cs typeface="+mn-cs"/>
              </a:rPr>
              <a:t> C4</a:t>
            </a:r>
            <a:r>
              <a:rPr lang="it-IT" sz="1200" b="0" i="0" kern="1200" dirty="0">
                <a:solidFill>
                  <a:schemeClr val="tx1"/>
                </a:solidFill>
                <a:effectLst/>
                <a:latin typeface="+mn-lt"/>
                <a:ea typeface="+mn-ea"/>
                <a:cs typeface="+mn-cs"/>
              </a:rPr>
              <a:t>.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In sintesi, l'intero organo laringeo si estende tra C3 e C6, con la glottide (piano glottico) situata in questo range, generalmente a metà percorso. </a:t>
            </a:r>
          </a:p>
          <a:p>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53</a:t>
            </a:fld>
            <a:endParaRPr lang="it-IT"/>
          </a:p>
        </p:txBody>
      </p:sp>
    </p:spTree>
    <p:extLst>
      <p:ext uri="{BB962C8B-B14F-4D97-AF65-F5344CB8AC3E}">
        <p14:creationId xmlns:p14="http://schemas.microsoft.com/office/powerpoint/2010/main" val="4126161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B: PUNTO D'INCISIONE PER LA TRACHEOTOMIA</a:t>
            </a:r>
            <a:br>
              <a:rPr lang="it-IT" dirty="0"/>
            </a:br>
            <a:br>
              <a:rPr lang="it-IT" dirty="0"/>
            </a:br>
            <a:r>
              <a:rPr lang="it-IT" sz="1200" b="0" i="0" kern="1200" dirty="0">
                <a:solidFill>
                  <a:schemeClr val="tx1"/>
                </a:solidFill>
                <a:effectLst/>
                <a:latin typeface="+mn-lt"/>
                <a:ea typeface="+mn-ea"/>
                <a:cs typeface="+mn-cs"/>
              </a:rPr>
              <a:t>Dopo accurata depilazione e disinfezione della cute, viene effettuata una incisione trasversa a livello della linea mediana del collo, all'incirca due dita sopra il giugulo, approssimativamente ad 1 cm al di sotto della Cartilagine Cricoide.</a:t>
            </a:r>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54</a:t>
            </a:fld>
            <a:endParaRPr lang="it-IT"/>
          </a:p>
        </p:txBody>
      </p:sp>
    </p:spTree>
    <p:extLst>
      <p:ext uri="{BB962C8B-B14F-4D97-AF65-F5344CB8AC3E}">
        <p14:creationId xmlns:p14="http://schemas.microsoft.com/office/powerpoint/2010/main" val="677824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it-IT" sz="1200" b="0" i="0" kern="1200" dirty="0">
                <a:solidFill>
                  <a:schemeClr val="tx1"/>
                </a:solidFill>
                <a:effectLst/>
                <a:latin typeface="+mn-lt"/>
                <a:ea typeface="+mn-ea"/>
                <a:cs typeface="+mn-cs"/>
              </a:rPr>
              <a:t>Il triangolo posteriore del collo (regione cervicale laterale) contiene strutture nervose, vascolari e muscolari chiave.</a:t>
            </a:r>
          </a:p>
          <a:p>
            <a:r>
              <a:rPr lang="it-IT" sz="1200" b="0" i="0" kern="1200" dirty="0">
                <a:solidFill>
                  <a:schemeClr val="tx1"/>
                </a:solidFill>
                <a:effectLst/>
                <a:latin typeface="+mn-lt"/>
                <a:ea typeface="+mn-ea"/>
                <a:cs typeface="+mn-cs"/>
              </a:rPr>
              <a:t>I principali elementi sono il nervo accessorio (XI), i rami del plesso cervicale e brachiale, l'arteria succlavia (terza parte), la vena giugulare esterna, oltre ai linfonodi cervicali profondi.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Ecco i dettagli del contenuto principale, suddiviso per tipologia:</a:t>
            </a:r>
          </a:p>
          <a:p>
            <a:r>
              <a:rPr lang="it-IT" sz="1200" b="1" i="0" kern="1200" dirty="0">
                <a:solidFill>
                  <a:schemeClr val="tx1"/>
                </a:solidFill>
                <a:effectLst/>
                <a:latin typeface="+mn-lt"/>
                <a:ea typeface="+mn-ea"/>
                <a:cs typeface="+mn-cs"/>
                <a:hlinkClick r:id="rId3"/>
              </a:rPr>
              <a:t>Nervi</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Nervo accessorio (XI), che attraversa il triangolo, rami cutanei del plesso cervicale (nervo occipitale minore, grande auricolare, trasverso del collo, sopraclavicolari) e i tronchi del plesso brachiale (spazio </a:t>
            </a:r>
            <a:r>
              <a:rPr lang="it-IT" sz="1200" b="0" i="0" kern="1200" dirty="0" err="1">
                <a:solidFill>
                  <a:schemeClr val="tx1"/>
                </a:solidFill>
                <a:effectLst/>
                <a:latin typeface="+mn-lt"/>
                <a:ea typeface="+mn-ea"/>
                <a:cs typeface="+mn-cs"/>
              </a:rPr>
              <a:t>interscalenico</a:t>
            </a:r>
            <a:r>
              <a:rPr lang="it-IT" sz="1200" b="0" i="0" kern="1200" dirty="0">
                <a:solidFill>
                  <a:schemeClr val="tx1"/>
                </a:solidFill>
                <a:effectLst/>
                <a:latin typeface="+mn-lt"/>
                <a:ea typeface="+mn-ea"/>
                <a:cs typeface="+mn-cs"/>
              </a:rPr>
              <a:t>).</a:t>
            </a:r>
          </a:p>
          <a:p>
            <a:r>
              <a:rPr lang="it-IT" sz="1200" b="1" i="0" kern="1200" dirty="0">
                <a:solidFill>
                  <a:schemeClr val="tx1"/>
                </a:solidFill>
                <a:effectLst/>
                <a:latin typeface="+mn-lt"/>
                <a:ea typeface="+mn-ea"/>
                <a:cs typeface="+mn-cs"/>
                <a:hlinkClick r:id="rId4"/>
              </a:rPr>
              <a:t>Vasi</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Arteria succlavia (terza porzione), arteria soprascapolare, vena giugulare esterna (che attraversa il tetto) e vena succlavia.</a:t>
            </a:r>
          </a:p>
          <a:p>
            <a:r>
              <a:rPr lang="it-IT" sz="1200" b="1" i="0" kern="1200" dirty="0">
                <a:solidFill>
                  <a:schemeClr val="tx1"/>
                </a:solidFill>
                <a:effectLst/>
                <a:latin typeface="+mn-lt"/>
                <a:ea typeface="+mn-ea"/>
                <a:cs typeface="+mn-cs"/>
                <a:hlinkClick r:id="rId5"/>
              </a:rPr>
              <a:t>Muscoli</a:t>
            </a:r>
            <a:r>
              <a:rPr lang="it-IT" sz="1200" b="1" i="0" kern="1200" dirty="0">
                <a:solidFill>
                  <a:schemeClr val="tx1"/>
                </a:solidFill>
                <a:effectLst/>
                <a:latin typeface="+mn-lt"/>
                <a:ea typeface="+mn-ea"/>
                <a:cs typeface="+mn-cs"/>
              </a:rPr>
              <a:t> (Pavimento):</a:t>
            </a:r>
            <a:r>
              <a:rPr lang="it-IT" sz="1200" b="0" i="0" kern="1200" dirty="0">
                <a:solidFill>
                  <a:schemeClr val="tx1"/>
                </a:solidFill>
                <a:effectLst/>
                <a:latin typeface="+mn-lt"/>
                <a:ea typeface="+mn-ea"/>
                <a:cs typeface="+mn-cs"/>
              </a:rPr>
              <a:t> Splenio della testa, elevatore della scapola, scaleno medio e posteriore.</a:t>
            </a:r>
          </a:p>
          <a:p>
            <a:r>
              <a:rPr lang="it-IT" sz="1200" b="1" i="0" kern="1200" dirty="0">
                <a:solidFill>
                  <a:schemeClr val="tx1"/>
                </a:solidFill>
                <a:effectLst/>
                <a:latin typeface="+mn-lt"/>
                <a:ea typeface="+mn-ea"/>
                <a:cs typeface="+mn-cs"/>
                <a:hlinkClick r:id="rId6"/>
              </a:rPr>
              <a:t>Altro</a:t>
            </a:r>
            <a:r>
              <a:rPr lang="it-IT" sz="1200" b="1" i="0" kern="1200" dirty="0">
                <a:solidFill>
                  <a:schemeClr val="tx1"/>
                </a:solidFill>
                <a:effectLst/>
                <a:latin typeface="+mn-lt"/>
                <a:ea typeface="+mn-ea"/>
                <a:cs typeface="+mn-cs"/>
              </a:rPr>
              <a:t>:</a:t>
            </a:r>
            <a:r>
              <a:rPr lang="it-IT" sz="1200" b="0" i="0" kern="1200" dirty="0">
                <a:solidFill>
                  <a:schemeClr val="tx1"/>
                </a:solidFill>
                <a:effectLst/>
                <a:latin typeface="+mn-lt"/>
                <a:ea typeface="+mn-ea"/>
                <a:cs typeface="+mn-cs"/>
              </a:rPr>
              <a:t> Linfonodi cervicali profondi e superficiali, fascia cervicale profonda. </a:t>
            </a:r>
          </a:p>
          <a:p>
            <a:endParaRPr lang="it-IT" sz="1200" b="0" i="0" kern="1200" dirty="0">
              <a:solidFill>
                <a:schemeClr val="tx1"/>
              </a:solidFill>
              <a:effectLst/>
              <a:latin typeface="+mn-lt"/>
              <a:ea typeface="+mn-ea"/>
              <a:cs typeface="+mn-cs"/>
            </a:endParaRPr>
          </a:p>
          <a:p>
            <a:r>
              <a:rPr lang="it-IT" sz="1200" b="0" i="0" kern="1200" dirty="0">
                <a:solidFill>
                  <a:schemeClr val="tx1"/>
                </a:solidFill>
                <a:effectLst/>
                <a:latin typeface="+mn-lt"/>
                <a:ea typeface="+mn-ea"/>
                <a:cs typeface="+mn-cs"/>
              </a:rPr>
              <a:t>Il triangolo è diviso dal ventre inferiore del muscolo </a:t>
            </a:r>
            <a:r>
              <a:rPr lang="it-IT" sz="1200" b="0" i="0" kern="1200" dirty="0" err="1">
                <a:solidFill>
                  <a:schemeClr val="tx1"/>
                </a:solidFill>
                <a:effectLst/>
                <a:latin typeface="+mn-lt"/>
                <a:ea typeface="+mn-ea"/>
                <a:cs typeface="+mn-cs"/>
              </a:rPr>
              <a:t>omoioideo</a:t>
            </a:r>
            <a:r>
              <a:rPr lang="it-IT" sz="1200" b="0" i="0" kern="1200" dirty="0">
                <a:solidFill>
                  <a:schemeClr val="tx1"/>
                </a:solidFill>
                <a:effectLst/>
                <a:latin typeface="+mn-lt"/>
                <a:ea typeface="+mn-ea"/>
                <a:cs typeface="+mn-cs"/>
              </a:rPr>
              <a:t> in due triangoli più piccoli: il </a:t>
            </a:r>
            <a:r>
              <a:rPr lang="it-IT" sz="1200" b="1" i="0" kern="1200" dirty="0">
                <a:solidFill>
                  <a:schemeClr val="tx1"/>
                </a:solidFill>
                <a:effectLst/>
                <a:latin typeface="+mn-lt"/>
                <a:ea typeface="+mn-ea"/>
                <a:cs typeface="+mn-cs"/>
              </a:rPr>
              <a:t>triangolo occipitale</a:t>
            </a:r>
            <a:r>
              <a:rPr lang="it-IT" sz="1200" b="0" i="0" kern="1200" dirty="0">
                <a:solidFill>
                  <a:schemeClr val="tx1"/>
                </a:solidFill>
                <a:effectLst/>
                <a:latin typeface="+mn-lt"/>
                <a:ea typeface="+mn-ea"/>
                <a:cs typeface="+mn-cs"/>
              </a:rPr>
              <a:t> (superiore) e il </a:t>
            </a:r>
            <a:r>
              <a:rPr lang="it-IT" sz="1200" b="1" i="0" kern="1200" dirty="0">
                <a:solidFill>
                  <a:schemeClr val="tx1"/>
                </a:solidFill>
                <a:effectLst/>
                <a:latin typeface="+mn-lt"/>
                <a:ea typeface="+mn-ea"/>
                <a:cs typeface="+mn-cs"/>
              </a:rPr>
              <a:t>triangolo sopraclavicolare</a:t>
            </a:r>
            <a:r>
              <a:rPr lang="it-IT" sz="1200" b="0" i="0" kern="1200" dirty="0">
                <a:solidFill>
                  <a:schemeClr val="tx1"/>
                </a:solidFill>
                <a:effectLst/>
                <a:latin typeface="+mn-lt"/>
                <a:ea typeface="+mn-ea"/>
                <a:cs typeface="+mn-cs"/>
              </a:rPr>
              <a:t> o </a:t>
            </a:r>
            <a:r>
              <a:rPr lang="it-IT" sz="1200" b="0" i="0" kern="1200" dirty="0" err="1">
                <a:solidFill>
                  <a:schemeClr val="tx1"/>
                </a:solidFill>
                <a:effectLst/>
                <a:latin typeface="+mn-lt"/>
                <a:ea typeface="+mn-ea"/>
                <a:cs typeface="+mn-cs"/>
              </a:rPr>
              <a:t>omoclavicolare</a:t>
            </a:r>
            <a:r>
              <a:rPr lang="it-IT" sz="1200" b="0" i="0" kern="1200" dirty="0">
                <a:solidFill>
                  <a:schemeClr val="tx1"/>
                </a:solidFill>
                <a:effectLst/>
                <a:latin typeface="+mn-lt"/>
                <a:ea typeface="+mn-ea"/>
                <a:cs typeface="+mn-cs"/>
              </a:rPr>
              <a:t> (inferiore). </a:t>
            </a:r>
          </a:p>
          <a:p>
            <a:endParaRPr lang="it-IT" dirty="0"/>
          </a:p>
        </p:txBody>
      </p:sp>
      <p:sp>
        <p:nvSpPr>
          <p:cNvPr id="4" name="Segnaposto numero diapositiva 3"/>
          <p:cNvSpPr>
            <a:spLocks noGrp="1"/>
          </p:cNvSpPr>
          <p:nvPr>
            <p:ph type="sldNum" sz="quarter" idx="5"/>
          </p:nvPr>
        </p:nvSpPr>
        <p:spPr/>
        <p:txBody>
          <a:bodyPr/>
          <a:lstStyle/>
          <a:p>
            <a:fld id="{6EA5E31C-9073-44EB-8892-F5A875C1C17D}" type="slidenum">
              <a:rPr lang="it-IT" smtClean="0"/>
              <a:t>55</a:t>
            </a:fld>
            <a:endParaRPr lang="it-IT"/>
          </a:p>
        </p:txBody>
      </p:sp>
    </p:spTree>
    <p:extLst>
      <p:ext uri="{BB962C8B-B14F-4D97-AF65-F5344CB8AC3E}">
        <p14:creationId xmlns:p14="http://schemas.microsoft.com/office/powerpoint/2010/main" val="225175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1986E-F4DD-3AFB-C708-C576237A0B2F}"/>
            </a:ext>
          </a:extLst>
        </p:cNvPr>
        <p:cNvGrpSpPr/>
        <p:nvPr/>
      </p:nvGrpSpPr>
      <p:grpSpPr>
        <a:xfrm>
          <a:off x="0" y="0"/>
          <a:ext cx="0" cy="0"/>
          <a:chOff x="0" y="0"/>
          <a:chExt cx="0" cy="0"/>
        </a:xfrm>
      </p:grpSpPr>
      <p:sp>
        <p:nvSpPr>
          <p:cNvPr id="48130" name="Segnaposto immagine diapositiva 1">
            <a:extLst>
              <a:ext uri="{FF2B5EF4-FFF2-40B4-BE49-F238E27FC236}">
                <a16:creationId xmlns:a16="http://schemas.microsoft.com/office/drawing/2014/main" id="{F5F1B453-9F0A-857E-361A-3F54D3925E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it-IT"/>
          </a:p>
        </p:txBody>
      </p:sp>
      <p:sp>
        <p:nvSpPr>
          <p:cNvPr id="48131" name="Segnaposto note 2">
            <a:extLst>
              <a:ext uri="{FF2B5EF4-FFF2-40B4-BE49-F238E27FC236}">
                <a16:creationId xmlns:a16="http://schemas.microsoft.com/office/drawing/2014/main" id="{9CF4BF4D-039B-71FA-8A10-EBCF36D963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it-IT" altLang="it-IT"/>
          </a:p>
        </p:txBody>
      </p:sp>
      <p:sp>
        <p:nvSpPr>
          <p:cNvPr id="48132" name="Segnaposto numero diapositiva 3">
            <a:extLst>
              <a:ext uri="{FF2B5EF4-FFF2-40B4-BE49-F238E27FC236}">
                <a16:creationId xmlns:a16="http://schemas.microsoft.com/office/drawing/2014/main" id="{45ABCDE0-CF98-671C-DEBE-F20AE1A619C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804863" indent="-309563">
              <a:spcBef>
                <a:spcPct val="30000"/>
              </a:spcBef>
              <a:defRPr sz="1200">
                <a:solidFill>
                  <a:schemeClr val="tx1"/>
                </a:solidFill>
                <a:latin typeface="Calibri" panose="020F0502020204030204" pitchFamily="34" charset="0"/>
              </a:defRPr>
            </a:lvl2pPr>
            <a:lvl3pPr marL="1238250" indent="-247650">
              <a:spcBef>
                <a:spcPct val="30000"/>
              </a:spcBef>
              <a:defRPr sz="1200">
                <a:solidFill>
                  <a:schemeClr val="tx1"/>
                </a:solidFill>
                <a:latin typeface="Calibri" panose="020F0502020204030204" pitchFamily="34" charset="0"/>
              </a:defRPr>
            </a:lvl3pPr>
            <a:lvl4pPr marL="1733550" indent="-247650">
              <a:spcBef>
                <a:spcPct val="30000"/>
              </a:spcBef>
              <a:defRPr sz="1200">
                <a:solidFill>
                  <a:schemeClr val="tx1"/>
                </a:solidFill>
                <a:latin typeface="Calibri" panose="020F0502020204030204" pitchFamily="34" charset="0"/>
              </a:defRPr>
            </a:lvl4pPr>
            <a:lvl5pPr marL="2228850" indent="-247650">
              <a:spcBef>
                <a:spcPct val="30000"/>
              </a:spcBef>
              <a:defRPr sz="1200">
                <a:solidFill>
                  <a:schemeClr val="tx1"/>
                </a:solidFill>
                <a:latin typeface="Calibri" panose="020F0502020204030204" pitchFamily="34" charset="0"/>
              </a:defRPr>
            </a:lvl5pPr>
            <a:lvl6pPr marL="2686050" indent="-247650" eaLnBrk="0" fontAlgn="base" hangingPunct="0">
              <a:spcBef>
                <a:spcPct val="30000"/>
              </a:spcBef>
              <a:spcAft>
                <a:spcPct val="0"/>
              </a:spcAft>
              <a:defRPr sz="1200">
                <a:solidFill>
                  <a:schemeClr val="tx1"/>
                </a:solidFill>
                <a:latin typeface="Calibri" panose="020F0502020204030204" pitchFamily="34" charset="0"/>
              </a:defRPr>
            </a:lvl6pPr>
            <a:lvl7pPr marL="3143250" indent="-247650" eaLnBrk="0" fontAlgn="base" hangingPunct="0">
              <a:spcBef>
                <a:spcPct val="30000"/>
              </a:spcBef>
              <a:spcAft>
                <a:spcPct val="0"/>
              </a:spcAft>
              <a:defRPr sz="1200">
                <a:solidFill>
                  <a:schemeClr val="tx1"/>
                </a:solidFill>
                <a:latin typeface="Calibri" panose="020F0502020204030204" pitchFamily="34" charset="0"/>
              </a:defRPr>
            </a:lvl7pPr>
            <a:lvl8pPr marL="3600450" indent="-247650" eaLnBrk="0" fontAlgn="base" hangingPunct="0">
              <a:spcBef>
                <a:spcPct val="30000"/>
              </a:spcBef>
              <a:spcAft>
                <a:spcPct val="0"/>
              </a:spcAft>
              <a:defRPr sz="1200">
                <a:solidFill>
                  <a:schemeClr val="tx1"/>
                </a:solidFill>
                <a:latin typeface="Calibri" panose="020F0502020204030204" pitchFamily="34" charset="0"/>
              </a:defRPr>
            </a:lvl8pPr>
            <a:lvl9pPr marL="4057650" indent="-24765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E00DD86-6841-4B98-87FC-B497A2F26A53}" type="slidenum">
              <a:rPr lang="it-IT" altLang="it-IT" sz="1300" smtClean="0">
                <a:latin typeface="Tahoma" panose="020B0604030504040204" pitchFamily="34" charset="0"/>
              </a:rPr>
              <a:pPr>
                <a:spcBef>
                  <a:spcPct val="0"/>
                </a:spcBef>
              </a:pPr>
              <a:t>57</a:t>
            </a:fld>
            <a:endParaRPr lang="it-IT" altLang="it-IT" sz="1300">
              <a:latin typeface="Tahoma" panose="020B0604030504040204" pitchFamily="34" charset="0"/>
            </a:endParaRPr>
          </a:p>
        </p:txBody>
      </p:sp>
    </p:spTree>
    <p:extLst>
      <p:ext uri="{BB962C8B-B14F-4D97-AF65-F5344CB8AC3E}">
        <p14:creationId xmlns:p14="http://schemas.microsoft.com/office/powerpoint/2010/main" val="1648721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67BFC6-D20D-4EBD-87BE-AB94ACE2EFBC}"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67BFC6-D20D-4EBD-87BE-AB94ACE2EFBC}"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67BFC6-D20D-4EBD-87BE-AB94ACE2EFBC}"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67BFC6-D20D-4EBD-87BE-AB94ACE2EFBC}"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67BFC6-D20D-4EBD-87BE-AB94ACE2EFBC}" type="datetimeFigureOut">
              <a:rPr lang="en-US" smtClean="0"/>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67BFC6-D20D-4EBD-87BE-AB94ACE2EFBC}" type="datetimeFigureOut">
              <a:rPr lang="en-US" smtClean="0"/>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67BFC6-D20D-4EBD-87BE-AB94ACE2EFBC}" type="datetimeFigureOut">
              <a:rPr lang="en-US" smtClean="0"/>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67BFC6-D20D-4EBD-87BE-AB94ACE2EFBC}"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67BFC6-D20D-4EBD-87BE-AB94ACE2EFBC}" type="datetimeFigureOut">
              <a:rPr lang="en-US" smtClean="0"/>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67BFC6-D20D-4EBD-87BE-AB94ACE2EFBC}"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67BFC6-D20D-4EBD-87BE-AB94ACE2EFBC}" type="datetimeFigureOut">
              <a:rPr lang="en-US" smtClean="0"/>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0F0B0C-8D39-4C43-95F1-4DFABA2C4198}" type="slidenum">
              <a:rPr lang="en-US" smtClean="0"/>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Diapositiva titolo">
    <p:spTree>
      <p:nvGrpSpPr>
        <p:cNvPr id="1" name=""/>
        <p:cNvGrpSpPr/>
        <p:nvPr/>
      </p:nvGrpSpPr>
      <p:grpSpPr>
        <a:xfrm>
          <a:off x="0" y="0"/>
          <a:ext cx="0" cy="0"/>
          <a:chOff x="0" y="0"/>
          <a:chExt cx="0" cy="0"/>
        </a:xfrm>
      </p:grpSpPr>
      <p:pic>
        <p:nvPicPr>
          <p:cNvPr id="3" name="Picture 7" descr="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40700" y="5949950"/>
            <a:ext cx="8953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2" name="Rectangle 2"/>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it-IT"/>
              <a:t>Fare clic per modificare lo stile del sottotitolo dello schema</a:t>
            </a:r>
          </a:p>
        </p:txBody>
      </p:sp>
      <p:sp>
        <p:nvSpPr>
          <p:cNvPr id="4" name="Rectangle 3"/>
          <p:cNvSpPr>
            <a:spLocks noGrp="1" noChangeArrowheads="1"/>
          </p:cNvSpPr>
          <p:nvPr>
            <p:ph type="dt" sz="half" idx="10"/>
          </p:nvPr>
        </p:nvSpPr>
        <p:spPr/>
        <p:txBody>
          <a:bodyPr/>
          <a:lstStyle>
            <a:lvl1pPr>
              <a:defRPr/>
            </a:lvl1pPr>
          </a:lstStyle>
          <a:p>
            <a:pPr>
              <a:defRPr/>
            </a:pPr>
            <a:endParaRPr lang="it-IT"/>
          </a:p>
        </p:txBody>
      </p:sp>
      <p:sp>
        <p:nvSpPr>
          <p:cNvPr id="5" name="Rectangle 4"/>
          <p:cNvSpPr>
            <a:spLocks noGrp="1" noChangeArrowheads="1"/>
          </p:cNvSpPr>
          <p:nvPr>
            <p:ph type="ftr" sz="quarter" idx="11"/>
          </p:nvPr>
        </p:nvSpPr>
        <p:spPr/>
        <p:txBody>
          <a:bodyPr/>
          <a:lstStyle>
            <a:lvl1pPr>
              <a:defRPr/>
            </a:lvl1pPr>
          </a:lstStyle>
          <a:p>
            <a:pPr>
              <a:defRPr/>
            </a:pPr>
            <a:endParaRPr lang="it-IT"/>
          </a:p>
        </p:txBody>
      </p:sp>
    </p:spTree>
    <p:extLst>
      <p:ext uri="{BB962C8B-B14F-4D97-AF65-F5344CB8AC3E}">
        <p14:creationId xmlns:p14="http://schemas.microsoft.com/office/powerpoint/2010/main" val="35510964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uto">
    <p:spTree>
      <p:nvGrpSpPr>
        <p:cNvPr id="1" name=""/>
        <p:cNvGrpSpPr/>
        <p:nvPr/>
      </p:nvGrpSpPr>
      <p:grpSpPr>
        <a:xfrm>
          <a:off x="0" y="0"/>
          <a:ext cx="0" cy="0"/>
          <a:chOff x="0" y="0"/>
          <a:chExt cx="0" cy="0"/>
        </a:xfrm>
      </p:grpSpPr>
      <p:sp>
        <p:nvSpPr>
          <p:cNvPr id="2" name="Segnaposto contenuto 1"/>
          <p:cNvSpPr>
            <a:spLocks noGrp="1"/>
          </p:cNvSpPr>
          <p:nvPr>
            <p:ph/>
          </p:nvPr>
        </p:nvSpPr>
        <p:spPr>
          <a:xfrm>
            <a:off x="457200" y="785794"/>
            <a:ext cx="8240713" cy="5394325"/>
          </a:xfrm>
        </p:spPr>
        <p:txBody>
          <a:bodyPr/>
          <a:lstStyle/>
          <a:p>
            <a:pPr lvl="0"/>
            <a:r>
              <a:rPr lang="it-IT" dirty="0"/>
              <a:t>Fare clic per modificare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3" name="Rectangle 3"/>
          <p:cNvSpPr>
            <a:spLocks noGrp="1" noChangeArrowheads="1"/>
          </p:cNvSpPr>
          <p:nvPr>
            <p:ph type="dt" sz="half" idx="10"/>
          </p:nvPr>
        </p:nvSpPr>
        <p:spPr/>
        <p:txBody>
          <a:bodyPr/>
          <a:lstStyle>
            <a:lvl1pPr>
              <a:defRPr/>
            </a:lvl1pPr>
          </a:lstStyle>
          <a:p>
            <a:pPr>
              <a:defRPr/>
            </a:pPr>
            <a:endParaRPr lang="it-IT"/>
          </a:p>
        </p:txBody>
      </p:sp>
      <p:sp>
        <p:nvSpPr>
          <p:cNvPr id="4" name="Rectangle 4"/>
          <p:cNvSpPr>
            <a:spLocks noGrp="1" noChangeArrowheads="1"/>
          </p:cNvSpPr>
          <p:nvPr>
            <p:ph type="ftr" sz="quarter" idx="11"/>
          </p:nvPr>
        </p:nvSpPr>
        <p:spPr/>
        <p:txBody>
          <a:bodyPr/>
          <a:lstStyle>
            <a:lvl1pPr>
              <a:defRPr/>
            </a:lvl1pPr>
          </a:lstStyle>
          <a:p>
            <a:pPr>
              <a:defRPr/>
            </a:pPr>
            <a:endParaRPr lang="it-IT"/>
          </a:p>
        </p:txBody>
      </p:sp>
    </p:spTree>
    <p:extLst>
      <p:ext uri="{BB962C8B-B14F-4D97-AF65-F5344CB8AC3E}">
        <p14:creationId xmlns:p14="http://schemas.microsoft.com/office/powerpoint/2010/main" val="196822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67BFC6-D20D-4EBD-87BE-AB94ACE2EFBC}" type="datetimeFigureOut">
              <a:rPr lang="en-US" smtClean="0"/>
              <a:t>2/23/2026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0F0B0C-8D39-4C43-95F1-4DFABA2C4198}" type="slidenum">
              <a:rPr lang="en-US" smtClean="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18.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31.png"/><Relationship Id="rId5" Type="http://schemas.openxmlformats.org/officeDocument/2006/relationships/image" Target="../media/image18.png"/><Relationship Id="rId4" Type="http://schemas.openxmlformats.org/officeDocument/2006/relationships/image" Target="../media/image30.png"/></Relationships>
</file>

<file path=ppt/slides/_rels/slide3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jp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55.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hyperlink" Target="http://www.google.it/url?sa=i&amp;rct=j&amp;q=&amp;esrc=s&amp;source=images&amp;cd=&amp;cad=rja&amp;uact=8&amp;ved=0ahUKEwivk_Tj4svPAhWDtBQKHaAaCT4QjRwIBw&amp;url=http://nonsolomusicaericette.it/pausa-caffe-immagini-bellissime-frasi/&amp;psig=AFQjCNE7_fGoO2bDGxWdTV3QiMozwwjz6g&amp;ust=1476034453443183" TargetMode="External"/><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64.jpeg"/></Relationships>
</file>

<file path=ppt/slides/_rels/slide5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FA69839F-2893-B495-E7E5-BE65BE5CA419}"/>
              </a:ext>
            </a:extLst>
          </p:cNvPr>
          <p:cNvSpPr>
            <a:spLocks noGrp="1"/>
          </p:cNvSpPr>
          <p:nvPr>
            <p:ph type="ctrTitle"/>
          </p:nvPr>
        </p:nvSpPr>
        <p:spPr/>
        <p:txBody>
          <a:bodyPr/>
          <a:lstStyle/>
          <a:p>
            <a:r>
              <a:rPr lang="it-IT" dirty="0"/>
              <a:t>COLONNA VERTEBRALE</a:t>
            </a:r>
          </a:p>
        </p:txBody>
      </p:sp>
      <p:sp>
        <p:nvSpPr>
          <p:cNvPr id="5" name="Sottotitolo 4">
            <a:extLst>
              <a:ext uri="{FF2B5EF4-FFF2-40B4-BE49-F238E27FC236}">
                <a16:creationId xmlns:a16="http://schemas.microsoft.com/office/drawing/2014/main" id="{61DE8BE0-7279-870B-11A5-623714327C73}"/>
              </a:ext>
            </a:extLst>
          </p:cNvPr>
          <p:cNvSpPr>
            <a:spLocks noGrp="1"/>
          </p:cNvSpPr>
          <p:nvPr>
            <p:ph type="subTitle" idx="1"/>
          </p:nvPr>
        </p:nvSpPr>
        <p:spPr>
          <a:xfrm>
            <a:off x="1371600" y="3413373"/>
            <a:ext cx="6400800" cy="1752600"/>
          </a:xfrm>
        </p:spPr>
        <p:txBody>
          <a:bodyPr/>
          <a:lstStyle/>
          <a:p>
            <a:r>
              <a:rPr lang="it-IT" dirty="0"/>
              <a:t>TRATTO CERVICALE</a:t>
            </a:r>
          </a:p>
        </p:txBody>
      </p:sp>
    </p:spTree>
    <p:extLst>
      <p:ext uri="{BB962C8B-B14F-4D97-AF65-F5344CB8AC3E}">
        <p14:creationId xmlns:p14="http://schemas.microsoft.com/office/powerpoint/2010/main" val="666253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81"/>
          <p:cNvPicPr>
            <a:picLocks noGrp="1" noChangeAspect="1"/>
          </p:cNvPicPr>
          <p:nvPr isPhoto="1"/>
        </p:nvPicPr>
        <p:blipFill>
          <a:blip r:embed="rId2" cstate="print">
            <a:lum/>
            <a:extLst>
              <a:ext uri="{28A0092B-C50C-407E-A947-70E740481C1C}">
                <a14:useLocalDpi xmlns:a14="http://schemas.microsoft.com/office/drawing/2010/main" val="0"/>
              </a:ext>
            </a:extLst>
          </a:blip>
          <a:srcRect t="43700" b="10100"/>
          <a:stretch>
            <a:fillRect/>
          </a:stretch>
        </p:blipFill>
        <p:spPr>
          <a:xfrm>
            <a:off x="5939079" y="116632"/>
            <a:ext cx="2881393" cy="3295542"/>
          </a:xfrm>
          <a:prstGeom prst="rect">
            <a:avLst/>
          </a:prstGeom>
          <a:noFill/>
          <a:ln>
            <a:noFill/>
          </a:ln>
        </p:spPr>
      </p:pic>
      <p:pic>
        <p:nvPicPr>
          <p:cNvPr id="3" name="Picture 1" descr="0378">
            <a:extLst>
              <a:ext uri="{FF2B5EF4-FFF2-40B4-BE49-F238E27FC236}">
                <a16:creationId xmlns:a16="http://schemas.microsoft.com/office/drawing/2014/main" id="{D031C8F6-ECF9-C41D-D8CC-B437C7E5A783}"/>
              </a:ext>
            </a:extLst>
          </p:cNvPr>
          <p:cNvPicPr>
            <a:picLocks noGrp="1" noChangeAspect="1"/>
          </p:cNvPicPr>
          <p:nvPr isPhoto="1"/>
        </p:nvPicPr>
        <p:blipFill>
          <a:blip r:embed="rId3" cstate="print">
            <a:lum/>
            <a:extLst>
              <a:ext uri="{28A0092B-C50C-407E-A947-70E740481C1C}">
                <a14:useLocalDpi xmlns:a14="http://schemas.microsoft.com/office/drawing/2010/main" val="0"/>
              </a:ext>
            </a:extLst>
          </a:blip>
          <a:srcRect l="6293" r="2320" b="30050"/>
          <a:stretch>
            <a:fillRect/>
          </a:stretch>
        </p:blipFill>
        <p:spPr>
          <a:xfrm>
            <a:off x="207996" y="1813142"/>
            <a:ext cx="2734631" cy="1584176"/>
          </a:xfrm>
          <a:prstGeom prst="rect">
            <a:avLst/>
          </a:prstGeom>
          <a:noFill/>
          <a:ln>
            <a:noFill/>
          </a:ln>
        </p:spPr>
      </p:pic>
      <p:pic>
        <p:nvPicPr>
          <p:cNvPr id="6" name="Picture 1" descr="0382"/>
          <p:cNvPicPr>
            <a:picLocks noGrp="1" noChangeAspect="1"/>
          </p:cNvPicPr>
          <p:nvPr isPhoto="1"/>
        </p:nvPicPr>
        <p:blipFill>
          <a:blip r:embed="rId4" cstate="print">
            <a:lum/>
            <a:extLst>
              <a:ext uri="{28A0092B-C50C-407E-A947-70E740481C1C}">
                <a14:useLocalDpi xmlns:a14="http://schemas.microsoft.com/office/drawing/2010/main" val="0"/>
              </a:ext>
            </a:extLst>
          </a:blip>
          <a:srcRect t="42649" b="9051"/>
          <a:stretch>
            <a:fillRect/>
          </a:stretch>
        </p:blipFill>
        <p:spPr>
          <a:xfrm>
            <a:off x="3028855" y="124060"/>
            <a:ext cx="2823994" cy="3280686"/>
          </a:xfrm>
          <a:prstGeom prst="rect">
            <a:avLst/>
          </a:prstGeom>
          <a:noFill/>
          <a:ln>
            <a:noFill/>
          </a:ln>
        </p:spPr>
      </p:pic>
      <p:pic>
        <p:nvPicPr>
          <p:cNvPr id="7" name="Picture 1" descr="0382">
            <a:extLst>
              <a:ext uri="{FF2B5EF4-FFF2-40B4-BE49-F238E27FC236}">
                <a16:creationId xmlns:a16="http://schemas.microsoft.com/office/drawing/2014/main" id="{6EC70241-2A40-09EB-5857-8C28CA6621D3}"/>
              </a:ext>
            </a:extLst>
          </p:cNvPr>
          <p:cNvPicPr>
            <a:picLocks noGrp="1" noChangeAspect="1"/>
          </p:cNvPicPr>
          <p:nvPr isPhoto="1"/>
        </p:nvPicPr>
        <p:blipFill>
          <a:blip r:embed="rId4" cstate="print">
            <a:lum/>
            <a:extLst>
              <a:ext uri="{28A0092B-C50C-407E-A947-70E740481C1C}">
                <a14:useLocalDpi xmlns:a14="http://schemas.microsoft.com/office/drawing/2010/main" val="0"/>
              </a:ext>
            </a:extLst>
          </a:blip>
          <a:srcRect b="57350"/>
          <a:stretch>
            <a:fillRect/>
          </a:stretch>
        </p:blipFill>
        <p:spPr>
          <a:xfrm>
            <a:off x="3028855" y="3460682"/>
            <a:ext cx="2823995" cy="3280686"/>
          </a:xfrm>
          <a:prstGeom prst="rect">
            <a:avLst/>
          </a:prstGeom>
          <a:noFill/>
          <a:ln>
            <a:noFill/>
          </a:ln>
        </p:spPr>
      </p:pic>
      <p:pic>
        <p:nvPicPr>
          <p:cNvPr id="9" name="Picture 1" descr="03105">
            <a:extLst>
              <a:ext uri="{FF2B5EF4-FFF2-40B4-BE49-F238E27FC236}">
                <a16:creationId xmlns:a16="http://schemas.microsoft.com/office/drawing/2014/main" id="{D8D983EB-D427-712C-DE05-74D773888BA5}"/>
              </a:ext>
            </a:extLst>
          </p:cNvPr>
          <p:cNvPicPr>
            <a:picLocks noGrp="1" noChangeAspect="1"/>
          </p:cNvPicPr>
          <p:nvPr isPhoto="1"/>
        </p:nvPicPr>
        <p:blipFill>
          <a:blip r:embed="rId5" cstate="print">
            <a:lum/>
            <a:extLst>
              <a:ext uri="{28A0092B-C50C-407E-A947-70E740481C1C}">
                <a14:useLocalDpi xmlns:a14="http://schemas.microsoft.com/office/drawing/2010/main" val="0"/>
              </a:ext>
            </a:extLst>
          </a:blip>
          <a:srcRect l="3538" t="1979" r="78350" b="66454"/>
          <a:stretch>
            <a:fillRect/>
          </a:stretch>
        </p:blipFill>
        <p:spPr>
          <a:xfrm>
            <a:off x="583039" y="3429000"/>
            <a:ext cx="1984543" cy="1984543"/>
          </a:xfrm>
          <a:prstGeom prst="rect">
            <a:avLst/>
          </a:prstGeom>
          <a:noFill/>
          <a:ln>
            <a:noFill/>
          </a:ln>
        </p:spPr>
      </p:pic>
      <p:sp>
        <p:nvSpPr>
          <p:cNvPr id="4" name="Freccia a sinistra 3">
            <a:extLst>
              <a:ext uri="{FF2B5EF4-FFF2-40B4-BE49-F238E27FC236}">
                <a16:creationId xmlns:a16="http://schemas.microsoft.com/office/drawing/2014/main" id="{A4503F12-D095-B150-B1B9-C8D3590CD264}"/>
              </a:ext>
            </a:extLst>
          </p:cNvPr>
          <p:cNvSpPr/>
          <p:nvPr/>
        </p:nvSpPr>
        <p:spPr>
          <a:xfrm rot="3140042">
            <a:off x="5041247" y="1277972"/>
            <a:ext cx="288925" cy="45719"/>
          </a:xfrm>
          <a:prstGeom prst="leftArrow">
            <a:avLst>
              <a:gd name="adj1" fmla="val 50000"/>
              <a:gd name="adj2" fmla="val 100000"/>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5" name="Freccia a sinistra 4">
            <a:extLst>
              <a:ext uri="{FF2B5EF4-FFF2-40B4-BE49-F238E27FC236}">
                <a16:creationId xmlns:a16="http://schemas.microsoft.com/office/drawing/2014/main" id="{8968D8DD-E831-A262-3EF0-ADBB1608A6DC}"/>
              </a:ext>
            </a:extLst>
          </p:cNvPr>
          <p:cNvSpPr/>
          <p:nvPr/>
        </p:nvSpPr>
        <p:spPr>
          <a:xfrm rot="21427448">
            <a:off x="4769686" y="267867"/>
            <a:ext cx="288925" cy="45719"/>
          </a:xfrm>
          <a:prstGeom prst="leftArrow">
            <a:avLst>
              <a:gd name="adj1" fmla="val 50000"/>
              <a:gd name="adj2" fmla="val 100000"/>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0" name="Freccia a sinistra 9">
            <a:extLst>
              <a:ext uri="{FF2B5EF4-FFF2-40B4-BE49-F238E27FC236}">
                <a16:creationId xmlns:a16="http://schemas.microsoft.com/office/drawing/2014/main" id="{DE104E42-2D87-1C52-01ED-D22CA12B67E5}"/>
              </a:ext>
            </a:extLst>
          </p:cNvPr>
          <p:cNvSpPr/>
          <p:nvPr/>
        </p:nvSpPr>
        <p:spPr>
          <a:xfrm rot="13244739">
            <a:off x="4047848" y="1545277"/>
            <a:ext cx="288925" cy="45719"/>
          </a:xfrm>
          <a:prstGeom prst="leftArrow">
            <a:avLst>
              <a:gd name="adj1" fmla="val 50000"/>
              <a:gd name="adj2" fmla="val 100000"/>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1" name="Ovale 10">
            <a:extLst>
              <a:ext uri="{FF2B5EF4-FFF2-40B4-BE49-F238E27FC236}">
                <a16:creationId xmlns:a16="http://schemas.microsoft.com/office/drawing/2014/main" id="{976E7EF4-2CF5-1144-B8FC-4863D2C78853}"/>
              </a:ext>
            </a:extLst>
          </p:cNvPr>
          <p:cNvSpPr/>
          <p:nvPr/>
        </p:nvSpPr>
        <p:spPr>
          <a:xfrm rot="16200000">
            <a:off x="3320603" y="1148428"/>
            <a:ext cx="250592" cy="812046"/>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2" name="Ovale 11">
            <a:extLst>
              <a:ext uri="{FF2B5EF4-FFF2-40B4-BE49-F238E27FC236}">
                <a16:creationId xmlns:a16="http://schemas.microsoft.com/office/drawing/2014/main" id="{A7B225BC-5C71-CB4F-5110-1B230E77E88F}"/>
              </a:ext>
            </a:extLst>
          </p:cNvPr>
          <p:cNvSpPr/>
          <p:nvPr/>
        </p:nvSpPr>
        <p:spPr>
          <a:xfrm rot="16200000">
            <a:off x="3332378" y="2837446"/>
            <a:ext cx="216024" cy="823068"/>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3" name="Ovale 12">
            <a:extLst>
              <a:ext uri="{FF2B5EF4-FFF2-40B4-BE49-F238E27FC236}">
                <a16:creationId xmlns:a16="http://schemas.microsoft.com/office/drawing/2014/main" id="{2ECDFFC8-EA4D-27A5-9497-9543262D962D}"/>
              </a:ext>
            </a:extLst>
          </p:cNvPr>
          <p:cNvSpPr/>
          <p:nvPr/>
        </p:nvSpPr>
        <p:spPr>
          <a:xfrm rot="16200000">
            <a:off x="3264042" y="4602522"/>
            <a:ext cx="216025" cy="812046"/>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4" name="Ovale 13">
            <a:extLst>
              <a:ext uri="{FF2B5EF4-FFF2-40B4-BE49-F238E27FC236}">
                <a16:creationId xmlns:a16="http://schemas.microsoft.com/office/drawing/2014/main" id="{4B50E00A-48D8-B39A-CBF6-026B7E0E34AD}"/>
              </a:ext>
            </a:extLst>
          </p:cNvPr>
          <p:cNvSpPr/>
          <p:nvPr/>
        </p:nvSpPr>
        <p:spPr>
          <a:xfrm rot="16200000">
            <a:off x="3211672" y="6310768"/>
            <a:ext cx="250592" cy="741872"/>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5" name="Freccia a sinistra 14">
            <a:extLst>
              <a:ext uri="{FF2B5EF4-FFF2-40B4-BE49-F238E27FC236}">
                <a16:creationId xmlns:a16="http://schemas.microsoft.com/office/drawing/2014/main" id="{6CC762E5-4020-4637-9D75-70C717681E27}"/>
              </a:ext>
            </a:extLst>
          </p:cNvPr>
          <p:cNvSpPr/>
          <p:nvPr/>
        </p:nvSpPr>
        <p:spPr>
          <a:xfrm rot="18806815">
            <a:off x="8215885" y="2702973"/>
            <a:ext cx="288925" cy="45719"/>
          </a:xfrm>
          <a:prstGeom prst="leftArrow">
            <a:avLst>
              <a:gd name="adj1" fmla="val 50000"/>
              <a:gd name="adj2" fmla="val 100000"/>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pic>
        <p:nvPicPr>
          <p:cNvPr id="16" name="Picture 1" descr="0381">
            <a:extLst>
              <a:ext uri="{FF2B5EF4-FFF2-40B4-BE49-F238E27FC236}">
                <a16:creationId xmlns:a16="http://schemas.microsoft.com/office/drawing/2014/main" id="{BBA00699-4E44-CC9D-565C-66F6CD866D33}"/>
              </a:ext>
            </a:extLst>
          </p:cNvPr>
          <p:cNvPicPr>
            <a:picLocks noGrp="1" noChangeAspect="1"/>
          </p:cNvPicPr>
          <p:nvPr isPhoto="1"/>
        </p:nvPicPr>
        <p:blipFill>
          <a:blip r:embed="rId2" cstate="print">
            <a:lum/>
            <a:extLst>
              <a:ext uri="{28A0092B-C50C-407E-A947-70E740481C1C}">
                <a14:useLocalDpi xmlns:a14="http://schemas.microsoft.com/office/drawing/2010/main" val="0"/>
              </a:ext>
            </a:extLst>
          </a:blip>
          <a:srcRect b="56300"/>
          <a:stretch>
            <a:fillRect/>
          </a:stretch>
        </p:blipFill>
        <p:spPr>
          <a:xfrm>
            <a:off x="5941217" y="3460682"/>
            <a:ext cx="2879255" cy="3280686"/>
          </a:xfrm>
          <a:prstGeom prst="rect">
            <a:avLst/>
          </a:prstGeom>
          <a:noFill/>
          <a:ln>
            <a:noFill/>
          </a:ln>
        </p:spPr>
      </p:pic>
      <p:sp>
        <p:nvSpPr>
          <p:cNvPr id="17" name="Freccia a sinistra 16">
            <a:extLst>
              <a:ext uri="{FF2B5EF4-FFF2-40B4-BE49-F238E27FC236}">
                <a16:creationId xmlns:a16="http://schemas.microsoft.com/office/drawing/2014/main" id="{9A0CE785-DEEB-AAF7-CDFC-15A66F7D3822}"/>
              </a:ext>
            </a:extLst>
          </p:cNvPr>
          <p:cNvSpPr/>
          <p:nvPr/>
        </p:nvSpPr>
        <p:spPr>
          <a:xfrm rot="20522875">
            <a:off x="7235313" y="5159971"/>
            <a:ext cx="288925" cy="45719"/>
          </a:xfrm>
          <a:prstGeom prst="leftArrow">
            <a:avLst>
              <a:gd name="adj1" fmla="val 50000"/>
              <a:gd name="adj2" fmla="val 100000"/>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8" name="Freccia a sinistra 17">
            <a:extLst>
              <a:ext uri="{FF2B5EF4-FFF2-40B4-BE49-F238E27FC236}">
                <a16:creationId xmlns:a16="http://schemas.microsoft.com/office/drawing/2014/main" id="{0D59C926-DDE5-44BF-CADE-A8DD60DE6DEE}"/>
              </a:ext>
            </a:extLst>
          </p:cNvPr>
          <p:cNvSpPr/>
          <p:nvPr/>
        </p:nvSpPr>
        <p:spPr>
          <a:xfrm rot="11776843">
            <a:off x="6876872" y="5534698"/>
            <a:ext cx="288925" cy="45719"/>
          </a:xfrm>
          <a:prstGeom prst="leftArrow">
            <a:avLst>
              <a:gd name="adj1" fmla="val 50000"/>
              <a:gd name="adj2" fmla="val 100000"/>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Tree>
    <p:extLst>
      <p:ext uri="{BB962C8B-B14F-4D97-AF65-F5344CB8AC3E}">
        <p14:creationId xmlns:p14="http://schemas.microsoft.com/office/powerpoint/2010/main" val="69514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1" grpId="0" animBg="1"/>
      <p:bldP spid="12" grpId="0" animBg="1"/>
      <p:bldP spid="13" grpId="0" animBg="1"/>
      <p:bldP spid="14" grpId="0" animBg="1"/>
      <p:bldP spid="15" grpId="0" animBg="1"/>
      <p:bldP spid="17" grpId="0" animBg="1"/>
      <p:bldP spid="1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83"/>
          <p:cNvPicPr>
            <a:picLocks noGrp="1" noChangeAspect="1"/>
          </p:cNvPicPr>
          <p:nvPr isPhoto="1"/>
        </p:nvPicPr>
        <p:blipFill>
          <a:blip r:embed="rId2" cstate="print">
            <a:lum/>
            <a:extLst>
              <a:ext uri="{28A0092B-C50C-407E-A947-70E740481C1C}">
                <a14:useLocalDpi xmlns:a14="http://schemas.microsoft.com/office/drawing/2010/main" val="0"/>
              </a:ext>
            </a:extLst>
          </a:blip>
          <a:srcRect t="44753" b="5900"/>
          <a:stretch>
            <a:fillRect/>
          </a:stretch>
        </p:blipFill>
        <p:spPr>
          <a:xfrm>
            <a:off x="2231740" y="267447"/>
            <a:ext cx="4680520" cy="6323105"/>
          </a:xfrm>
          <a:prstGeom prst="rect">
            <a:avLst/>
          </a:prstGeom>
          <a:noFill/>
          <a:ln>
            <a:noFill/>
          </a:ln>
        </p:spPr>
      </p:pic>
      <p:sp>
        <p:nvSpPr>
          <p:cNvPr id="3" name="Ovale 2">
            <a:extLst>
              <a:ext uri="{FF2B5EF4-FFF2-40B4-BE49-F238E27FC236}">
                <a16:creationId xmlns:a16="http://schemas.microsoft.com/office/drawing/2014/main" id="{15133C52-3DD4-0257-6207-6CAD34106D3D}"/>
              </a:ext>
            </a:extLst>
          </p:cNvPr>
          <p:cNvSpPr/>
          <p:nvPr/>
        </p:nvSpPr>
        <p:spPr>
          <a:xfrm>
            <a:off x="4067944" y="332656"/>
            <a:ext cx="720080" cy="432048"/>
          </a:xfrm>
          <a:prstGeom prst="ellipse">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Tree>
    <p:extLst>
      <p:ext uri="{BB962C8B-B14F-4D97-AF65-F5344CB8AC3E}">
        <p14:creationId xmlns:p14="http://schemas.microsoft.com/office/powerpoint/2010/main" val="4214416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B7271-4F56-4CDD-5223-87F14FDF4BBA}"/>
            </a:ext>
          </a:extLst>
        </p:cNvPr>
        <p:cNvGrpSpPr/>
        <p:nvPr/>
      </p:nvGrpSpPr>
      <p:grpSpPr>
        <a:xfrm>
          <a:off x="0" y="0"/>
          <a:ext cx="0" cy="0"/>
          <a:chOff x="0" y="0"/>
          <a:chExt cx="0" cy="0"/>
        </a:xfrm>
      </p:grpSpPr>
      <p:pic>
        <p:nvPicPr>
          <p:cNvPr id="3" name="Picture 1" descr="0383">
            <a:extLst>
              <a:ext uri="{FF2B5EF4-FFF2-40B4-BE49-F238E27FC236}">
                <a16:creationId xmlns:a16="http://schemas.microsoft.com/office/drawing/2014/main" id="{2747FE5C-AF98-E7EC-A8E7-84430CC1D5D6}"/>
              </a:ext>
            </a:extLst>
          </p:cNvPr>
          <p:cNvPicPr>
            <a:picLocks noGrp="1" noChangeAspect="1"/>
          </p:cNvPicPr>
          <p:nvPr isPhoto="1"/>
        </p:nvPicPr>
        <p:blipFill>
          <a:blip r:embed="rId2" cstate="print">
            <a:lum/>
            <a:extLst>
              <a:ext uri="{28A0092B-C50C-407E-A947-70E740481C1C}">
                <a14:useLocalDpi xmlns:a14="http://schemas.microsoft.com/office/drawing/2010/main" val="0"/>
              </a:ext>
            </a:extLst>
          </a:blip>
          <a:srcRect b="56399"/>
          <a:stretch>
            <a:fillRect/>
          </a:stretch>
        </p:blipFill>
        <p:spPr>
          <a:xfrm>
            <a:off x="179512" y="692696"/>
            <a:ext cx="4300880" cy="5133678"/>
          </a:xfrm>
          <a:prstGeom prst="rect">
            <a:avLst/>
          </a:prstGeom>
          <a:noFill/>
          <a:ln>
            <a:noFill/>
          </a:ln>
        </p:spPr>
      </p:pic>
      <p:pic>
        <p:nvPicPr>
          <p:cNvPr id="4" name="Picture 1" descr="03104">
            <a:extLst>
              <a:ext uri="{FF2B5EF4-FFF2-40B4-BE49-F238E27FC236}">
                <a16:creationId xmlns:a16="http://schemas.microsoft.com/office/drawing/2014/main" id="{95FC2AB0-79D1-04C8-9DF7-6914CAB61AD5}"/>
              </a:ext>
            </a:extLst>
          </p:cNvPr>
          <p:cNvPicPr>
            <a:picLocks noGrp="1" noChangeAspect="1"/>
          </p:cNvPicPr>
          <p:nvPr isPhoto="1"/>
        </p:nvPicPr>
        <p:blipFill>
          <a:blip r:embed="rId3" cstate="print">
            <a:lum/>
            <a:extLst>
              <a:ext uri="{28A0092B-C50C-407E-A947-70E740481C1C}">
                <a14:useLocalDpi xmlns:a14="http://schemas.microsoft.com/office/drawing/2010/main" val="0"/>
              </a:ext>
            </a:extLst>
          </a:blip>
          <a:srcRect l="17713" r="16925" b="25142"/>
          <a:stretch>
            <a:fillRect/>
          </a:stretch>
        </p:blipFill>
        <p:spPr>
          <a:xfrm>
            <a:off x="4144385" y="1556792"/>
            <a:ext cx="4786599" cy="2952328"/>
          </a:xfrm>
          <a:prstGeom prst="rect">
            <a:avLst/>
          </a:prstGeom>
          <a:noFill/>
          <a:ln>
            <a:noFill/>
          </a:ln>
        </p:spPr>
      </p:pic>
    </p:spTree>
    <p:extLst>
      <p:ext uri="{BB962C8B-B14F-4D97-AF65-F5344CB8AC3E}">
        <p14:creationId xmlns:p14="http://schemas.microsoft.com/office/powerpoint/2010/main" val="1092069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80"/>
          <p:cNvPicPr>
            <a:picLocks noGrp="1" noChangeAspect="1"/>
          </p:cNvPicPr>
          <p:nvPr isPhoto="1"/>
        </p:nvPicPr>
        <p:blipFill>
          <a:blip r:embed="rId2" cstate="print">
            <a:lum/>
            <a:extLst>
              <a:ext uri="{28A0092B-C50C-407E-A947-70E740481C1C}">
                <a14:useLocalDpi xmlns:a14="http://schemas.microsoft.com/office/drawing/2010/main" val="0"/>
              </a:ext>
            </a:extLst>
          </a:blip>
          <a:srcRect b="10101"/>
          <a:stretch>
            <a:fillRect/>
          </a:stretch>
        </p:blipFill>
        <p:spPr>
          <a:xfrm>
            <a:off x="2085454" y="0"/>
            <a:ext cx="4973092" cy="6853719"/>
          </a:xfrm>
          <a:prstGeom prst="rect">
            <a:avLst/>
          </a:prstGeom>
          <a:noFill/>
          <a:ln>
            <a:noFill/>
          </a:ln>
        </p:spPr>
      </p:pic>
    </p:spTree>
    <p:extLst>
      <p:ext uri="{BB962C8B-B14F-4D97-AF65-F5344CB8AC3E}">
        <p14:creationId xmlns:p14="http://schemas.microsoft.com/office/powerpoint/2010/main" val="1619439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 descr="03105">
            <a:extLst>
              <a:ext uri="{FF2B5EF4-FFF2-40B4-BE49-F238E27FC236}">
                <a16:creationId xmlns:a16="http://schemas.microsoft.com/office/drawing/2014/main" id="{7951630E-A05E-4916-3980-9AFA7025DA47}"/>
              </a:ext>
            </a:extLst>
          </p:cNvPr>
          <p:cNvPicPr>
            <a:picLocks noGrp="1" noChangeAspect="1"/>
          </p:cNvPicPr>
          <p:nvPr isPhoto="1"/>
        </p:nvPicPr>
        <p:blipFill>
          <a:blip r:embed="rId3" cstate="print">
            <a:lum/>
            <a:extLst>
              <a:ext uri="{28A0092B-C50C-407E-A947-70E740481C1C}">
                <a14:useLocalDpi xmlns:a14="http://schemas.microsoft.com/office/drawing/2010/main" val="0"/>
              </a:ext>
            </a:extLst>
          </a:blip>
          <a:srcRect l="51483" t="12799" b="28186"/>
          <a:stretch>
            <a:fillRect/>
          </a:stretch>
        </p:blipFill>
        <p:spPr>
          <a:xfrm>
            <a:off x="885672" y="697773"/>
            <a:ext cx="7214720" cy="5035483"/>
          </a:xfrm>
          <a:prstGeom prst="rect">
            <a:avLst/>
          </a:prstGeom>
          <a:noFill/>
          <a:ln>
            <a:noFill/>
          </a:ln>
        </p:spPr>
      </p:pic>
      <p:sp>
        <p:nvSpPr>
          <p:cNvPr id="5" name="Rettangolo 1">
            <a:extLst>
              <a:ext uri="{FF2B5EF4-FFF2-40B4-BE49-F238E27FC236}">
                <a16:creationId xmlns:a16="http://schemas.microsoft.com/office/drawing/2014/main" id="{12E1243B-E88D-7C42-0128-96ED65019F2B}"/>
              </a:ext>
            </a:extLst>
          </p:cNvPr>
          <p:cNvSpPr>
            <a:spLocks noChangeArrowheads="1"/>
          </p:cNvSpPr>
          <p:nvPr/>
        </p:nvSpPr>
        <p:spPr bwMode="auto">
          <a:xfrm>
            <a:off x="3816871" y="2852936"/>
            <a:ext cx="720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2400" b="1" dirty="0">
                <a:latin typeface="Tahoma" pitchFamily="34" charset="0"/>
              </a:rPr>
              <a:t>C4</a:t>
            </a:r>
          </a:p>
        </p:txBody>
      </p:sp>
      <p:sp>
        <p:nvSpPr>
          <p:cNvPr id="2" name="Ovale 1">
            <a:extLst>
              <a:ext uri="{FF2B5EF4-FFF2-40B4-BE49-F238E27FC236}">
                <a16:creationId xmlns:a16="http://schemas.microsoft.com/office/drawing/2014/main" id="{C26E075D-3AA6-11CF-5538-2FCC60CDD483}"/>
              </a:ext>
            </a:extLst>
          </p:cNvPr>
          <p:cNvSpPr/>
          <p:nvPr/>
        </p:nvSpPr>
        <p:spPr>
          <a:xfrm>
            <a:off x="791580" y="3645024"/>
            <a:ext cx="1980220" cy="1080120"/>
          </a:xfrm>
          <a:prstGeom prst="ellipse">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Tree>
    <p:extLst>
      <p:ext uri="{BB962C8B-B14F-4D97-AF65-F5344CB8AC3E}">
        <p14:creationId xmlns:p14="http://schemas.microsoft.com/office/powerpoint/2010/main" val="2026701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09"/>
          <p:cNvPicPr>
            <a:picLocks noGrp="1" noChangeAspect="1"/>
          </p:cNvPicPr>
          <p:nvPr isPhoto="1"/>
        </p:nvPicPr>
        <p:blipFill>
          <a:blip r:embed="rId2" cstate="print">
            <a:lum/>
            <a:extLst>
              <a:ext uri="{28A0092B-C50C-407E-A947-70E740481C1C}">
                <a14:useLocalDpi xmlns:a14="http://schemas.microsoft.com/office/drawing/2010/main" val="0"/>
              </a:ext>
            </a:extLst>
          </a:blip>
          <a:srcRect b="9051"/>
          <a:stretch>
            <a:fillRect/>
          </a:stretch>
        </p:blipFill>
        <p:spPr>
          <a:xfrm>
            <a:off x="295275" y="288032"/>
            <a:ext cx="8553450" cy="6237312"/>
          </a:xfrm>
          <a:prstGeom prst="rect">
            <a:avLst/>
          </a:prstGeom>
          <a:noFill/>
          <a:ln>
            <a:noFill/>
          </a:ln>
        </p:spPr>
      </p:pic>
      <p:sp>
        <p:nvSpPr>
          <p:cNvPr id="3" name="Ovale 2">
            <a:extLst>
              <a:ext uri="{FF2B5EF4-FFF2-40B4-BE49-F238E27FC236}">
                <a16:creationId xmlns:a16="http://schemas.microsoft.com/office/drawing/2014/main" id="{0AE3784B-6733-B67B-8E81-C70B4D4E716A}"/>
              </a:ext>
            </a:extLst>
          </p:cNvPr>
          <p:cNvSpPr/>
          <p:nvPr/>
        </p:nvSpPr>
        <p:spPr>
          <a:xfrm>
            <a:off x="6588224" y="3356992"/>
            <a:ext cx="504056" cy="1080120"/>
          </a:xfrm>
          <a:prstGeom prst="ellipse">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Tree>
    <p:extLst>
      <p:ext uri="{BB962C8B-B14F-4D97-AF65-F5344CB8AC3E}">
        <p14:creationId xmlns:p14="http://schemas.microsoft.com/office/powerpoint/2010/main" val="2196022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c0305_01"/>
          <p:cNvPicPr>
            <a:picLocks noGrp="1" noChangeAspect="1"/>
          </p:cNvPicPr>
          <p:nvPr isPhoto="1"/>
        </p:nvPicPr>
        <p:blipFill>
          <a:blip r:embed="rId2" cstate="print">
            <a:lum/>
            <a:extLst>
              <a:ext uri="{28A0092B-C50C-407E-A947-70E740481C1C}">
                <a14:useLocalDpi xmlns:a14="http://schemas.microsoft.com/office/drawing/2010/main" val="0"/>
              </a:ext>
            </a:extLst>
          </a:blip>
          <a:srcRect l="22157" t="1701" r="22953" b="18500"/>
          <a:stretch>
            <a:fillRect/>
          </a:stretch>
        </p:blipFill>
        <p:spPr>
          <a:xfrm>
            <a:off x="1956973" y="548680"/>
            <a:ext cx="5230054" cy="5760640"/>
          </a:xfrm>
          <a:prstGeom prst="rect">
            <a:avLst/>
          </a:prstGeom>
          <a:noFill/>
          <a:ln>
            <a:noFill/>
          </a:ln>
        </p:spPr>
      </p:pic>
    </p:spTree>
    <p:extLst>
      <p:ext uri="{BB962C8B-B14F-4D97-AF65-F5344CB8AC3E}">
        <p14:creationId xmlns:p14="http://schemas.microsoft.com/office/powerpoint/2010/main" val="3041443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c0305_02"/>
          <p:cNvPicPr>
            <a:picLocks noGrp="1" noChangeAspect="1"/>
          </p:cNvPicPr>
          <p:nvPr isPhoto="1"/>
        </p:nvPicPr>
        <p:blipFill>
          <a:blip r:embed="rId2" cstate="print">
            <a:lum/>
            <a:extLst>
              <a:ext uri="{28A0092B-C50C-407E-A947-70E740481C1C}">
                <a14:useLocalDpi xmlns:a14="http://schemas.microsoft.com/office/drawing/2010/main" val="0"/>
              </a:ext>
            </a:extLst>
          </a:blip>
          <a:srcRect b="21935"/>
          <a:stretch>
            <a:fillRect/>
          </a:stretch>
        </p:blipFill>
        <p:spPr>
          <a:xfrm>
            <a:off x="0" y="1117601"/>
            <a:ext cx="9144000" cy="3607544"/>
          </a:xfrm>
          <a:prstGeom prst="rect">
            <a:avLst/>
          </a:prstGeom>
          <a:noFill/>
          <a:ln>
            <a:noFill/>
          </a:ln>
        </p:spPr>
      </p:pic>
    </p:spTree>
    <p:extLst>
      <p:ext uri="{BB962C8B-B14F-4D97-AF65-F5344CB8AC3E}">
        <p14:creationId xmlns:p14="http://schemas.microsoft.com/office/powerpoint/2010/main" val="1003572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588996-047E-392D-0422-88B1F14B0D04}"/>
              </a:ext>
            </a:extLst>
          </p:cNvPr>
          <p:cNvSpPr>
            <a:spLocks noGrp="1"/>
          </p:cNvSpPr>
          <p:nvPr>
            <p:ph type="title"/>
          </p:nvPr>
        </p:nvSpPr>
        <p:spPr>
          <a:xfrm>
            <a:off x="457200" y="202630"/>
            <a:ext cx="4690864" cy="634082"/>
          </a:xfrm>
        </p:spPr>
        <p:txBody>
          <a:bodyPr>
            <a:normAutofit/>
          </a:bodyPr>
          <a:lstStyle/>
          <a:p>
            <a:r>
              <a:rPr lang="it-IT" sz="3200" dirty="0"/>
              <a:t>UNCOARTROSI</a:t>
            </a:r>
          </a:p>
        </p:txBody>
      </p:sp>
      <p:sp>
        <p:nvSpPr>
          <p:cNvPr id="3" name="Segnaposto contenuto 2">
            <a:extLst>
              <a:ext uri="{FF2B5EF4-FFF2-40B4-BE49-F238E27FC236}">
                <a16:creationId xmlns:a16="http://schemas.microsoft.com/office/drawing/2014/main" id="{B067A841-1385-6C86-FA78-62275C53097D}"/>
              </a:ext>
            </a:extLst>
          </p:cNvPr>
          <p:cNvSpPr>
            <a:spLocks noGrp="1"/>
          </p:cNvSpPr>
          <p:nvPr>
            <p:ph idx="1"/>
          </p:nvPr>
        </p:nvSpPr>
        <p:spPr>
          <a:xfrm>
            <a:off x="457200" y="941760"/>
            <a:ext cx="3970784" cy="5511576"/>
          </a:xfrm>
        </p:spPr>
        <p:txBody>
          <a:bodyPr>
            <a:normAutofit/>
          </a:bodyPr>
          <a:lstStyle/>
          <a:p>
            <a:r>
              <a:rPr lang="it-IT" sz="2400" dirty="0"/>
              <a:t>colpisce le articolazioni tra i margini delle vertebre C3-C7</a:t>
            </a:r>
          </a:p>
          <a:p>
            <a:r>
              <a:rPr lang="it-IT" sz="2400" b="1" dirty="0"/>
              <a:t>osteofiti</a:t>
            </a:r>
            <a:r>
              <a:rPr lang="it-IT" sz="2400" dirty="0"/>
              <a:t> </a:t>
            </a:r>
          </a:p>
          <a:p>
            <a:r>
              <a:rPr lang="it-IT" sz="2400" dirty="0"/>
              <a:t>dolore, scricchiolii, </a:t>
            </a:r>
            <a:r>
              <a:rPr lang="it-IT" sz="2400" b="1" dirty="0"/>
              <a:t>radicolopatie </a:t>
            </a:r>
          </a:p>
          <a:p>
            <a:r>
              <a:rPr lang="it-IT" sz="2400" dirty="0"/>
              <a:t>cefalea muscolo-tensiva, vertigini, formicolii, </a:t>
            </a:r>
            <a:r>
              <a:rPr lang="it-IT" sz="2400" b="1" dirty="0"/>
              <a:t>dolore irradiato alle braccia</a:t>
            </a:r>
          </a:p>
          <a:p>
            <a:r>
              <a:rPr lang="it-IT" sz="2400" b="1" dirty="0"/>
              <a:t>invecchiamento</a:t>
            </a:r>
            <a:r>
              <a:rPr lang="it-IT" sz="2400" dirty="0"/>
              <a:t> (spesso dopo i 50 anni), può essere causata anche da rigidità muscolare cronica o traumi pregressi.</a:t>
            </a:r>
          </a:p>
          <a:p>
            <a:endParaRPr lang="it-IT" sz="2400" dirty="0"/>
          </a:p>
        </p:txBody>
      </p:sp>
      <p:pic>
        <p:nvPicPr>
          <p:cNvPr id="1026" name="Picture 2">
            <a:extLst>
              <a:ext uri="{FF2B5EF4-FFF2-40B4-BE49-F238E27FC236}">
                <a16:creationId xmlns:a16="http://schemas.microsoft.com/office/drawing/2014/main" id="{A81E1875-53D7-E5EE-C2DB-F8DEFDF9C9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3817" y="326107"/>
            <a:ext cx="3038475" cy="3038475"/>
          </a:xfrm>
          <a:prstGeom prst="rect">
            <a:avLst/>
          </a:prstGeom>
          <a:noFill/>
          <a:extLst>
            <a:ext uri="{909E8E84-426E-40DD-AFC4-6F175D3DCCD1}">
              <a14:hiddenFill xmlns:a14="http://schemas.microsoft.com/office/drawing/2010/main">
                <a:solidFill>
                  <a:srgbClr val="FFFFFF"/>
                </a:solidFill>
              </a14:hiddenFill>
            </a:ext>
          </a:extLst>
        </p:spPr>
      </p:pic>
      <p:pic>
        <p:nvPicPr>
          <p:cNvPr id="5" name="Immagine 4" descr="Immagine che contiene lastra dei raggi X, Imaging medicale, radiologia, radiografia&#10;&#10;Il contenuto generato dall'IA potrebbe non essere corretto.">
            <a:extLst>
              <a:ext uri="{FF2B5EF4-FFF2-40B4-BE49-F238E27FC236}">
                <a16:creationId xmlns:a16="http://schemas.microsoft.com/office/drawing/2014/main" id="{DD838571-5879-2E71-D042-9563AF80F605}"/>
              </a:ext>
            </a:extLst>
          </p:cNvPr>
          <p:cNvPicPr>
            <a:picLocks noChangeAspect="1"/>
          </p:cNvPicPr>
          <p:nvPr/>
        </p:nvPicPr>
        <p:blipFill>
          <a:blip r:embed="rId4"/>
          <a:stretch>
            <a:fillRect/>
          </a:stretch>
        </p:blipFill>
        <p:spPr>
          <a:xfrm>
            <a:off x="5353817" y="3386286"/>
            <a:ext cx="3038475" cy="3067050"/>
          </a:xfrm>
          <a:prstGeom prst="rect">
            <a:avLst/>
          </a:prstGeom>
        </p:spPr>
      </p:pic>
    </p:spTree>
    <p:extLst>
      <p:ext uri="{BB962C8B-B14F-4D97-AF65-F5344CB8AC3E}">
        <p14:creationId xmlns:p14="http://schemas.microsoft.com/office/powerpoint/2010/main" val="116553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33F7A-C929-0502-63DE-045343023F38}"/>
            </a:ext>
          </a:extLst>
        </p:cNvPr>
        <p:cNvGrpSpPr/>
        <p:nvPr/>
      </p:nvGrpSpPr>
      <p:grpSpPr>
        <a:xfrm>
          <a:off x="0" y="0"/>
          <a:ext cx="0" cy="0"/>
          <a:chOff x="0" y="0"/>
          <a:chExt cx="0" cy="0"/>
        </a:xfrm>
      </p:grpSpPr>
      <p:pic>
        <p:nvPicPr>
          <p:cNvPr id="3" name="Picture 1" descr="nc0305_03">
            <a:extLst>
              <a:ext uri="{FF2B5EF4-FFF2-40B4-BE49-F238E27FC236}">
                <a16:creationId xmlns:a16="http://schemas.microsoft.com/office/drawing/2014/main" id="{BBFE4592-EC96-22FE-EF1C-E16FE6F70C2B}"/>
              </a:ext>
            </a:extLst>
          </p:cNvPr>
          <p:cNvPicPr>
            <a:picLocks noGrp="1" noChangeAspect="1"/>
          </p:cNvPicPr>
          <p:nvPr isPhoto="1"/>
        </p:nvPicPr>
        <p:blipFill>
          <a:blip r:embed="rId2" cstate="print">
            <a:lum/>
            <a:extLst>
              <a:ext uri="{28A0092B-C50C-407E-A947-70E740481C1C}">
                <a14:useLocalDpi xmlns:a14="http://schemas.microsoft.com/office/drawing/2010/main" val="0"/>
              </a:ext>
            </a:extLst>
          </a:blip>
          <a:srcRect l="13775" t="548" r="13775" b="27999"/>
          <a:stretch>
            <a:fillRect/>
          </a:stretch>
        </p:blipFill>
        <p:spPr>
          <a:xfrm>
            <a:off x="251520" y="476672"/>
            <a:ext cx="8624339" cy="4874628"/>
          </a:xfrm>
          <a:prstGeom prst="rect">
            <a:avLst/>
          </a:prstGeom>
          <a:noFill/>
          <a:ln>
            <a:noFill/>
          </a:ln>
        </p:spPr>
      </p:pic>
    </p:spTree>
    <p:extLst>
      <p:ext uri="{BB962C8B-B14F-4D97-AF65-F5344CB8AC3E}">
        <p14:creationId xmlns:p14="http://schemas.microsoft.com/office/powerpoint/2010/main" val="4142305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7B385-1A80-9076-3C73-06D5AFE7479A}"/>
            </a:ext>
          </a:extLst>
        </p:cNvPr>
        <p:cNvGrpSpPr/>
        <p:nvPr/>
      </p:nvGrpSpPr>
      <p:grpSpPr>
        <a:xfrm>
          <a:off x="0" y="0"/>
          <a:ext cx="0" cy="0"/>
          <a:chOff x="0" y="0"/>
          <a:chExt cx="0" cy="0"/>
        </a:xfrm>
      </p:grpSpPr>
      <p:sp>
        <p:nvSpPr>
          <p:cNvPr id="4" name="Sottotitolo 3">
            <a:extLst>
              <a:ext uri="{FF2B5EF4-FFF2-40B4-BE49-F238E27FC236}">
                <a16:creationId xmlns:a16="http://schemas.microsoft.com/office/drawing/2014/main" id="{16E431D5-984E-5CE2-4A73-EE6161EAE415}"/>
              </a:ext>
            </a:extLst>
          </p:cNvPr>
          <p:cNvSpPr>
            <a:spLocks noGrp="1"/>
          </p:cNvSpPr>
          <p:nvPr>
            <p:ph type="subTitle" idx="1"/>
          </p:nvPr>
        </p:nvSpPr>
        <p:spPr/>
        <p:txBody>
          <a:bodyPr>
            <a:normAutofit/>
          </a:bodyPr>
          <a:lstStyle/>
          <a:p>
            <a:r>
              <a:rPr lang="it-IT" sz="4400" dirty="0"/>
              <a:t>ARTICOLAZIONI DEL COLLO</a:t>
            </a:r>
          </a:p>
        </p:txBody>
      </p:sp>
    </p:spTree>
    <p:extLst>
      <p:ext uri="{BB962C8B-B14F-4D97-AF65-F5344CB8AC3E}">
        <p14:creationId xmlns:p14="http://schemas.microsoft.com/office/powerpoint/2010/main" val="1621316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01"/>
          <p:cNvPicPr>
            <a:picLocks noGrp="1" noChangeAspect="1"/>
          </p:cNvPicPr>
          <p:nvPr isPhoto="1"/>
        </p:nvPicPr>
        <p:blipFill>
          <a:blip r:embed="rId2" cstate="print">
            <a:lum/>
            <a:extLst>
              <a:ext uri="{28A0092B-C50C-407E-A947-70E740481C1C}">
                <a14:useLocalDpi xmlns:a14="http://schemas.microsoft.com/office/drawing/2010/main" val="0"/>
              </a:ext>
            </a:extLst>
          </a:blip>
          <a:srcRect b="12201"/>
          <a:stretch>
            <a:fillRect/>
          </a:stretch>
        </p:blipFill>
        <p:spPr>
          <a:xfrm>
            <a:off x="1799692" y="265935"/>
            <a:ext cx="5544616" cy="6547441"/>
          </a:xfrm>
          <a:prstGeom prst="rect">
            <a:avLst/>
          </a:prstGeom>
          <a:noFill/>
          <a:ln>
            <a:noFill/>
          </a:ln>
        </p:spPr>
      </p:pic>
      <p:pic>
        <p:nvPicPr>
          <p:cNvPr id="5" name="Picture 1" descr="03101">
            <a:extLst>
              <a:ext uri="{FF2B5EF4-FFF2-40B4-BE49-F238E27FC236}">
                <a16:creationId xmlns:a16="http://schemas.microsoft.com/office/drawing/2014/main" id="{0E022418-0C58-62F5-F364-A35FBF67CB22}"/>
              </a:ext>
            </a:extLst>
          </p:cNvPr>
          <p:cNvPicPr>
            <a:picLocks noGrp="1" noChangeAspect="1"/>
          </p:cNvPicPr>
          <p:nvPr isPhoto="1"/>
        </p:nvPicPr>
        <p:blipFill>
          <a:blip r:embed="rId2" cstate="print">
            <a:lum/>
            <a:extLst>
              <a:ext uri="{28A0092B-C50C-407E-A947-70E740481C1C}">
                <a14:useLocalDpi xmlns:a14="http://schemas.microsoft.com/office/drawing/2010/main" val="0"/>
              </a:ext>
            </a:extLst>
          </a:blip>
          <a:srcRect t="1" b="53315"/>
          <a:stretch>
            <a:fillRect/>
          </a:stretch>
        </p:blipFill>
        <p:spPr>
          <a:xfrm>
            <a:off x="1331640" y="79957"/>
            <a:ext cx="6480720" cy="4069123"/>
          </a:xfrm>
          <a:prstGeom prst="rect">
            <a:avLst/>
          </a:prstGeom>
          <a:noFill/>
          <a:ln>
            <a:noFill/>
          </a:ln>
        </p:spPr>
      </p:pic>
      <p:sp>
        <p:nvSpPr>
          <p:cNvPr id="4" name="Stella a 4 punte 3">
            <a:extLst>
              <a:ext uri="{FF2B5EF4-FFF2-40B4-BE49-F238E27FC236}">
                <a16:creationId xmlns:a16="http://schemas.microsoft.com/office/drawing/2014/main" id="{0B8E8D3C-426F-13D9-13C7-D4482D9A3E12}"/>
              </a:ext>
            </a:extLst>
          </p:cNvPr>
          <p:cNvSpPr/>
          <p:nvPr/>
        </p:nvSpPr>
        <p:spPr>
          <a:xfrm>
            <a:off x="6156176" y="2276872"/>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7" name="Stella a 4 punte 6">
            <a:extLst>
              <a:ext uri="{FF2B5EF4-FFF2-40B4-BE49-F238E27FC236}">
                <a16:creationId xmlns:a16="http://schemas.microsoft.com/office/drawing/2014/main" id="{D448DEF5-6142-A8D1-C6FD-0B123EC35AA3}"/>
              </a:ext>
            </a:extLst>
          </p:cNvPr>
          <p:cNvSpPr/>
          <p:nvPr/>
        </p:nvSpPr>
        <p:spPr>
          <a:xfrm>
            <a:off x="4283968" y="1700808"/>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8" name="Stella a 4 punte 7">
            <a:extLst>
              <a:ext uri="{FF2B5EF4-FFF2-40B4-BE49-F238E27FC236}">
                <a16:creationId xmlns:a16="http://schemas.microsoft.com/office/drawing/2014/main" id="{D50DFBC0-123D-EE20-1C44-3A23E250F4F3}"/>
              </a:ext>
            </a:extLst>
          </p:cNvPr>
          <p:cNvSpPr/>
          <p:nvPr/>
        </p:nvSpPr>
        <p:spPr>
          <a:xfrm>
            <a:off x="4860032" y="1340768"/>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9" name="Stella a 4 punte 8">
            <a:extLst>
              <a:ext uri="{FF2B5EF4-FFF2-40B4-BE49-F238E27FC236}">
                <a16:creationId xmlns:a16="http://schemas.microsoft.com/office/drawing/2014/main" id="{B19549F9-91CD-CEAB-EAE8-47FF4A84C16D}"/>
              </a:ext>
            </a:extLst>
          </p:cNvPr>
          <p:cNvSpPr/>
          <p:nvPr/>
        </p:nvSpPr>
        <p:spPr>
          <a:xfrm>
            <a:off x="4644132" y="2276872"/>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Tree>
    <p:extLst>
      <p:ext uri="{BB962C8B-B14F-4D97-AF65-F5344CB8AC3E}">
        <p14:creationId xmlns:p14="http://schemas.microsoft.com/office/powerpoint/2010/main" val="3777594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5689F-8DEE-E109-1913-22ADED57F93E}"/>
            </a:ext>
          </a:extLst>
        </p:cNvPr>
        <p:cNvGrpSpPr/>
        <p:nvPr/>
      </p:nvGrpSpPr>
      <p:grpSpPr>
        <a:xfrm>
          <a:off x="0" y="0"/>
          <a:ext cx="0" cy="0"/>
          <a:chOff x="0" y="0"/>
          <a:chExt cx="0" cy="0"/>
        </a:xfrm>
      </p:grpSpPr>
      <p:pic>
        <p:nvPicPr>
          <p:cNvPr id="2" name="Picture 1" descr="03100">
            <a:extLst>
              <a:ext uri="{FF2B5EF4-FFF2-40B4-BE49-F238E27FC236}">
                <a16:creationId xmlns:a16="http://schemas.microsoft.com/office/drawing/2014/main" id="{16EAFF5B-59AE-892C-3FED-DB99243A3D31}"/>
              </a:ext>
            </a:extLst>
          </p:cNvPr>
          <p:cNvPicPr>
            <a:picLocks noGrp="1" noChangeAspect="1"/>
          </p:cNvPicPr>
          <p:nvPr isPhoto="1"/>
        </p:nvPicPr>
        <p:blipFill>
          <a:blip r:embed="rId2" cstate="print">
            <a:lum/>
            <a:extLst>
              <a:ext uri="{28A0092B-C50C-407E-A947-70E740481C1C}">
                <a14:useLocalDpi xmlns:a14="http://schemas.microsoft.com/office/drawing/2010/main" val="0"/>
              </a:ext>
            </a:extLst>
          </a:blip>
          <a:srcRect l="43678" t="33179" b="11162"/>
          <a:stretch>
            <a:fillRect/>
          </a:stretch>
        </p:blipFill>
        <p:spPr>
          <a:xfrm>
            <a:off x="1567322" y="281211"/>
            <a:ext cx="6009356" cy="6295578"/>
          </a:xfrm>
          <a:prstGeom prst="rect">
            <a:avLst/>
          </a:prstGeom>
          <a:noFill/>
          <a:ln>
            <a:noFill/>
          </a:ln>
        </p:spPr>
      </p:pic>
      <p:sp>
        <p:nvSpPr>
          <p:cNvPr id="4" name="Rettangolo 1">
            <a:extLst>
              <a:ext uri="{FF2B5EF4-FFF2-40B4-BE49-F238E27FC236}">
                <a16:creationId xmlns:a16="http://schemas.microsoft.com/office/drawing/2014/main" id="{3C4F9CA6-BDF7-59BF-B1C5-46101EFF0274}"/>
              </a:ext>
            </a:extLst>
          </p:cNvPr>
          <p:cNvSpPr>
            <a:spLocks noChangeArrowheads="1"/>
          </p:cNvSpPr>
          <p:nvPr/>
        </p:nvSpPr>
        <p:spPr bwMode="auto">
          <a:xfrm>
            <a:off x="3851920" y="548680"/>
            <a:ext cx="14401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ANTERIORE</a:t>
            </a:r>
          </a:p>
        </p:txBody>
      </p:sp>
      <p:pic>
        <p:nvPicPr>
          <p:cNvPr id="9" name="Segnaposto contenuto 2">
            <a:extLst>
              <a:ext uri="{FF2B5EF4-FFF2-40B4-BE49-F238E27FC236}">
                <a16:creationId xmlns:a16="http://schemas.microsoft.com/office/drawing/2014/main" id="{1D38D664-2E36-C2D4-2F48-FEB8546B990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63687" y="281211"/>
            <a:ext cx="855021" cy="987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ttangolo 1">
            <a:extLst>
              <a:ext uri="{FF2B5EF4-FFF2-40B4-BE49-F238E27FC236}">
                <a16:creationId xmlns:a16="http://schemas.microsoft.com/office/drawing/2014/main" id="{EA51B3E2-0552-C58C-F19F-95524775736A}"/>
              </a:ext>
            </a:extLst>
          </p:cNvPr>
          <p:cNvSpPr>
            <a:spLocks noChangeArrowheads="1"/>
          </p:cNvSpPr>
          <p:nvPr/>
        </p:nvSpPr>
        <p:spPr bwMode="auto">
          <a:xfrm>
            <a:off x="2051720" y="400506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sp>
        <p:nvSpPr>
          <p:cNvPr id="8" name="Rettangolo 1">
            <a:extLst>
              <a:ext uri="{FF2B5EF4-FFF2-40B4-BE49-F238E27FC236}">
                <a16:creationId xmlns:a16="http://schemas.microsoft.com/office/drawing/2014/main" id="{031419D1-BA2F-5BCD-C11A-5DFC3AD74973}"/>
              </a:ext>
            </a:extLst>
          </p:cNvPr>
          <p:cNvSpPr>
            <a:spLocks noChangeArrowheads="1"/>
          </p:cNvSpPr>
          <p:nvPr/>
        </p:nvSpPr>
        <p:spPr bwMode="auto">
          <a:xfrm>
            <a:off x="5776959" y="256631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sp>
        <p:nvSpPr>
          <p:cNvPr id="10" name="Rettangolo 1">
            <a:extLst>
              <a:ext uri="{FF2B5EF4-FFF2-40B4-BE49-F238E27FC236}">
                <a16:creationId xmlns:a16="http://schemas.microsoft.com/office/drawing/2014/main" id="{4AFB5F44-24CE-9531-6A55-06C70209A38D}"/>
              </a:ext>
            </a:extLst>
          </p:cNvPr>
          <p:cNvSpPr>
            <a:spLocks noChangeArrowheads="1"/>
          </p:cNvSpPr>
          <p:nvPr/>
        </p:nvSpPr>
        <p:spPr bwMode="auto">
          <a:xfrm>
            <a:off x="3059832" y="2492896"/>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11" name="Rettangolo 1">
            <a:extLst>
              <a:ext uri="{FF2B5EF4-FFF2-40B4-BE49-F238E27FC236}">
                <a16:creationId xmlns:a16="http://schemas.microsoft.com/office/drawing/2014/main" id="{B984D805-C009-F241-0B36-35A0393A1400}"/>
              </a:ext>
            </a:extLst>
          </p:cNvPr>
          <p:cNvSpPr>
            <a:spLocks noChangeArrowheads="1"/>
          </p:cNvSpPr>
          <p:nvPr/>
        </p:nvSpPr>
        <p:spPr bwMode="auto">
          <a:xfrm>
            <a:off x="2418708" y="5661248"/>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5</a:t>
            </a:r>
          </a:p>
        </p:txBody>
      </p:sp>
      <p:sp>
        <p:nvSpPr>
          <p:cNvPr id="12" name="Rettangolo 1">
            <a:extLst>
              <a:ext uri="{FF2B5EF4-FFF2-40B4-BE49-F238E27FC236}">
                <a16:creationId xmlns:a16="http://schemas.microsoft.com/office/drawing/2014/main" id="{A4505498-2142-0BF2-F1AC-9F1D99593E08}"/>
              </a:ext>
            </a:extLst>
          </p:cNvPr>
          <p:cNvSpPr>
            <a:spLocks noChangeArrowheads="1"/>
          </p:cNvSpPr>
          <p:nvPr/>
        </p:nvSpPr>
        <p:spPr bwMode="auto">
          <a:xfrm>
            <a:off x="5580112" y="400506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4</a:t>
            </a:r>
          </a:p>
        </p:txBody>
      </p:sp>
    </p:spTree>
    <p:extLst>
      <p:ext uri="{BB962C8B-B14F-4D97-AF65-F5344CB8AC3E}">
        <p14:creationId xmlns:p14="http://schemas.microsoft.com/office/powerpoint/2010/main" val="3799078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00"/>
          <p:cNvPicPr>
            <a:picLocks noGrp="1" noChangeAspect="1"/>
          </p:cNvPicPr>
          <p:nvPr isPhoto="1"/>
        </p:nvPicPr>
        <p:blipFill>
          <a:blip r:embed="rId2" cstate="print">
            <a:lum/>
            <a:extLst>
              <a:ext uri="{28A0092B-C50C-407E-A947-70E740481C1C}">
                <a14:useLocalDpi xmlns:a14="http://schemas.microsoft.com/office/drawing/2010/main" val="0"/>
              </a:ext>
            </a:extLst>
          </a:blip>
          <a:srcRect r="41571" b="44257"/>
          <a:stretch>
            <a:fillRect/>
          </a:stretch>
        </p:blipFill>
        <p:spPr>
          <a:xfrm>
            <a:off x="1360323" y="180821"/>
            <a:ext cx="6423354" cy="6496358"/>
          </a:xfrm>
          <a:prstGeom prst="rect">
            <a:avLst/>
          </a:prstGeom>
          <a:noFill/>
          <a:ln>
            <a:noFill/>
          </a:ln>
        </p:spPr>
      </p:pic>
      <p:sp>
        <p:nvSpPr>
          <p:cNvPr id="5" name="Rettangolo 1">
            <a:extLst>
              <a:ext uri="{FF2B5EF4-FFF2-40B4-BE49-F238E27FC236}">
                <a16:creationId xmlns:a16="http://schemas.microsoft.com/office/drawing/2014/main" id="{1BBA10C6-2931-8C8B-1CE6-698171B40887}"/>
              </a:ext>
            </a:extLst>
          </p:cNvPr>
          <p:cNvSpPr>
            <a:spLocks noChangeArrowheads="1"/>
          </p:cNvSpPr>
          <p:nvPr/>
        </p:nvSpPr>
        <p:spPr bwMode="auto">
          <a:xfrm>
            <a:off x="3851919" y="276275"/>
            <a:ext cx="144016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POSTERIORE</a:t>
            </a:r>
          </a:p>
        </p:txBody>
      </p:sp>
      <p:sp>
        <p:nvSpPr>
          <p:cNvPr id="3" name="Rettangolo 1">
            <a:extLst>
              <a:ext uri="{FF2B5EF4-FFF2-40B4-BE49-F238E27FC236}">
                <a16:creationId xmlns:a16="http://schemas.microsoft.com/office/drawing/2014/main" id="{B7BDC88C-B646-E3C0-9AA5-7D0B3C89030A}"/>
              </a:ext>
            </a:extLst>
          </p:cNvPr>
          <p:cNvSpPr>
            <a:spLocks noChangeArrowheads="1"/>
          </p:cNvSpPr>
          <p:nvPr/>
        </p:nvSpPr>
        <p:spPr bwMode="auto">
          <a:xfrm>
            <a:off x="5364088" y="3259931"/>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sp>
        <p:nvSpPr>
          <p:cNvPr id="4" name="Rettangolo 1">
            <a:extLst>
              <a:ext uri="{FF2B5EF4-FFF2-40B4-BE49-F238E27FC236}">
                <a16:creationId xmlns:a16="http://schemas.microsoft.com/office/drawing/2014/main" id="{9FE0B800-5A3A-F3F5-F64E-3776A792437B}"/>
              </a:ext>
            </a:extLst>
          </p:cNvPr>
          <p:cNvSpPr>
            <a:spLocks noChangeArrowheads="1"/>
          </p:cNvSpPr>
          <p:nvPr/>
        </p:nvSpPr>
        <p:spPr bwMode="auto">
          <a:xfrm>
            <a:off x="5411144" y="4293096"/>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6" name="Rettangolo 1">
            <a:extLst>
              <a:ext uri="{FF2B5EF4-FFF2-40B4-BE49-F238E27FC236}">
                <a16:creationId xmlns:a16="http://schemas.microsoft.com/office/drawing/2014/main" id="{416B86E8-3C7A-BCCE-EF1E-844F4122E63B}"/>
              </a:ext>
            </a:extLst>
          </p:cNvPr>
          <p:cNvSpPr>
            <a:spLocks noChangeArrowheads="1"/>
          </p:cNvSpPr>
          <p:nvPr/>
        </p:nvSpPr>
        <p:spPr bwMode="auto">
          <a:xfrm>
            <a:off x="6444208" y="184482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4</a:t>
            </a:r>
          </a:p>
        </p:txBody>
      </p:sp>
      <p:sp>
        <p:nvSpPr>
          <p:cNvPr id="7" name="Rettangolo 1">
            <a:extLst>
              <a:ext uri="{FF2B5EF4-FFF2-40B4-BE49-F238E27FC236}">
                <a16:creationId xmlns:a16="http://schemas.microsoft.com/office/drawing/2014/main" id="{A58CF049-C1EC-9747-DEAB-0AD4CB8748AF}"/>
              </a:ext>
            </a:extLst>
          </p:cNvPr>
          <p:cNvSpPr>
            <a:spLocks noChangeArrowheads="1"/>
          </p:cNvSpPr>
          <p:nvPr/>
        </p:nvSpPr>
        <p:spPr bwMode="auto">
          <a:xfrm>
            <a:off x="4283968" y="1061763"/>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pic>
        <p:nvPicPr>
          <p:cNvPr id="10" name="Segnaposto contenuto 2">
            <a:extLst>
              <a:ext uri="{FF2B5EF4-FFF2-40B4-BE49-F238E27FC236}">
                <a16:creationId xmlns:a16="http://schemas.microsoft.com/office/drawing/2014/main" id="{6269F649-42C4-5FE4-0E50-32F6A812C0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4963754"/>
            <a:ext cx="1483485" cy="171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6463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02"/>
          <p:cNvPicPr>
            <a:picLocks noGrp="1" noChangeAspect="1"/>
          </p:cNvPicPr>
          <p:nvPr isPhoto="1"/>
        </p:nvPicPr>
        <p:blipFill>
          <a:blip r:embed="rId2" cstate="print">
            <a:lum/>
            <a:extLst>
              <a:ext uri="{28A0092B-C50C-407E-A947-70E740481C1C}">
                <a14:useLocalDpi xmlns:a14="http://schemas.microsoft.com/office/drawing/2010/main" val="0"/>
              </a:ext>
            </a:extLst>
          </a:blip>
          <a:srcRect b="60121"/>
          <a:stretch>
            <a:fillRect/>
          </a:stretch>
        </p:blipFill>
        <p:spPr>
          <a:xfrm>
            <a:off x="100625" y="980728"/>
            <a:ext cx="8942749" cy="4162772"/>
          </a:xfrm>
          <a:prstGeom prst="rect">
            <a:avLst/>
          </a:prstGeom>
          <a:noFill/>
          <a:ln>
            <a:noFill/>
          </a:ln>
        </p:spPr>
      </p:pic>
      <p:sp>
        <p:nvSpPr>
          <p:cNvPr id="10" name="Rettangolo 1">
            <a:extLst>
              <a:ext uri="{FF2B5EF4-FFF2-40B4-BE49-F238E27FC236}">
                <a16:creationId xmlns:a16="http://schemas.microsoft.com/office/drawing/2014/main" id="{1D206601-3871-4F5E-4E2F-43B8EBAE7FD3}"/>
              </a:ext>
            </a:extLst>
          </p:cNvPr>
          <p:cNvSpPr>
            <a:spLocks noChangeArrowheads="1"/>
          </p:cNvSpPr>
          <p:nvPr/>
        </p:nvSpPr>
        <p:spPr bwMode="auto">
          <a:xfrm>
            <a:off x="395536" y="4077072"/>
            <a:ext cx="360809"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11" name="Rettangolo 1">
            <a:extLst>
              <a:ext uri="{FF2B5EF4-FFF2-40B4-BE49-F238E27FC236}">
                <a16:creationId xmlns:a16="http://schemas.microsoft.com/office/drawing/2014/main" id="{CB39EF58-C569-AD6C-C047-B5397C6A06DD}"/>
              </a:ext>
            </a:extLst>
          </p:cNvPr>
          <p:cNvSpPr>
            <a:spLocks noChangeArrowheads="1"/>
          </p:cNvSpPr>
          <p:nvPr/>
        </p:nvSpPr>
        <p:spPr bwMode="auto">
          <a:xfrm>
            <a:off x="503932" y="148478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sp>
        <p:nvSpPr>
          <p:cNvPr id="12" name="Rettangolo 1">
            <a:extLst>
              <a:ext uri="{FF2B5EF4-FFF2-40B4-BE49-F238E27FC236}">
                <a16:creationId xmlns:a16="http://schemas.microsoft.com/office/drawing/2014/main" id="{71055A29-85B2-ED4B-9738-6921AF78E838}"/>
              </a:ext>
            </a:extLst>
          </p:cNvPr>
          <p:cNvSpPr>
            <a:spLocks noChangeArrowheads="1"/>
          </p:cNvSpPr>
          <p:nvPr/>
        </p:nvSpPr>
        <p:spPr bwMode="auto">
          <a:xfrm>
            <a:off x="4139952" y="337889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4</a:t>
            </a:r>
          </a:p>
        </p:txBody>
      </p:sp>
      <p:sp>
        <p:nvSpPr>
          <p:cNvPr id="13" name="Rettangolo 1">
            <a:extLst>
              <a:ext uri="{FF2B5EF4-FFF2-40B4-BE49-F238E27FC236}">
                <a16:creationId xmlns:a16="http://schemas.microsoft.com/office/drawing/2014/main" id="{2F206E06-0D12-3ABA-76C8-9D7B01B80D9D}"/>
              </a:ext>
            </a:extLst>
          </p:cNvPr>
          <p:cNvSpPr>
            <a:spLocks noChangeArrowheads="1"/>
          </p:cNvSpPr>
          <p:nvPr/>
        </p:nvSpPr>
        <p:spPr bwMode="auto">
          <a:xfrm>
            <a:off x="6516216" y="3908003"/>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5</a:t>
            </a:r>
          </a:p>
        </p:txBody>
      </p:sp>
      <p:sp>
        <p:nvSpPr>
          <p:cNvPr id="14" name="Rettangolo 1">
            <a:extLst>
              <a:ext uri="{FF2B5EF4-FFF2-40B4-BE49-F238E27FC236}">
                <a16:creationId xmlns:a16="http://schemas.microsoft.com/office/drawing/2014/main" id="{683B8A24-2B63-2F3A-8FE3-07E8241FBB14}"/>
              </a:ext>
            </a:extLst>
          </p:cNvPr>
          <p:cNvSpPr>
            <a:spLocks noChangeArrowheads="1"/>
          </p:cNvSpPr>
          <p:nvPr/>
        </p:nvSpPr>
        <p:spPr bwMode="auto">
          <a:xfrm>
            <a:off x="4932040" y="3203949"/>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6</a:t>
            </a:r>
          </a:p>
        </p:txBody>
      </p:sp>
      <p:sp>
        <p:nvSpPr>
          <p:cNvPr id="15" name="Rettangolo 1">
            <a:extLst>
              <a:ext uri="{FF2B5EF4-FFF2-40B4-BE49-F238E27FC236}">
                <a16:creationId xmlns:a16="http://schemas.microsoft.com/office/drawing/2014/main" id="{0665729E-2AF8-1342-54EE-24950E876366}"/>
              </a:ext>
            </a:extLst>
          </p:cNvPr>
          <p:cNvSpPr>
            <a:spLocks noChangeArrowheads="1"/>
          </p:cNvSpPr>
          <p:nvPr/>
        </p:nvSpPr>
        <p:spPr bwMode="auto">
          <a:xfrm>
            <a:off x="2051720" y="256490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latin typeface="Tahoma" pitchFamily="34" charset="0"/>
              </a:rPr>
              <a:t>1</a:t>
            </a:r>
          </a:p>
        </p:txBody>
      </p:sp>
    </p:spTree>
    <p:extLst>
      <p:ext uri="{BB962C8B-B14F-4D97-AF65-F5344CB8AC3E}">
        <p14:creationId xmlns:p14="http://schemas.microsoft.com/office/powerpoint/2010/main" val="1833749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44007-7C15-1B85-1935-9772B8798EEB}"/>
            </a:ext>
          </a:extLst>
        </p:cNvPr>
        <p:cNvGrpSpPr/>
        <p:nvPr/>
      </p:nvGrpSpPr>
      <p:grpSpPr>
        <a:xfrm>
          <a:off x="0" y="0"/>
          <a:ext cx="0" cy="0"/>
          <a:chOff x="0" y="0"/>
          <a:chExt cx="0" cy="0"/>
        </a:xfrm>
      </p:grpSpPr>
      <p:pic>
        <p:nvPicPr>
          <p:cNvPr id="2" name="Picture 1" descr="03102">
            <a:extLst>
              <a:ext uri="{FF2B5EF4-FFF2-40B4-BE49-F238E27FC236}">
                <a16:creationId xmlns:a16="http://schemas.microsoft.com/office/drawing/2014/main" id="{61A91EB9-18DC-0F01-1CF5-92B3B966422A}"/>
              </a:ext>
            </a:extLst>
          </p:cNvPr>
          <p:cNvPicPr>
            <a:picLocks noGrp="1" noChangeAspect="1"/>
          </p:cNvPicPr>
          <p:nvPr isPhoto="1"/>
        </p:nvPicPr>
        <p:blipFill>
          <a:blip r:embed="rId2" cstate="print">
            <a:lum/>
            <a:extLst>
              <a:ext uri="{28A0092B-C50C-407E-A947-70E740481C1C}">
                <a14:useLocalDpi xmlns:a14="http://schemas.microsoft.com/office/drawing/2010/main" val="0"/>
              </a:ext>
            </a:extLst>
          </a:blip>
          <a:srcRect l="2241" t="40750" r="2241" b="20846"/>
          <a:stretch>
            <a:fillRect/>
          </a:stretch>
        </p:blipFill>
        <p:spPr>
          <a:xfrm>
            <a:off x="284554" y="980728"/>
            <a:ext cx="8592441" cy="4032448"/>
          </a:xfrm>
          <a:prstGeom prst="rect">
            <a:avLst/>
          </a:prstGeom>
          <a:noFill/>
          <a:ln>
            <a:noFill/>
          </a:ln>
        </p:spPr>
      </p:pic>
      <p:sp>
        <p:nvSpPr>
          <p:cNvPr id="7" name="Rettangolo 1">
            <a:extLst>
              <a:ext uri="{FF2B5EF4-FFF2-40B4-BE49-F238E27FC236}">
                <a16:creationId xmlns:a16="http://schemas.microsoft.com/office/drawing/2014/main" id="{A7B5FFBB-A4DE-5A1E-4E5B-4A8AF21F6030}"/>
              </a:ext>
            </a:extLst>
          </p:cNvPr>
          <p:cNvSpPr>
            <a:spLocks noChangeArrowheads="1"/>
          </p:cNvSpPr>
          <p:nvPr/>
        </p:nvSpPr>
        <p:spPr bwMode="auto">
          <a:xfrm>
            <a:off x="2627784" y="908720"/>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sp>
        <p:nvSpPr>
          <p:cNvPr id="8" name="Rettangolo 1">
            <a:extLst>
              <a:ext uri="{FF2B5EF4-FFF2-40B4-BE49-F238E27FC236}">
                <a16:creationId xmlns:a16="http://schemas.microsoft.com/office/drawing/2014/main" id="{90ED9211-31D2-0D42-6B37-545272C04E4A}"/>
              </a:ext>
            </a:extLst>
          </p:cNvPr>
          <p:cNvSpPr>
            <a:spLocks noChangeArrowheads="1"/>
          </p:cNvSpPr>
          <p:nvPr/>
        </p:nvSpPr>
        <p:spPr bwMode="auto">
          <a:xfrm>
            <a:off x="4139952" y="2924944"/>
            <a:ext cx="372591"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sp>
        <p:nvSpPr>
          <p:cNvPr id="9" name="Rettangolo 1">
            <a:extLst>
              <a:ext uri="{FF2B5EF4-FFF2-40B4-BE49-F238E27FC236}">
                <a16:creationId xmlns:a16="http://schemas.microsoft.com/office/drawing/2014/main" id="{E5ADB687-E865-292A-3341-D15A03197C7C}"/>
              </a:ext>
            </a:extLst>
          </p:cNvPr>
          <p:cNvSpPr>
            <a:spLocks noChangeArrowheads="1"/>
          </p:cNvSpPr>
          <p:nvPr/>
        </p:nvSpPr>
        <p:spPr bwMode="auto">
          <a:xfrm>
            <a:off x="7308304" y="908720"/>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10" name="Rettangolo 1">
            <a:extLst>
              <a:ext uri="{FF2B5EF4-FFF2-40B4-BE49-F238E27FC236}">
                <a16:creationId xmlns:a16="http://schemas.microsoft.com/office/drawing/2014/main" id="{0A3236DE-7134-B6D5-A9F3-CF84B6E2B68F}"/>
              </a:ext>
            </a:extLst>
          </p:cNvPr>
          <p:cNvSpPr>
            <a:spLocks noChangeArrowheads="1"/>
          </p:cNvSpPr>
          <p:nvPr/>
        </p:nvSpPr>
        <p:spPr bwMode="auto">
          <a:xfrm>
            <a:off x="8172400" y="2827883"/>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4</a:t>
            </a:r>
          </a:p>
        </p:txBody>
      </p:sp>
      <p:sp>
        <p:nvSpPr>
          <p:cNvPr id="4" name="Ovale 3">
            <a:extLst>
              <a:ext uri="{FF2B5EF4-FFF2-40B4-BE49-F238E27FC236}">
                <a16:creationId xmlns:a16="http://schemas.microsoft.com/office/drawing/2014/main" id="{91D1E0A5-C461-B120-F445-D30CF1915F56}"/>
              </a:ext>
            </a:extLst>
          </p:cNvPr>
          <p:cNvSpPr/>
          <p:nvPr/>
        </p:nvSpPr>
        <p:spPr>
          <a:xfrm>
            <a:off x="1684786" y="2474452"/>
            <a:ext cx="1079500" cy="1098564"/>
          </a:xfrm>
          <a:prstGeom prst="ellipse">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Tree>
    <p:extLst>
      <p:ext uri="{BB962C8B-B14F-4D97-AF65-F5344CB8AC3E}">
        <p14:creationId xmlns:p14="http://schemas.microsoft.com/office/powerpoint/2010/main" val="4281269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04"/>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966787"/>
            <a:ext cx="9144000" cy="4924425"/>
          </a:xfrm>
          <a:prstGeom prst="rect">
            <a:avLst/>
          </a:prstGeom>
          <a:noFill/>
          <a:ln>
            <a:noFill/>
          </a:ln>
        </p:spPr>
      </p:pic>
      <p:sp>
        <p:nvSpPr>
          <p:cNvPr id="3" name="Rettangolo 1">
            <a:extLst>
              <a:ext uri="{FF2B5EF4-FFF2-40B4-BE49-F238E27FC236}">
                <a16:creationId xmlns:a16="http://schemas.microsoft.com/office/drawing/2014/main" id="{81F43FA9-2AA8-A6E8-DD68-9EBE4BEC57F7}"/>
              </a:ext>
            </a:extLst>
          </p:cNvPr>
          <p:cNvSpPr>
            <a:spLocks noChangeArrowheads="1"/>
          </p:cNvSpPr>
          <p:nvPr/>
        </p:nvSpPr>
        <p:spPr bwMode="auto">
          <a:xfrm>
            <a:off x="5508104" y="1412776"/>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sp>
        <p:nvSpPr>
          <p:cNvPr id="4" name="Rettangolo 1">
            <a:extLst>
              <a:ext uri="{FF2B5EF4-FFF2-40B4-BE49-F238E27FC236}">
                <a16:creationId xmlns:a16="http://schemas.microsoft.com/office/drawing/2014/main" id="{376F8EFC-B76B-0F8D-E28E-6AD97E503210}"/>
              </a:ext>
            </a:extLst>
          </p:cNvPr>
          <p:cNvSpPr>
            <a:spLocks noChangeArrowheads="1"/>
          </p:cNvSpPr>
          <p:nvPr/>
        </p:nvSpPr>
        <p:spPr bwMode="auto">
          <a:xfrm>
            <a:off x="5118859" y="944694"/>
            <a:ext cx="372591"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sp>
        <p:nvSpPr>
          <p:cNvPr id="5" name="Rettangolo 1">
            <a:extLst>
              <a:ext uri="{FF2B5EF4-FFF2-40B4-BE49-F238E27FC236}">
                <a16:creationId xmlns:a16="http://schemas.microsoft.com/office/drawing/2014/main" id="{E6A480A9-A729-057B-EDF3-055EB5DCD968}"/>
              </a:ext>
            </a:extLst>
          </p:cNvPr>
          <p:cNvSpPr>
            <a:spLocks noChangeArrowheads="1"/>
          </p:cNvSpPr>
          <p:nvPr/>
        </p:nvSpPr>
        <p:spPr bwMode="auto">
          <a:xfrm>
            <a:off x="6372200" y="2367697"/>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6" name="Rettangolo 1">
            <a:extLst>
              <a:ext uri="{FF2B5EF4-FFF2-40B4-BE49-F238E27FC236}">
                <a16:creationId xmlns:a16="http://schemas.microsoft.com/office/drawing/2014/main" id="{F3A31E17-0B49-C4A6-E41C-B46BB5D40DCC}"/>
              </a:ext>
            </a:extLst>
          </p:cNvPr>
          <p:cNvSpPr>
            <a:spLocks noChangeArrowheads="1"/>
          </p:cNvSpPr>
          <p:nvPr/>
        </p:nvSpPr>
        <p:spPr bwMode="auto">
          <a:xfrm>
            <a:off x="2987824" y="1271104"/>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4</a:t>
            </a:r>
          </a:p>
        </p:txBody>
      </p:sp>
    </p:spTree>
    <p:extLst>
      <p:ext uri="{BB962C8B-B14F-4D97-AF65-F5344CB8AC3E}">
        <p14:creationId xmlns:p14="http://schemas.microsoft.com/office/powerpoint/2010/main" val="3420165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03"/>
          <p:cNvPicPr>
            <a:picLocks noGrp="1" noChangeAspect="1"/>
          </p:cNvPicPr>
          <p:nvPr isPhoto="1"/>
        </p:nvPicPr>
        <p:blipFill>
          <a:blip r:embed="rId2" cstate="print">
            <a:lum/>
            <a:extLst>
              <a:ext uri="{28A0092B-C50C-407E-A947-70E740481C1C}">
                <a14:useLocalDpi xmlns:a14="http://schemas.microsoft.com/office/drawing/2010/main" val="0"/>
              </a:ext>
            </a:extLst>
          </a:blip>
          <a:srcRect r="44391" b="53150"/>
          <a:stretch>
            <a:fillRect/>
          </a:stretch>
        </p:blipFill>
        <p:spPr>
          <a:xfrm>
            <a:off x="454801" y="346348"/>
            <a:ext cx="8234398" cy="6165304"/>
          </a:xfrm>
          <a:prstGeom prst="rect">
            <a:avLst/>
          </a:prstGeom>
          <a:noFill/>
          <a:ln>
            <a:noFill/>
          </a:ln>
        </p:spPr>
      </p:pic>
      <p:sp>
        <p:nvSpPr>
          <p:cNvPr id="4" name="Rettangolo 1">
            <a:extLst>
              <a:ext uri="{FF2B5EF4-FFF2-40B4-BE49-F238E27FC236}">
                <a16:creationId xmlns:a16="http://schemas.microsoft.com/office/drawing/2014/main" id="{BB30188F-89DD-ADFA-E0EA-525EDE2F06FC}"/>
              </a:ext>
            </a:extLst>
          </p:cNvPr>
          <p:cNvSpPr>
            <a:spLocks noChangeArrowheads="1"/>
          </p:cNvSpPr>
          <p:nvPr/>
        </p:nvSpPr>
        <p:spPr bwMode="auto">
          <a:xfrm>
            <a:off x="5004048" y="739651"/>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sp>
        <p:nvSpPr>
          <p:cNvPr id="5" name="Rettangolo 1">
            <a:extLst>
              <a:ext uri="{FF2B5EF4-FFF2-40B4-BE49-F238E27FC236}">
                <a16:creationId xmlns:a16="http://schemas.microsoft.com/office/drawing/2014/main" id="{B06628E1-0939-8D6C-197E-09F3CC94A969}"/>
              </a:ext>
            </a:extLst>
          </p:cNvPr>
          <p:cNvSpPr>
            <a:spLocks noChangeArrowheads="1"/>
          </p:cNvSpPr>
          <p:nvPr/>
        </p:nvSpPr>
        <p:spPr bwMode="auto">
          <a:xfrm>
            <a:off x="1115616" y="1412776"/>
            <a:ext cx="372591"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sp>
        <p:nvSpPr>
          <p:cNvPr id="6" name="Rettangolo 1">
            <a:extLst>
              <a:ext uri="{FF2B5EF4-FFF2-40B4-BE49-F238E27FC236}">
                <a16:creationId xmlns:a16="http://schemas.microsoft.com/office/drawing/2014/main" id="{CD632C8B-049E-958F-6057-8DEE91E6A289}"/>
              </a:ext>
            </a:extLst>
          </p:cNvPr>
          <p:cNvSpPr>
            <a:spLocks noChangeArrowheads="1"/>
          </p:cNvSpPr>
          <p:nvPr/>
        </p:nvSpPr>
        <p:spPr bwMode="auto">
          <a:xfrm>
            <a:off x="6300192" y="1700808"/>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7" name="Rettangolo 1">
            <a:extLst>
              <a:ext uri="{FF2B5EF4-FFF2-40B4-BE49-F238E27FC236}">
                <a16:creationId xmlns:a16="http://schemas.microsoft.com/office/drawing/2014/main" id="{01512CDB-272F-1720-D8EC-B1EE35870EC5}"/>
              </a:ext>
            </a:extLst>
          </p:cNvPr>
          <p:cNvSpPr>
            <a:spLocks noChangeArrowheads="1"/>
          </p:cNvSpPr>
          <p:nvPr/>
        </p:nvSpPr>
        <p:spPr bwMode="auto">
          <a:xfrm>
            <a:off x="4074554" y="980728"/>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4</a:t>
            </a:r>
          </a:p>
        </p:txBody>
      </p:sp>
      <p:sp>
        <p:nvSpPr>
          <p:cNvPr id="8" name="Rettangolo 1">
            <a:extLst>
              <a:ext uri="{FF2B5EF4-FFF2-40B4-BE49-F238E27FC236}">
                <a16:creationId xmlns:a16="http://schemas.microsoft.com/office/drawing/2014/main" id="{1E34C1D1-DC19-E16E-4CBC-98B7A9589C51}"/>
              </a:ext>
            </a:extLst>
          </p:cNvPr>
          <p:cNvSpPr>
            <a:spLocks noChangeArrowheads="1"/>
          </p:cNvSpPr>
          <p:nvPr/>
        </p:nvSpPr>
        <p:spPr bwMode="auto">
          <a:xfrm>
            <a:off x="2224599" y="476672"/>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5</a:t>
            </a:r>
          </a:p>
        </p:txBody>
      </p:sp>
    </p:spTree>
    <p:extLst>
      <p:ext uri="{BB962C8B-B14F-4D97-AF65-F5344CB8AC3E}">
        <p14:creationId xmlns:p14="http://schemas.microsoft.com/office/powerpoint/2010/main" val="3810399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70F60-5C3B-8A61-2AF8-B818AAE10CC3}"/>
            </a:ext>
          </a:extLst>
        </p:cNvPr>
        <p:cNvGrpSpPr/>
        <p:nvPr/>
      </p:nvGrpSpPr>
      <p:grpSpPr>
        <a:xfrm>
          <a:off x="0" y="0"/>
          <a:ext cx="0" cy="0"/>
          <a:chOff x="0" y="0"/>
          <a:chExt cx="0" cy="0"/>
        </a:xfrm>
      </p:grpSpPr>
      <p:pic>
        <p:nvPicPr>
          <p:cNvPr id="2" name="Picture 1" descr="03103">
            <a:extLst>
              <a:ext uri="{FF2B5EF4-FFF2-40B4-BE49-F238E27FC236}">
                <a16:creationId xmlns:a16="http://schemas.microsoft.com/office/drawing/2014/main" id="{97B27B26-F7A0-22EB-3FD8-54ECADDBCCA7}"/>
              </a:ext>
            </a:extLst>
          </p:cNvPr>
          <p:cNvPicPr>
            <a:picLocks noGrp="1" noChangeAspect="1"/>
          </p:cNvPicPr>
          <p:nvPr isPhoto="1"/>
        </p:nvPicPr>
        <p:blipFill>
          <a:blip r:embed="rId2" cstate="print">
            <a:lum/>
            <a:extLst>
              <a:ext uri="{28A0092B-C50C-407E-A947-70E740481C1C}">
                <a14:useLocalDpi xmlns:a14="http://schemas.microsoft.com/office/drawing/2010/main" val="0"/>
              </a:ext>
            </a:extLst>
          </a:blip>
          <a:srcRect l="41612" t="37400" b="15350"/>
          <a:stretch>
            <a:fillRect/>
          </a:stretch>
        </p:blipFill>
        <p:spPr>
          <a:xfrm>
            <a:off x="554955" y="540064"/>
            <a:ext cx="8034089" cy="5777872"/>
          </a:xfrm>
          <a:prstGeom prst="rect">
            <a:avLst/>
          </a:prstGeom>
          <a:noFill/>
          <a:ln>
            <a:noFill/>
          </a:ln>
        </p:spPr>
      </p:pic>
      <p:sp>
        <p:nvSpPr>
          <p:cNvPr id="3" name="Rettangolo 1">
            <a:extLst>
              <a:ext uri="{FF2B5EF4-FFF2-40B4-BE49-F238E27FC236}">
                <a16:creationId xmlns:a16="http://schemas.microsoft.com/office/drawing/2014/main" id="{0A49D3A9-0730-CFF8-9B75-1F2C224DE1E5}"/>
              </a:ext>
            </a:extLst>
          </p:cNvPr>
          <p:cNvSpPr>
            <a:spLocks noChangeArrowheads="1"/>
          </p:cNvSpPr>
          <p:nvPr/>
        </p:nvSpPr>
        <p:spPr bwMode="auto">
          <a:xfrm>
            <a:off x="5436096" y="5157192"/>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sp>
        <p:nvSpPr>
          <p:cNvPr id="4" name="Rettangolo 1">
            <a:extLst>
              <a:ext uri="{FF2B5EF4-FFF2-40B4-BE49-F238E27FC236}">
                <a16:creationId xmlns:a16="http://schemas.microsoft.com/office/drawing/2014/main" id="{00916399-FFB4-B547-A560-0939EB95624E}"/>
              </a:ext>
            </a:extLst>
          </p:cNvPr>
          <p:cNvSpPr>
            <a:spLocks noChangeArrowheads="1"/>
          </p:cNvSpPr>
          <p:nvPr/>
        </p:nvSpPr>
        <p:spPr bwMode="auto">
          <a:xfrm>
            <a:off x="3059832" y="5177004"/>
            <a:ext cx="372591"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sp>
        <p:nvSpPr>
          <p:cNvPr id="5" name="Rettangolo 1">
            <a:extLst>
              <a:ext uri="{FF2B5EF4-FFF2-40B4-BE49-F238E27FC236}">
                <a16:creationId xmlns:a16="http://schemas.microsoft.com/office/drawing/2014/main" id="{83BF6235-4F92-5E27-0C5B-8793E55DC241}"/>
              </a:ext>
            </a:extLst>
          </p:cNvPr>
          <p:cNvSpPr>
            <a:spLocks noChangeArrowheads="1"/>
          </p:cNvSpPr>
          <p:nvPr/>
        </p:nvSpPr>
        <p:spPr bwMode="auto">
          <a:xfrm>
            <a:off x="6660232" y="1700808"/>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6" name="Rettangolo 1">
            <a:extLst>
              <a:ext uri="{FF2B5EF4-FFF2-40B4-BE49-F238E27FC236}">
                <a16:creationId xmlns:a16="http://schemas.microsoft.com/office/drawing/2014/main" id="{161F0E8E-2756-107C-160C-0FAFE19F63AF}"/>
              </a:ext>
            </a:extLst>
          </p:cNvPr>
          <p:cNvSpPr>
            <a:spLocks noChangeArrowheads="1"/>
          </p:cNvSpPr>
          <p:nvPr/>
        </p:nvSpPr>
        <p:spPr bwMode="auto">
          <a:xfrm>
            <a:off x="3563887" y="476672"/>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4</a:t>
            </a:r>
          </a:p>
        </p:txBody>
      </p:sp>
      <p:sp>
        <p:nvSpPr>
          <p:cNvPr id="7" name="Rettangolo 1">
            <a:extLst>
              <a:ext uri="{FF2B5EF4-FFF2-40B4-BE49-F238E27FC236}">
                <a16:creationId xmlns:a16="http://schemas.microsoft.com/office/drawing/2014/main" id="{75337558-18C3-EFC9-72A7-6E4B9C0E1764}"/>
              </a:ext>
            </a:extLst>
          </p:cNvPr>
          <p:cNvSpPr>
            <a:spLocks noChangeArrowheads="1"/>
          </p:cNvSpPr>
          <p:nvPr/>
        </p:nvSpPr>
        <p:spPr bwMode="auto">
          <a:xfrm>
            <a:off x="5663499" y="476672"/>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5</a:t>
            </a:r>
          </a:p>
        </p:txBody>
      </p:sp>
      <p:sp>
        <p:nvSpPr>
          <p:cNvPr id="8" name="Rettangolo 1">
            <a:extLst>
              <a:ext uri="{FF2B5EF4-FFF2-40B4-BE49-F238E27FC236}">
                <a16:creationId xmlns:a16="http://schemas.microsoft.com/office/drawing/2014/main" id="{46EB7FBE-D96F-9998-3116-26AD84D4B2DC}"/>
              </a:ext>
            </a:extLst>
          </p:cNvPr>
          <p:cNvSpPr>
            <a:spLocks noChangeArrowheads="1"/>
          </p:cNvSpPr>
          <p:nvPr/>
        </p:nvSpPr>
        <p:spPr bwMode="auto">
          <a:xfrm>
            <a:off x="4364569" y="476672"/>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6</a:t>
            </a:r>
          </a:p>
        </p:txBody>
      </p:sp>
      <p:sp>
        <p:nvSpPr>
          <p:cNvPr id="9" name="Rettangolo 1">
            <a:extLst>
              <a:ext uri="{FF2B5EF4-FFF2-40B4-BE49-F238E27FC236}">
                <a16:creationId xmlns:a16="http://schemas.microsoft.com/office/drawing/2014/main" id="{E0977ED1-5755-0BBC-EFBB-7B1A4C6CDA5E}"/>
              </a:ext>
            </a:extLst>
          </p:cNvPr>
          <p:cNvSpPr>
            <a:spLocks noChangeArrowheads="1"/>
          </p:cNvSpPr>
          <p:nvPr/>
        </p:nvSpPr>
        <p:spPr bwMode="auto">
          <a:xfrm>
            <a:off x="755576" y="2852936"/>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7</a:t>
            </a:r>
          </a:p>
        </p:txBody>
      </p:sp>
    </p:spTree>
    <p:extLst>
      <p:ext uri="{BB962C8B-B14F-4D97-AF65-F5344CB8AC3E}">
        <p14:creationId xmlns:p14="http://schemas.microsoft.com/office/powerpoint/2010/main" val="4226099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B2D98816-ED54-4E57-EF93-2D5A342A5530}"/>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r="1334"/>
          <a:stretch>
            <a:fillRect/>
          </a:stretch>
        </p:blipFill>
        <p:spPr bwMode="auto">
          <a:xfrm>
            <a:off x="15" y="857251"/>
            <a:ext cx="9143985" cy="514349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olo 1">
            <a:extLst>
              <a:ext uri="{FF2B5EF4-FFF2-40B4-BE49-F238E27FC236}">
                <a16:creationId xmlns:a16="http://schemas.microsoft.com/office/drawing/2014/main" id="{DA4D453F-F9BF-FE1C-8B76-934324B43F0A}"/>
              </a:ext>
            </a:extLst>
          </p:cNvPr>
          <p:cNvSpPr>
            <a:spLocks noGrp="1"/>
          </p:cNvSpPr>
          <p:nvPr>
            <p:ph type="ctrTitle"/>
          </p:nvPr>
        </p:nvSpPr>
        <p:spPr>
          <a:xfrm>
            <a:off x="1143000" y="1699021"/>
            <a:ext cx="6858000" cy="2175389"/>
          </a:xfrm>
        </p:spPr>
        <p:txBody>
          <a:bodyPr>
            <a:normAutofit/>
          </a:bodyPr>
          <a:lstStyle/>
          <a:p>
            <a:r>
              <a:rPr lang="it-IT" dirty="0">
                <a:solidFill>
                  <a:srgbClr val="FFFFFF"/>
                </a:solidFill>
              </a:rPr>
              <a:t>MOBILITA’ DEL COLLO</a:t>
            </a:r>
          </a:p>
        </p:txBody>
      </p:sp>
      <p:sp>
        <p:nvSpPr>
          <p:cNvPr id="4" name="Segnaposto testo 3">
            <a:extLst>
              <a:ext uri="{FF2B5EF4-FFF2-40B4-BE49-F238E27FC236}">
                <a16:creationId xmlns:a16="http://schemas.microsoft.com/office/drawing/2014/main" id="{8C363764-0179-D435-C23A-9826497BF959}"/>
              </a:ext>
            </a:extLst>
          </p:cNvPr>
          <p:cNvSpPr>
            <a:spLocks noGrp="1"/>
          </p:cNvSpPr>
          <p:nvPr>
            <p:ph type="subTitle" idx="1"/>
          </p:nvPr>
        </p:nvSpPr>
        <p:spPr>
          <a:xfrm>
            <a:off x="1143000" y="3976804"/>
            <a:ext cx="6858000" cy="823796"/>
          </a:xfrm>
        </p:spPr>
        <p:txBody>
          <a:bodyPr>
            <a:normAutofit/>
          </a:bodyPr>
          <a:lstStyle/>
          <a:p>
            <a:r>
              <a:rPr lang="it-IT">
                <a:solidFill>
                  <a:srgbClr val="FFFFFF"/>
                </a:solidFill>
              </a:rPr>
              <a:t>COLONNA, TRATTO CERVICALE</a:t>
            </a:r>
          </a:p>
        </p:txBody>
      </p:sp>
    </p:spTree>
    <p:extLst>
      <p:ext uri="{BB962C8B-B14F-4D97-AF65-F5344CB8AC3E}">
        <p14:creationId xmlns:p14="http://schemas.microsoft.com/office/powerpoint/2010/main" val="1352650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 descr="06page171-01"/>
          <p:cNvPicPr>
            <a:picLocks noGrp="1" noChangeAspect="1"/>
          </p:cNvPicPr>
          <p:nvPr isPhoto="1"/>
        </p:nvPicPr>
        <p:blipFill>
          <a:blip r:embed="rId3" cstate="print">
            <a:extLst>
              <a:ext uri="{28A0092B-C50C-407E-A947-70E740481C1C}">
                <a14:useLocalDpi xmlns:a14="http://schemas.microsoft.com/office/drawing/2010/main" val="0"/>
              </a:ext>
            </a:extLst>
          </a:blip>
          <a:srcRect/>
          <a:stretch>
            <a:fillRect/>
          </a:stretch>
        </p:blipFill>
        <p:spPr bwMode="auto">
          <a:xfrm>
            <a:off x="669511" y="1295842"/>
            <a:ext cx="2590042" cy="225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Immagin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663554" y="1206103"/>
            <a:ext cx="4094559" cy="45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ttangolo 1"/>
          <p:cNvSpPr>
            <a:spLocks noChangeArrowheads="1"/>
          </p:cNvSpPr>
          <p:nvPr/>
        </p:nvSpPr>
        <p:spPr bwMode="auto">
          <a:xfrm>
            <a:off x="1433107" y="4077559"/>
            <a:ext cx="1629070" cy="46166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it-IT" altLang="it-IT" sz="2400" b="1">
                <a:solidFill>
                  <a:srgbClr val="FF0000"/>
                </a:solidFill>
                <a:latin typeface="Tahoma" panose="020B0604030504040204" pitchFamily="34" charset="0"/>
              </a:rPr>
              <a:t>HANS</a:t>
            </a:r>
          </a:p>
        </p:txBody>
      </p:sp>
      <p:pic>
        <p:nvPicPr>
          <p:cNvPr id="7" name="Immagine 6"/>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209925" y="2355056"/>
            <a:ext cx="4306491"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3107"/>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1469876"/>
            <a:ext cx="9144000" cy="3543300"/>
          </a:xfrm>
          <a:prstGeom prst="rect">
            <a:avLst/>
          </a:prstGeom>
          <a:noFill/>
          <a:ln>
            <a:noFill/>
          </a:ln>
        </p:spPr>
      </p:pic>
    </p:spTree>
    <p:extLst>
      <p:ext uri="{BB962C8B-B14F-4D97-AF65-F5344CB8AC3E}">
        <p14:creationId xmlns:p14="http://schemas.microsoft.com/office/powerpoint/2010/main" val="4096975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Segnaposto contenuto 7" descr="Immagine che contiene testo, teschio, osso, illustrazione&#10;&#10;Il contenuto generato dall'IA potrebbe non essere corretto.">
            <a:extLst>
              <a:ext uri="{FF2B5EF4-FFF2-40B4-BE49-F238E27FC236}">
                <a16:creationId xmlns:a16="http://schemas.microsoft.com/office/drawing/2014/main" id="{A458BDD4-0E6B-A14C-03A8-F6F14395BBD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r="5172" b="15015"/>
          <a:stretch>
            <a:fillRect/>
          </a:stretch>
        </p:blipFill>
        <p:spPr>
          <a:xfrm>
            <a:off x="1898689" y="1060060"/>
            <a:ext cx="3744174" cy="4737880"/>
          </a:xfrm>
          <a:prstGeom prst="rect">
            <a:avLst/>
          </a:prstGeom>
        </p:spPr>
      </p:pic>
      <p:sp>
        <p:nvSpPr>
          <p:cNvPr id="12" name="Rettangolo 1">
            <a:extLst>
              <a:ext uri="{FF2B5EF4-FFF2-40B4-BE49-F238E27FC236}">
                <a16:creationId xmlns:a16="http://schemas.microsoft.com/office/drawing/2014/main" id="{69BCD141-FE6F-F8C0-C181-08928982D502}"/>
              </a:ext>
            </a:extLst>
          </p:cNvPr>
          <p:cNvSpPr>
            <a:spLocks noChangeArrowheads="1"/>
          </p:cNvSpPr>
          <p:nvPr/>
        </p:nvSpPr>
        <p:spPr bwMode="auto">
          <a:xfrm>
            <a:off x="1205757" y="3708161"/>
            <a:ext cx="1508086" cy="1015663"/>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dirty="0">
                <a:latin typeface="Tahoma" pitchFamily="34" charset="0"/>
              </a:rPr>
              <a:t>ART.NI:</a:t>
            </a:r>
          </a:p>
          <a:p>
            <a:pPr algn="ctr" eaLnBrk="1" hangingPunct="1">
              <a:spcBef>
                <a:spcPct val="0"/>
              </a:spcBef>
              <a:buFontTx/>
              <a:buNone/>
            </a:pPr>
            <a:endParaRPr lang="it-IT" altLang="it-IT" sz="1200" dirty="0">
              <a:latin typeface="Tahoma" pitchFamily="34" charset="0"/>
            </a:endParaRPr>
          </a:p>
          <a:p>
            <a:pPr algn="ctr" eaLnBrk="1" hangingPunct="1">
              <a:spcBef>
                <a:spcPct val="0"/>
              </a:spcBef>
              <a:buFontTx/>
              <a:buNone/>
            </a:pPr>
            <a:r>
              <a:rPr lang="it-IT" altLang="it-IT" sz="1200" dirty="0">
                <a:solidFill>
                  <a:srgbClr val="FF0000"/>
                </a:solidFill>
                <a:latin typeface="Tahoma" pitchFamily="34" charset="0"/>
              </a:rPr>
              <a:t>SOTTOCCIPITALE</a:t>
            </a:r>
          </a:p>
          <a:p>
            <a:pPr algn="ctr" eaLnBrk="1" hangingPunct="1">
              <a:spcBef>
                <a:spcPct val="0"/>
              </a:spcBef>
              <a:buFontTx/>
              <a:buNone/>
            </a:pPr>
            <a:endParaRPr lang="it-IT" altLang="it-IT" sz="1200" dirty="0">
              <a:solidFill>
                <a:srgbClr val="FF0000"/>
              </a:solidFill>
              <a:latin typeface="Tahoma" pitchFamily="34" charset="0"/>
            </a:endParaRPr>
          </a:p>
          <a:p>
            <a:pPr algn="ctr" eaLnBrk="1" hangingPunct="1">
              <a:spcBef>
                <a:spcPct val="0"/>
              </a:spcBef>
              <a:buFontTx/>
              <a:buNone/>
            </a:pPr>
            <a:r>
              <a:rPr lang="it-IT" altLang="it-IT" sz="1200" b="1" dirty="0">
                <a:solidFill>
                  <a:srgbClr val="FFC000"/>
                </a:solidFill>
                <a:latin typeface="Tahoma" pitchFamily="34" charset="0"/>
              </a:rPr>
              <a:t>CERVICALE</a:t>
            </a:r>
          </a:p>
        </p:txBody>
      </p:sp>
      <p:sp>
        <p:nvSpPr>
          <p:cNvPr id="18" name="Segnaposto contenuto 3">
            <a:extLst>
              <a:ext uri="{FF2B5EF4-FFF2-40B4-BE49-F238E27FC236}">
                <a16:creationId xmlns:a16="http://schemas.microsoft.com/office/drawing/2014/main" id="{6C968615-431E-186D-D82C-9F0F52C92242}"/>
              </a:ext>
            </a:extLst>
          </p:cNvPr>
          <p:cNvSpPr txBox="1">
            <a:spLocks/>
          </p:cNvSpPr>
          <p:nvPr/>
        </p:nvSpPr>
        <p:spPr>
          <a:xfrm>
            <a:off x="5287797" y="1975235"/>
            <a:ext cx="2860329" cy="326350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500"/>
              <a:t>ATLO-OCCIPITALI</a:t>
            </a:r>
          </a:p>
          <a:p>
            <a:pPr lvl="1"/>
            <a:r>
              <a:rPr lang="it-IT" sz="1500"/>
              <a:t>FLESSIONE</a:t>
            </a:r>
          </a:p>
          <a:p>
            <a:pPr lvl="1"/>
            <a:r>
              <a:rPr lang="it-IT" sz="1500"/>
              <a:t>ESTENSIONE</a:t>
            </a:r>
          </a:p>
          <a:p>
            <a:pPr lvl="1"/>
            <a:r>
              <a:rPr lang="it-IT" sz="1500"/>
              <a:t>INCLINAZIONE</a:t>
            </a:r>
          </a:p>
          <a:p>
            <a:pPr lvl="1"/>
            <a:endParaRPr lang="it-IT" sz="1500"/>
          </a:p>
          <a:p>
            <a:r>
              <a:rPr lang="it-IT" sz="1500"/>
              <a:t>ATLO-EPISTROFICA MEDIANA</a:t>
            </a:r>
          </a:p>
          <a:p>
            <a:pPr lvl="1"/>
            <a:r>
              <a:rPr lang="it-IT" sz="1500"/>
              <a:t>ROTAZIONE</a:t>
            </a:r>
          </a:p>
          <a:p>
            <a:pPr lvl="1"/>
            <a:endParaRPr lang="it-IT" sz="1500"/>
          </a:p>
          <a:p>
            <a:r>
              <a:rPr lang="it-IT" sz="1500"/>
              <a:t>ATLO-EPISTROFICHE LATERALI</a:t>
            </a:r>
          </a:p>
          <a:p>
            <a:pPr lvl="1"/>
            <a:r>
              <a:rPr lang="it-IT" sz="1500"/>
              <a:t>ROTAZIONE</a:t>
            </a:r>
            <a:endParaRPr lang="it-IT" sz="1500" dirty="0"/>
          </a:p>
        </p:txBody>
      </p:sp>
    </p:spTree>
    <p:extLst>
      <p:ext uri="{BB962C8B-B14F-4D97-AF65-F5344CB8AC3E}">
        <p14:creationId xmlns:p14="http://schemas.microsoft.com/office/powerpoint/2010/main" val="90214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05B5-08BC-7A44-39C4-5C735270F873}"/>
            </a:ext>
          </a:extLst>
        </p:cNvPr>
        <p:cNvGrpSpPr/>
        <p:nvPr/>
      </p:nvGrpSpPr>
      <p:grpSpPr>
        <a:xfrm>
          <a:off x="0" y="0"/>
          <a:ext cx="0" cy="0"/>
          <a:chOff x="0" y="0"/>
          <a:chExt cx="0" cy="0"/>
        </a:xfrm>
      </p:grpSpPr>
      <p:pic>
        <p:nvPicPr>
          <p:cNvPr id="9" name="Segnaposto contenuto 8" descr="Immagine che contiene testo, schermata, cartone animato&#10;&#10;Il contenuto generato dall'IA potrebbe non essere corretto.">
            <a:extLst>
              <a:ext uri="{FF2B5EF4-FFF2-40B4-BE49-F238E27FC236}">
                <a16:creationId xmlns:a16="http://schemas.microsoft.com/office/drawing/2014/main" id="{527A6BA1-04A7-1CDE-6901-AFB55D68902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l="2752"/>
          <a:stretch>
            <a:fillRect/>
          </a:stretch>
        </p:blipFill>
        <p:spPr>
          <a:xfrm>
            <a:off x="54543" y="2237150"/>
            <a:ext cx="5741595" cy="2920042"/>
          </a:xfrm>
          <a:prstGeom prst="rect">
            <a:avLst/>
          </a:prstGeom>
        </p:spPr>
      </p:pic>
      <p:sp>
        <p:nvSpPr>
          <p:cNvPr id="11" name="Rettangolo 1">
            <a:extLst>
              <a:ext uri="{FF2B5EF4-FFF2-40B4-BE49-F238E27FC236}">
                <a16:creationId xmlns:a16="http://schemas.microsoft.com/office/drawing/2014/main" id="{DEEC6E3E-26FB-A594-A0E8-CAF8E2CFE4FD}"/>
              </a:ext>
            </a:extLst>
          </p:cNvPr>
          <p:cNvSpPr>
            <a:spLocks noChangeArrowheads="1"/>
          </p:cNvSpPr>
          <p:nvPr/>
        </p:nvSpPr>
        <p:spPr bwMode="auto">
          <a:xfrm>
            <a:off x="2871080" y="1225230"/>
            <a:ext cx="3401840" cy="461665"/>
          </a:xfrm>
          <a:prstGeom prst="rect">
            <a:avLst/>
          </a:prstGeom>
          <a:solidFill>
            <a:schemeClr val="bg1"/>
          </a:solidFill>
          <a:ln w="25400">
            <a:solidFill>
              <a:srgbClr val="FF0000"/>
            </a:solidFill>
            <a:miter lim="800000"/>
            <a:headEnd/>
            <a:tailEnd/>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dirty="0">
                <a:solidFill>
                  <a:srgbClr val="FF0000"/>
                </a:solidFill>
                <a:latin typeface="Tahoma" pitchFamily="34" charset="0"/>
              </a:rPr>
              <a:t>Art: ATLANTE-OCCIPITO-EPISTROFEA: 3 ASSI ATLO-OCCIPITALE</a:t>
            </a:r>
          </a:p>
        </p:txBody>
      </p:sp>
      <p:sp>
        <p:nvSpPr>
          <p:cNvPr id="4" name="Segnaposto contenuto 3">
            <a:extLst>
              <a:ext uri="{FF2B5EF4-FFF2-40B4-BE49-F238E27FC236}">
                <a16:creationId xmlns:a16="http://schemas.microsoft.com/office/drawing/2014/main" id="{392E6C1B-CB5B-5BBA-5B51-331478B8D6E3}"/>
              </a:ext>
            </a:extLst>
          </p:cNvPr>
          <p:cNvSpPr>
            <a:spLocks noGrp="1"/>
          </p:cNvSpPr>
          <p:nvPr>
            <p:ph sz="half" idx="2"/>
          </p:nvPr>
        </p:nvSpPr>
        <p:spPr>
          <a:xfrm>
            <a:off x="5796136" y="2226469"/>
            <a:ext cx="3096344" cy="3263504"/>
          </a:xfrm>
        </p:spPr>
        <p:txBody>
          <a:bodyPr>
            <a:normAutofit fontScale="85000" lnSpcReduction="20000"/>
          </a:bodyPr>
          <a:lstStyle/>
          <a:p>
            <a:r>
              <a:rPr lang="it-IT" sz="1800" b="1" dirty="0"/>
              <a:t>ATLO-OCCIPITALI</a:t>
            </a:r>
          </a:p>
          <a:p>
            <a:pPr lvl="1"/>
            <a:r>
              <a:rPr lang="it-IT" dirty="0"/>
              <a:t>FLESSIONE (15°)</a:t>
            </a:r>
          </a:p>
          <a:p>
            <a:pPr lvl="1"/>
            <a:r>
              <a:rPr lang="it-IT" dirty="0"/>
              <a:t>ESTENSIONE (15°)</a:t>
            </a:r>
          </a:p>
          <a:p>
            <a:pPr lvl="1"/>
            <a:r>
              <a:rPr lang="it-IT" dirty="0"/>
              <a:t>INCLINAZIONE (3°)</a:t>
            </a:r>
          </a:p>
          <a:p>
            <a:pPr lvl="1"/>
            <a:endParaRPr lang="it-IT" dirty="0"/>
          </a:p>
          <a:p>
            <a:r>
              <a:rPr lang="it-IT" sz="1800" b="1" dirty="0"/>
              <a:t>ATLO-EPISTROFICA MEDIANA</a:t>
            </a:r>
          </a:p>
          <a:p>
            <a:pPr lvl="1"/>
            <a:r>
              <a:rPr lang="it-IT" dirty="0"/>
              <a:t>ROTAZIONE </a:t>
            </a:r>
          </a:p>
          <a:p>
            <a:pPr lvl="1"/>
            <a:r>
              <a:rPr lang="it-IT" dirty="0"/>
              <a:t>(20° per lato)</a:t>
            </a:r>
          </a:p>
          <a:p>
            <a:pPr lvl="1"/>
            <a:endParaRPr lang="it-IT" dirty="0"/>
          </a:p>
          <a:p>
            <a:r>
              <a:rPr lang="it-IT" sz="1800" dirty="0"/>
              <a:t>ATLO-EPISTROFICHE </a:t>
            </a:r>
            <a:r>
              <a:rPr lang="it-IT" sz="1800" b="1" dirty="0"/>
              <a:t>LATERALI</a:t>
            </a:r>
          </a:p>
          <a:p>
            <a:pPr lvl="1"/>
            <a:r>
              <a:rPr lang="it-IT" dirty="0"/>
              <a:t>ROTAZIONE</a:t>
            </a:r>
          </a:p>
        </p:txBody>
      </p:sp>
      <p:grpSp>
        <p:nvGrpSpPr>
          <p:cNvPr id="2" name="Gruppo 1">
            <a:extLst>
              <a:ext uri="{FF2B5EF4-FFF2-40B4-BE49-F238E27FC236}">
                <a16:creationId xmlns:a16="http://schemas.microsoft.com/office/drawing/2014/main" id="{371ED67B-CBEB-0C89-85AA-D035E70EE1F9}"/>
              </a:ext>
            </a:extLst>
          </p:cNvPr>
          <p:cNvGrpSpPr/>
          <p:nvPr/>
        </p:nvGrpSpPr>
        <p:grpSpPr>
          <a:xfrm>
            <a:off x="6732240" y="986461"/>
            <a:ext cx="742950" cy="700434"/>
            <a:chOff x="7393250" y="1242325"/>
            <a:chExt cx="742950" cy="700434"/>
          </a:xfrm>
        </p:grpSpPr>
        <p:cxnSp>
          <p:nvCxnSpPr>
            <p:cNvPr id="13" name="Connettore 2 12">
              <a:extLst>
                <a:ext uri="{FF2B5EF4-FFF2-40B4-BE49-F238E27FC236}">
                  <a16:creationId xmlns:a16="http://schemas.microsoft.com/office/drawing/2014/main" id="{9F610E97-6B97-596F-D6A2-FF4ADE63543E}"/>
                </a:ext>
              </a:extLst>
            </p:cNvPr>
            <p:cNvCxnSpPr/>
            <p:nvPr/>
          </p:nvCxnSpPr>
          <p:spPr>
            <a:xfrm flipV="1">
              <a:off x="7393250" y="1937996"/>
              <a:ext cx="742950" cy="476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2 13">
              <a:extLst>
                <a:ext uri="{FF2B5EF4-FFF2-40B4-BE49-F238E27FC236}">
                  <a16:creationId xmlns:a16="http://schemas.microsoft.com/office/drawing/2014/main" id="{205760E8-031B-B2A1-6288-696135F6C2EF}"/>
                </a:ext>
              </a:extLst>
            </p:cNvPr>
            <p:cNvCxnSpPr>
              <a:cxnSpLocks/>
            </p:cNvCxnSpPr>
            <p:nvPr/>
          </p:nvCxnSpPr>
          <p:spPr>
            <a:xfrm flipV="1">
              <a:off x="7400040" y="1242325"/>
              <a:ext cx="0" cy="69567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Connettore 2 4">
              <a:extLst>
                <a:ext uri="{FF2B5EF4-FFF2-40B4-BE49-F238E27FC236}">
                  <a16:creationId xmlns:a16="http://schemas.microsoft.com/office/drawing/2014/main" id="{3FA09AA4-2051-6727-35B6-B77BF35BC6AC}"/>
                </a:ext>
              </a:extLst>
            </p:cNvPr>
            <p:cNvCxnSpPr>
              <a:cxnSpLocks/>
            </p:cNvCxnSpPr>
            <p:nvPr/>
          </p:nvCxnSpPr>
          <p:spPr>
            <a:xfrm flipV="1">
              <a:off x="7400040" y="1495520"/>
              <a:ext cx="571536" cy="44247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15867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3A22FF3-2CD0-556E-56F8-9E86715609C2}"/>
              </a:ext>
            </a:extLst>
          </p:cNvPr>
          <p:cNvSpPr>
            <a:spLocks noGrp="1"/>
          </p:cNvSpPr>
          <p:nvPr>
            <p:ph type="title"/>
          </p:nvPr>
        </p:nvSpPr>
        <p:spPr>
          <a:xfrm>
            <a:off x="457200" y="274638"/>
            <a:ext cx="8229600" cy="778098"/>
          </a:xfrm>
        </p:spPr>
        <p:txBody>
          <a:bodyPr>
            <a:normAutofit/>
          </a:bodyPr>
          <a:lstStyle/>
          <a:p>
            <a:pPr algn="ctr"/>
            <a:r>
              <a:rPr lang="it-IT" sz="3200" dirty="0"/>
              <a:t>MUSCOLI MOTORI DELLA TESTA E DEL COLLO</a:t>
            </a:r>
          </a:p>
        </p:txBody>
      </p:sp>
      <p:sp>
        <p:nvSpPr>
          <p:cNvPr id="3" name="Segnaposto contenuto 2">
            <a:extLst>
              <a:ext uri="{FF2B5EF4-FFF2-40B4-BE49-F238E27FC236}">
                <a16:creationId xmlns:a16="http://schemas.microsoft.com/office/drawing/2014/main" id="{2D904691-6E20-4942-7C06-3D6B444180D3}"/>
              </a:ext>
            </a:extLst>
          </p:cNvPr>
          <p:cNvSpPr>
            <a:spLocks noGrp="1"/>
          </p:cNvSpPr>
          <p:nvPr>
            <p:ph sz="half" idx="1"/>
          </p:nvPr>
        </p:nvSpPr>
        <p:spPr>
          <a:xfrm>
            <a:off x="457200" y="1171698"/>
            <a:ext cx="3826767" cy="5065614"/>
          </a:xfrm>
        </p:spPr>
        <p:txBody>
          <a:bodyPr>
            <a:noAutofit/>
          </a:bodyPr>
          <a:lstStyle/>
          <a:p>
            <a:r>
              <a:rPr lang="it-IT" b="1" dirty="0">
                <a:latin typeface="+mj-lt"/>
              </a:rPr>
              <a:t>A</a:t>
            </a:r>
            <a:r>
              <a:rPr lang="it-IT" dirty="0">
                <a:latin typeface="+mj-lt"/>
              </a:rPr>
              <a:t>NTERIORI</a:t>
            </a:r>
          </a:p>
          <a:p>
            <a:pPr lvl="1"/>
            <a:r>
              <a:rPr lang="it-IT" sz="2800" dirty="0" err="1">
                <a:latin typeface="+mj-lt"/>
              </a:rPr>
              <a:t>Platisma</a:t>
            </a:r>
            <a:endParaRPr lang="it-IT" sz="2800" dirty="0">
              <a:latin typeface="+mj-lt"/>
            </a:endParaRPr>
          </a:p>
          <a:p>
            <a:pPr lvl="1"/>
            <a:r>
              <a:rPr lang="it-IT" sz="2800" dirty="0">
                <a:latin typeface="+mj-lt"/>
              </a:rPr>
              <a:t>Sopra e Sotto Ioidei</a:t>
            </a:r>
          </a:p>
          <a:p>
            <a:pPr lvl="1"/>
            <a:r>
              <a:rPr lang="it-IT" sz="2800" dirty="0">
                <a:latin typeface="+mj-lt"/>
              </a:rPr>
              <a:t>Prevertebrali</a:t>
            </a:r>
          </a:p>
          <a:p>
            <a:r>
              <a:rPr lang="it-IT" b="1" dirty="0">
                <a:latin typeface="+mj-lt"/>
              </a:rPr>
              <a:t>L</a:t>
            </a:r>
            <a:r>
              <a:rPr lang="it-IT" dirty="0">
                <a:latin typeface="+mj-lt"/>
              </a:rPr>
              <a:t>ATERALI</a:t>
            </a:r>
          </a:p>
          <a:p>
            <a:pPr lvl="1"/>
            <a:r>
              <a:rPr lang="it-IT" sz="2800" dirty="0">
                <a:latin typeface="+mj-lt"/>
              </a:rPr>
              <a:t>Sterno-</a:t>
            </a:r>
            <a:r>
              <a:rPr lang="it-IT" sz="2800" dirty="0" err="1">
                <a:latin typeface="+mj-lt"/>
              </a:rPr>
              <a:t>Cleido</a:t>
            </a:r>
            <a:r>
              <a:rPr lang="it-IT" sz="2800" dirty="0">
                <a:latin typeface="+mj-lt"/>
              </a:rPr>
              <a:t>-Mastoidei</a:t>
            </a:r>
          </a:p>
          <a:p>
            <a:pPr lvl="1"/>
            <a:r>
              <a:rPr lang="it-IT" sz="2800" dirty="0">
                <a:latin typeface="+mj-lt"/>
              </a:rPr>
              <a:t>Elevatori della scapola</a:t>
            </a:r>
          </a:p>
          <a:p>
            <a:pPr lvl="1"/>
            <a:r>
              <a:rPr lang="it-IT" sz="2800" dirty="0">
                <a:latin typeface="+mj-lt"/>
              </a:rPr>
              <a:t>Scaleni</a:t>
            </a:r>
          </a:p>
          <a:p>
            <a:pPr lvl="1"/>
            <a:endParaRPr lang="it-IT" sz="2800" dirty="0">
              <a:latin typeface="+mj-lt"/>
            </a:endParaRPr>
          </a:p>
          <a:p>
            <a:pPr lvl="1"/>
            <a:endParaRPr lang="it-IT" sz="2800" dirty="0">
              <a:latin typeface="+mj-lt"/>
            </a:endParaRPr>
          </a:p>
          <a:p>
            <a:endParaRPr lang="it-IT" dirty="0">
              <a:latin typeface="+mj-lt"/>
            </a:endParaRPr>
          </a:p>
        </p:txBody>
      </p:sp>
      <p:sp>
        <p:nvSpPr>
          <p:cNvPr id="4" name="Segnaposto contenuto 3">
            <a:extLst>
              <a:ext uri="{FF2B5EF4-FFF2-40B4-BE49-F238E27FC236}">
                <a16:creationId xmlns:a16="http://schemas.microsoft.com/office/drawing/2014/main" id="{102B35AF-9E85-17D1-2720-D2C389E8562F}"/>
              </a:ext>
            </a:extLst>
          </p:cNvPr>
          <p:cNvSpPr>
            <a:spLocks noGrp="1"/>
          </p:cNvSpPr>
          <p:nvPr>
            <p:ph sz="half" idx="2"/>
          </p:nvPr>
        </p:nvSpPr>
        <p:spPr>
          <a:xfrm>
            <a:off x="4777680" y="1628800"/>
            <a:ext cx="4114800" cy="4176464"/>
          </a:xfrm>
        </p:spPr>
        <p:txBody>
          <a:bodyPr>
            <a:noAutofit/>
          </a:bodyPr>
          <a:lstStyle/>
          <a:p>
            <a:r>
              <a:rPr lang="it-IT" b="1" dirty="0"/>
              <a:t>P</a:t>
            </a:r>
            <a:r>
              <a:rPr lang="it-IT" dirty="0"/>
              <a:t>OSTERIORI</a:t>
            </a:r>
          </a:p>
          <a:p>
            <a:pPr lvl="1"/>
            <a:r>
              <a:rPr lang="it-IT" sz="2800" dirty="0"/>
              <a:t>Trapezio, </a:t>
            </a:r>
          </a:p>
          <a:p>
            <a:pPr lvl="1"/>
            <a:r>
              <a:rPr lang="it-IT" sz="2800" dirty="0"/>
              <a:t>Splenio della Testa</a:t>
            </a:r>
          </a:p>
          <a:p>
            <a:pPr lvl="1"/>
            <a:r>
              <a:rPr lang="it-IT" sz="2800" dirty="0"/>
              <a:t>Splenio del Collo</a:t>
            </a:r>
          </a:p>
          <a:p>
            <a:pPr lvl="1"/>
            <a:r>
              <a:rPr lang="it-IT" sz="2800" dirty="0"/>
              <a:t>Sub-Occipitali</a:t>
            </a:r>
          </a:p>
          <a:p>
            <a:pPr lvl="1"/>
            <a:r>
              <a:rPr lang="it-IT" sz="2800" dirty="0"/>
              <a:t>Spino-Dorsali</a:t>
            </a:r>
          </a:p>
          <a:p>
            <a:pPr lvl="2"/>
            <a:r>
              <a:rPr lang="it-IT" sz="2800" dirty="0"/>
              <a:t>Profondi/intrinseci</a:t>
            </a:r>
          </a:p>
          <a:p>
            <a:pPr lvl="1"/>
            <a:endParaRPr lang="it-IT" sz="2800" dirty="0"/>
          </a:p>
          <a:p>
            <a:endParaRPr lang="it-IT" dirty="0"/>
          </a:p>
        </p:txBody>
      </p:sp>
      <p:sp>
        <p:nvSpPr>
          <p:cNvPr id="5" name="Rettangolo 1">
            <a:extLst>
              <a:ext uri="{FF2B5EF4-FFF2-40B4-BE49-F238E27FC236}">
                <a16:creationId xmlns:a16="http://schemas.microsoft.com/office/drawing/2014/main" id="{582610F2-8404-E94D-9AFB-C572525B2DA1}"/>
              </a:ext>
            </a:extLst>
          </p:cNvPr>
          <p:cNvSpPr>
            <a:spLocks noChangeArrowheads="1"/>
          </p:cNvSpPr>
          <p:nvPr/>
        </p:nvSpPr>
        <p:spPr bwMode="auto">
          <a:xfrm>
            <a:off x="457199" y="1171698"/>
            <a:ext cx="3838276" cy="204127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
        <p:nvSpPr>
          <p:cNvPr id="6" name="Rettangolo 1">
            <a:extLst>
              <a:ext uri="{FF2B5EF4-FFF2-40B4-BE49-F238E27FC236}">
                <a16:creationId xmlns:a16="http://schemas.microsoft.com/office/drawing/2014/main" id="{CC2858AD-85EA-CC3B-2E07-167D453D6A74}"/>
              </a:ext>
            </a:extLst>
          </p:cNvPr>
          <p:cNvSpPr>
            <a:spLocks noChangeArrowheads="1"/>
          </p:cNvSpPr>
          <p:nvPr/>
        </p:nvSpPr>
        <p:spPr bwMode="auto">
          <a:xfrm>
            <a:off x="457199" y="3212976"/>
            <a:ext cx="3838275" cy="297738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
        <p:nvSpPr>
          <p:cNvPr id="7" name="Rettangolo 1">
            <a:extLst>
              <a:ext uri="{FF2B5EF4-FFF2-40B4-BE49-F238E27FC236}">
                <a16:creationId xmlns:a16="http://schemas.microsoft.com/office/drawing/2014/main" id="{83B7C467-FDD9-464D-A441-5B6B50F2103C}"/>
              </a:ext>
            </a:extLst>
          </p:cNvPr>
          <p:cNvSpPr>
            <a:spLocks noChangeArrowheads="1"/>
          </p:cNvSpPr>
          <p:nvPr/>
        </p:nvSpPr>
        <p:spPr bwMode="auto">
          <a:xfrm>
            <a:off x="4766171" y="1628800"/>
            <a:ext cx="4114799" cy="36004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Tree>
    <p:extLst>
      <p:ext uri="{BB962C8B-B14F-4D97-AF65-F5344CB8AC3E}">
        <p14:creationId xmlns:p14="http://schemas.microsoft.com/office/powerpoint/2010/main" val="34440902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5.jpg"/>
          <p:cNvPicPr>
            <a:picLocks noGrp="1" noChangeAspect="1"/>
          </p:cNvPicPr>
          <p:nvPr isPhoto="1"/>
        </p:nvPicPr>
        <p:blipFill>
          <a:blip r:embed="rId2">
            <a:lum/>
          </a:blip>
          <a:stretch>
            <a:fillRect/>
          </a:stretch>
        </p:blipFill>
        <p:spPr>
          <a:xfrm>
            <a:off x="531813" y="0"/>
            <a:ext cx="8080375" cy="6858000"/>
          </a:xfrm>
          <a:prstGeom prst="rect">
            <a:avLst/>
          </a:prstGeom>
          <a:noFill/>
          <a:ln>
            <a:noFill/>
          </a:ln>
        </p:spPr>
      </p:pic>
    </p:spTree>
    <p:extLst>
      <p:ext uri="{BB962C8B-B14F-4D97-AF65-F5344CB8AC3E}">
        <p14:creationId xmlns:p14="http://schemas.microsoft.com/office/powerpoint/2010/main" val="219995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9588-9726-A0D8-E204-780543B9712F}"/>
            </a:ext>
          </a:extLst>
        </p:cNvPr>
        <p:cNvGrpSpPr/>
        <p:nvPr/>
      </p:nvGrpSpPr>
      <p:grpSpPr>
        <a:xfrm>
          <a:off x="0" y="0"/>
          <a:ext cx="0" cy="0"/>
          <a:chOff x="0" y="0"/>
          <a:chExt cx="0" cy="0"/>
        </a:xfrm>
      </p:grpSpPr>
      <p:sp>
        <p:nvSpPr>
          <p:cNvPr id="6" name="Titolo 5">
            <a:extLst>
              <a:ext uri="{FF2B5EF4-FFF2-40B4-BE49-F238E27FC236}">
                <a16:creationId xmlns:a16="http://schemas.microsoft.com/office/drawing/2014/main" id="{625B8D48-119B-C690-C3B0-7BBE04539209}"/>
              </a:ext>
            </a:extLst>
          </p:cNvPr>
          <p:cNvSpPr>
            <a:spLocks noGrp="1"/>
          </p:cNvSpPr>
          <p:nvPr>
            <p:ph type="title"/>
          </p:nvPr>
        </p:nvSpPr>
        <p:spPr>
          <a:xfrm>
            <a:off x="628650" y="1131095"/>
            <a:ext cx="7886700" cy="201463"/>
          </a:xfrm>
        </p:spPr>
        <p:txBody>
          <a:bodyPr>
            <a:normAutofit fontScale="90000"/>
          </a:bodyPr>
          <a:lstStyle/>
          <a:p>
            <a:pPr algn="ctr"/>
            <a:r>
              <a:rPr lang="it-IT" dirty="0"/>
              <a:t>M. (ANT) «LATERALI» superficiali</a:t>
            </a:r>
          </a:p>
        </p:txBody>
      </p:sp>
      <p:pic>
        <p:nvPicPr>
          <p:cNvPr id="5" name="Segnaposto contenuto 4" descr="Immagine che contiene schizzo, arte&#10;&#10;Il contenuto generato dall'IA potrebbe non essere corretto.">
            <a:extLst>
              <a:ext uri="{FF2B5EF4-FFF2-40B4-BE49-F238E27FC236}">
                <a16:creationId xmlns:a16="http://schemas.microsoft.com/office/drawing/2014/main" id="{7945BD13-FF7C-7287-7636-316EB42A9540}"/>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r="21380"/>
          <a:stretch>
            <a:fillRect/>
          </a:stretch>
        </p:blipFill>
        <p:spPr>
          <a:xfrm>
            <a:off x="2005681" y="1560944"/>
            <a:ext cx="4702940" cy="4304148"/>
          </a:xfrm>
        </p:spPr>
      </p:pic>
      <p:sp>
        <p:nvSpPr>
          <p:cNvPr id="7" name="Segnaposto contenuto 6">
            <a:extLst>
              <a:ext uri="{FF2B5EF4-FFF2-40B4-BE49-F238E27FC236}">
                <a16:creationId xmlns:a16="http://schemas.microsoft.com/office/drawing/2014/main" id="{FD11D2DD-86C2-B63D-7712-4EF20AFDC306}"/>
              </a:ext>
            </a:extLst>
          </p:cNvPr>
          <p:cNvSpPr>
            <a:spLocks noGrp="1"/>
          </p:cNvSpPr>
          <p:nvPr>
            <p:ph sz="half" idx="2"/>
          </p:nvPr>
        </p:nvSpPr>
        <p:spPr>
          <a:xfrm>
            <a:off x="6461576" y="2093049"/>
            <a:ext cx="2298127" cy="3035174"/>
          </a:xfrm>
        </p:spPr>
        <p:txBody>
          <a:bodyPr>
            <a:normAutofit fontScale="92500" lnSpcReduction="10000"/>
          </a:bodyPr>
          <a:lstStyle/>
          <a:p>
            <a:r>
              <a:rPr lang="it-IT" b="1" dirty="0">
                <a:solidFill>
                  <a:srgbClr val="FF0000"/>
                </a:solidFill>
              </a:rPr>
              <a:t>STERNO-CLEIDO-MASTOIDEO</a:t>
            </a:r>
          </a:p>
          <a:p>
            <a:endParaRPr lang="it-IT" dirty="0"/>
          </a:p>
          <a:p>
            <a:r>
              <a:rPr lang="it-IT" dirty="0"/>
              <a:t>Flessore</a:t>
            </a:r>
          </a:p>
          <a:p>
            <a:r>
              <a:rPr lang="it-IT" dirty="0"/>
              <a:t>Inclina</a:t>
            </a:r>
          </a:p>
          <a:p>
            <a:r>
              <a:rPr lang="it-IT" dirty="0"/>
              <a:t>Rot. </a:t>
            </a:r>
            <a:r>
              <a:rPr lang="it-IT" dirty="0" err="1"/>
              <a:t>Cntr</a:t>
            </a:r>
            <a:endParaRPr lang="it-IT" dirty="0"/>
          </a:p>
          <a:p>
            <a:endParaRPr lang="it-IT" dirty="0"/>
          </a:p>
        </p:txBody>
      </p:sp>
      <p:sp>
        <p:nvSpPr>
          <p:cNvPr id="9" name="Rettangolo 1">
            <a:extLst>
              <a:ext uri="{FF2B5EF4-FFF2-40B4-BE49-F238E27FC236}">
                <a16:creationId xmlns:a16="http://schemas.microsoft.com/office/drawing/2014/main" id="{663C25FF-0742-48BB-0667-58907E1629E1}"/>
              </a:ext>
            </a:extLst>
          </p:cNvPr>
          <p:cNvSpPr>
            <a:spLocks noChangeArrowheads="1"/>
          </p:cNvSpPr>
          <p:nvPr/>
        </p:nvSpPr>
        <p:spPr bwMode="auto">
          <a:xfrm>
            <a:off x="4906122" y="3921795"/>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10" name="Rettangolo 1">
            <a:extLst>
              <a:ext uri="{FF2B5EF4-FFF2-40B4-BE49-F238E27FC236}">
                <a16:creationId xmlns:a16="http://schemas.microsoft.com/office/drawing/2014/main" id="{1123CA4B-CD9F-C851-760C-48DB576B7444}"/>
              </a:ext>
            </a:extLst>
          </p:cNvPr>
          <p:cNvSpPr>
            <a:spLocks noChangeArrowheads="1"/>
          </p:cNvSpPr>
          <p:nvPr/>
        </p:nvSpPr>
        <p:spPr bwMode="auto">
          <a:xfrm>
            <a:off x="5985834" y="3611996"/>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13" name="Rettangolo 1">
            <a:extLst>
              <a:ext uri="{FF2B5EF4-FFF2-40B4-BE49-F238E27FC236}">
                <a16:creationId xmlns:a16="http://schemas.microsoft.com/office/drawing/2014/main" id="{FD084374-80DA-DF9D-2B5E-4CFF253BC124}"/>
              </a:ext>
            </a:extLst>
          </p:cNvPr>
          <p:cNvSpPr>
            <a:spLocks noChangeArrowheads="1"/>
          </p:cNvSpPr>
          <p:nvPr/>
        </p:nvSpPr>
        <p:spPr bwMode="auto">
          <a:xfrm>
            <a:off x="4268937" y="2200501"/>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3</a:t>
            </a:r>
          </a:p>
        </p:txBody>
      </p:sp>
      <p:pic>
        <p:nvPicPr>
          <p:cNvPr id="17" name="Immagine 16">
            <a:extLst>
              <a:ext uri="{FF2B5EF4-FFF2-40B4-BE49-F238E27FC236}">
                <a16:creationId xmlns:a16="http://schemas.microsoft.com/office/drawing/2014/main" id="{3C7CAAE3-5298-88F7-E16A-8FA54E7712AA}"/>
              </a:ext>
            </a:extLst>
          </p:cNvPr>
          <p:cNvPicPr>
            <a:picLocks noChangeAspect="1"/>
          </p:cNvPicPr>
          <p:nvPr/>
        </p:nvPicPr>
        <p:blipFill>
          <a:blip r:embed="rId4"/>
          <a:stretch>
            <a:fillRect/>
          </a:stretch>
        </p:blipFill>
        <p:spPr>
          <a:xfrm>
            <a:off x="380246" y="1636788"/>
            <a:ext cx="3109866" cy="3386983"/>
          </a:xfrm>
          <a:prstGeom prst="rect">
            <a:avLst/>
          </a:prstGeom>
        </p:spPr>
      </p:pic>
      <p:pic>
        <p:nvPicPr>
          <p:cNvPr id="18" name="Segnaposto contenuto 2">
            <a:extLst>
              <a:ext uri="{FF2B5EF4-FFF2-40B4-BE49-F238E27FC236}">
                <a16:creationId xmlns:a16="http://schemas.microsoft.com/office/drawing/2014/main" id="{16D1D9D7-8A9E-E46C-1A96-7E6C6816CCA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V="1">
            <a:off x="384296" y="2302731"/>
            <a:ext cx="147230" cy="177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Segnaposto contenuto 2">
            <a:extLst>
              <a:ext uri="{FF2B5EF4-FFF2-40B4-BE49-F238E27FC236}">
                <a16:creationId xmlns:a16="http://schemas.microsoft.com/office/drawing/2014/main" id="{F4637111-CEA5-4967-44E5-4F3B417FCF6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6684" y="3428999"/>
            <a:ext cx="476250" cy="619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Segnaposto contenuto 2">
            <a:extLst>
              <a:ext uri="{FF2B5EF4-FFF2-40B4-BE49-F238E27FC236}">
                <a16:creationId xmlns:a16="http://schemas.microsoft.com/office/drawing/2014/main" id="{C30A96C9-79BB-3148-127B-5FA7581A2D9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3568" y="3450092"/>
            <a:ext cx="476250" cy="38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Segnaposto contenuto 2">
            <a:extLst>
              <a:ext uri="{FF2B5EF4-FFF2-40B4-BE49-F238E27FC236}">
                <a16:creationId xmlns:a16="http://schemas.microsoft.com/office/drawing/2014/main" id="{7B4B64C5-0FF6-6B35-78F8-AE6F6C1592D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90285" y="1627742"/>
            <a:ext cx="328526" cy="180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Segnaposto contenuto 2">
            <a:extLst>
              <a:ext uri="{FF2B5EF4-FFF2-40B4-BE49-F238E27FC236}">
                <a16:creationId xmlns:a16="http://schemas.microsoft.com/office/drawing/2014/main" id="{DB3117E7-D3AC-555A-2DFE-5F0EA847EFC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13862" y="2663417"/>
            <a:ext cx="245386" cy="752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Segnaposto contenuto 2">
            <a:extLst>
              <a:ext uri="{FF2B5EF4-FFF2-40B4-BE49-F238E27FC236}">
                <a16:creationId xmlns:a16="http://schemas.microsoft.com/office/drawing/2014/main" id="{20BC8157-E77E-A8AD-061A-ECF42C3B957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1335992">
            <a:off x="3045744" y="2282197"/>
            <a:ext cx="320817" cy="862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Segnaposto contenuto 2">
            <a:extLst>
              <a:ext uri="{FF2B5EF4-FFF2-40B4-BE49-F238E27FC236}">
                <a16:creationId xmlns:a16="http://schemas.microsoft.com/office/drawing/2014/main" id="{33479A39-2EB2-D662-3B0B-9AA3309C533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54838" y="4680853"/>
            <a:ext cx="912439" cy="26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Segnaposto contenuto 2">
            <a:extLst>
              <a:ext uri="{FF2B5EF4-FFF2-40B4-BE49-F238E27FC236}">
                <a16:creationId xmlns:a16="http://schemas.microsoft.com/office/drawing/2014/main" id="{C6338CB7-8452-5048-F982-36F1D676A12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32425" y="4680853"/>
            <a:ext cx="255425" cy="13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ttangolo 1">
            <a:extLst>
              <a:ext uri="{FF2B5EF4-FFF2-40B4-BE49-F238E27FC236}">
                <a16:creationId xmlns:a16="http://schemas.microsoft.com/office/drawing/2014/main" id="{7BD8221E-47BB-3214-7D3E-5CA358501A4E}"/>
              </a:ext>
            </a:extLst>
          </p:cNvPr>
          <p:cNvSpPr>
            <a:spLocks noChangeArrowheads="1"/>
          </p:cNvSpPr>
          <p:nvPr/>
        </p:nvSpPr>
        <p:spPr bwMode="auto">
          <a:xfrm>
            <a:off x="628650" y="2506577"/>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3</a:t>
            </a:r>
          </a:p>
        </p:txBody>
      </p:sp>
      <p:sp>
        <p:nvSpPr>
          <p:cNvPr id="14" name="Rettangolo 1">
            <a:extLst>
              <a:ext uri="{FF2B5EF4-FFF2-40B4-BE49-F238E27FC236}">
                <a16:creationId xmlns:a16="http://schemas.microsoft.com/office/drawing/2014/main" id="{09C17130-2D26-CCBE-4FA5-9DCED25E617C}"/>
              </a:ext>
            </a:extLst>
          </p:cNvPr>
          <p:cNvSpPr>
            <a:spLocks noChangeArrowheads="1"/>
          </p:cNvSpPr>
          <p:nvPr/>
        </p:nvSpPr>
        <p:spPr bwMode="auto">
          <a:xfrm>
            <a:off x="2757936" y="4267061"/>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8" name="Rettangolo 1">
            <a:extLst>
              <a:ext uri="{FF2B5EF4-FFF2-40B4-BE49-F238E27FC236}">
                <a16:creationId xmlns:a16="http://schemas.microsoft.com/office/drawing/2014/main" id="{49218116-DF38-0C0D-8452-B0B4504EF7B5}"/>
              </a:ext>
            </a:extLst>
          </p:cNvPr>
          <p:cNvSpPr>
            <a:spLocks noChangeArrowheads="1"/>
          </p:cNvSpPr>
          <p:nvPr/>
        </p:nvSpPr>
        <p:spPr bwMode="auto">
          <a:xfrm>
            <a:off x="2175658" y="4140259"/>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26" name="Freccia circolare in giù 25">
            <a:extLst>
              <a:ext uri="{FF2B5EF4-FFF2-40B4-BE49-F238E27FC236}">
                <a16:creationId xmlns:a16="http://schemas.microsoft.com/office/drawing/2014/main" id="{9D31FC8D-8548-9A9F-A888-EA611E93E1B9}"/>
              </a:ext>
            </a:extLst>
          </p:cNvPr>
          <p:cNvSpPr/>
          <p:nvPr/>
        </p:nvSpPr>
        <p:spPr>
          <a:xfrm>
            <a:off x="2233943" y="1560945"/>
            <a:ext cx="1025305" cy="236647"/>
          </a:xfrm>
          <a:prstGeom prst="curved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350">
              <a:solidFill>
                <a:schemeClr val="tx1"/>
              </a:solidFill>
            </a:endParaRPr>
          </a:p>
        </p:txBody>
      </p:sp>
    </p:spTree>
    <p:extLst>
      <p:ext uri="{BB962C8B-B14F-4D97-AF65-F5344CB8AC3E}">
        <p14:creationId xmlns:p14="http://schemas.microsoft.com/office/powerpoint/2010/main" val="3208420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1.jpg"/>
          <p:cNvPicPr>
            <a:picLocks noGrp="1" noChangeAspect="1"/>
          </p:cNvPicPr>
          <p:nvPr isPhoto="1"/>
        </p:nvPicPr>
        <p:blipFill>
          <a:blip r:embed="rId2">
            <a:lum/>
          </a:blip>
          <a:srcRect b="9051"/>
          <a:stretch>
            <a:fillRect/>
          </a:stretch>
        </p:blipFill>
        <p:spPr>
          <a:xfrm>
            <a:off x="777875" y="332656"/>
            <a:ext cx="7586663" cy="6237312"/>
          </a:xfrm>
          <a:prstGeom prst="rect">
            <a:avLst/>
          </a:prstGeom>
          <a:noFill/>
          <a:ln>
            <a:noFill/>
          </a:ln>
        </p:spPr>
      </p:pic>
    </p:spTree>
    <p:extLst>
      <p:ext uri="{BB962C8B-B14F-4D97-AF65-F5344CB8AC3E}">
        <p14:creationId xmlns:p14="http://schemas.microsoft.com/office/powerpoint/2010/main" val="5020944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0.jpg"/>
          <p:cNvPicPr>
            <a:picLocks noGrp="1" noChangeAspect="1"/>
          </p:cNvPicPr>
          <p:nvPr isPhoto="1"/>
        </p:nvPicPr>
        <p:blipFill>
          <a:blip r:embed="rId2">
            <a:lum/>
          </a:blip>
          <a:srcRect b="11151"/>
          <a:stretch>
            <a:fillRect/>
          </a:stretch>
        </p:blipFill>
        <p:spPr>
          <a:xfrm>
            <a:off x="1619672" y="180172"/>
            <a:ext cx="5904656" cy="6497656"/>
          </a:xfrm>
          <a:prstGeom prst="rect">
            <a:avLst/>
          </a:prstGeom>
          <a:noFill/>
          <a:ln>
            <a:noFill/>
          </a:ln>
        </p:spPr>
      </p:pic>
    </p:spTree>
    <p:extLst>
      <p:ext uri="{BB962C8B-B14F-4D97-AF65-F5344CB8AC3E}">
        <p14:creationId xmlns:p14="http://schemas.microsoft.com/office/powerpoint/2010/main" val="35176118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6.jpg"/>
          <p:cNvPicPr>
            <a:picLocks noGrp="1" noChangeAspect="1"/>
          </p:cNvPicPr>
          <p:nvPr isPhoto="1"/>
        </p:nvPicPr>
        <p:blipFill>
          <a:blip r:embed="rId2" cstate="print">
            <a:lum/>
          </a:blip>
          <a:srcRect l="20565" r="4520" b="54860"/>
          <a:stretch>
            <a:fillRect/>
          </a:stretch>
        </p:blipFill>
        <p:spPr>
          <a:xfrm>
            <a:off x="539552" y="2728664"/>
            <a:ext cx="3680950" cy="3292624"/>
          </a:xfrm>
          <a:prstGeom prst="rect">
            <a:avLst/>
          </a:prstGeom>
          <a:noFill/>
          <a:ln>
            <a:noFill/>
          </a:ln>
        </p:spPr>
      </p:pic>
      <p:pic>
        <p:nvPicPr>
          <p:cNvPr id="3" name="Picture 1" descr="02146.jpg">
            <a:extLst>
              <a:ext uri="{FF2B5EF4-FFF2-40B4-BE49-F238E27FC236}">
                <a16:creationId xmlns:a16="http://schemas.microsoft.com/office/drawing/2014/main" id="{6A45400B-6965-E614-F22B-89B56082FDFF}"/>
              </a:ext>
            </a:extLst>
          </p:cNvPr>
          <p:cNvPicPr>
            <a:picLocks noGrp="1" noChangeAspect="1"/>
          </p:cNvPicPr>
          <p:nvPr isPhoto="1"/>
        </p:nvPicPr>
        <p:blipFill>
          <a:blip r:embed="rId2" cstate="print">
            <a:lum/>
          </a:blip>
          <a:srcRect l="26440" t="50088" b="12312"/>
          <a:stretch>
            <a:fillRect/>
          </a:stretch>
        </p:blipFill>
        <p:spPr>
          <a:xfrm>
            <a:off x="4347437" y="2728664"/>
            <a:ext cx="4329019" cy="3284984"/>
          </a:xfrm>
          <a:prstGeom prst="rect">
            <a:avLst/>
          </a:prstGeom>
          <a:noFill/>
          <a:ln>
            <a:noFill/>
          </a:ln>
        </p:spPr>
      </p:pic>
      <p:pic>
        <p:nvPicPr>
          <p:cNvPr id="4" name="Picture 1" descr="02144.jpg"/>
          <p:cNvPicPr>
            <a:picLocks noGrp="1" noChangeAspect="1"/>
          </p:cNvPicPr>
          <p:nvPr isPhoto="1"/>
        </p:nvPicPr>
        <p:blipFill>
          <a:blip r:embed="rId3">
            <a:lum/>
          </a:blip>
          <a:srcRect l="5900" b="25873"/>
          <a:stretch>
            <a:fillRect/>
          </a:stretch>
        </p:blipFill>
        <p:spPr>
          <a:xfrm>
            <a:off x="2159732" y="652177"/>
            <a:ext cx="4824536" cy="1984735"/>
          </a:xfrm>
          <a:prstGeom prst="rect">
            <a:avLst/>
          </a:prstGeom>
          <a:noFill/>
          <a:ln>
            <a:noFill/>
          </a:ln>
        </p:spPr>
      </p:pic>
      <p:sp>
        <p:nvSpPr>
          <p:cNvPr id="5" name="Rettangolo 1">
            <a:extLst>
              <a:ext uri="{FF2B5EF4-FFF2-40B4-BE49-F238E27FC236}">
                <a16:creationId xmlns:a16="http://schemas.microsoft.com/office/drawing/2014/main" id="{7CDE9200-410B-AF41-47FB-870A007132E3}"/>
              </a:ext>
            </a:extLst>
          </p:cNvPr>
          <p:cNvSpPr>
            <a:spLocks noChangeArrowheads="1"/>
          </p:cNvSpPr>
          <p:nvPr/>
        </p:nvSpPr>
        <p:spPr bwMode="auto">
          <a:xfrm>
            <a:off x="2267744" y="4390975"/>
            <a:ext cx="4235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400" dirty="0">
                <a:solidFill>
                  <a:schemeClr val="bg1"/>
                </a:solidFill>
                <a:latin typeface="Tahoma" pitchFamily="34" charset="0"/>
              </a:rPr>
              <a:t>5C</a:t>
            </a:r>
          </a:p>
        </p:txBody>
      </p:sp>
      <p:sp>
        <p:nvSpPr>
          <p:cNvPr id="6" name="Rettangolo 1">
            <a:extLst>
              <a:ext uri="{FF2B5EF4-FFF2-40B4-BE49-F238E27FC236}">
                <a16:creationId xmlns:a16="http://schemas.microsoft.com/office/drawing/2014/main" id="{E87E2707-0B31-BD4B-8B55-36412BED5B8C}"/>
              </a:ext>
            </a:extLst>
          </p:cNvPr>
          <p:cNvSpPr>
            <a:spLocks noChangeArrowheads="1"/>
          </p:cNvSpPr>
          <p:nvPr/>
        </p:nvSpPr>
        <p:spPr bwMode="auto">
          <a:xfrm>
            <a:off x="4788024" y="4082142"/>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3</a:t>
            </a:r>
          </a:p>
        </p:txBody>
      </p:sp>
      <p:sp>
        <p:nvSpPr>
          <p:cNvPr id="7" name="Rettangolo 1">
            <a:extLst>
              <a:ext uri="{FF2B5EF4-FFF2-40B4-BE49-F238E27FC236}">
                <a16:creationId xmlns:a16="http://schemas.microsoft.com/office/drawing/2014/main" id="{3AEFCEED-A74C-BC6E-A036-5461EDBEDDB0}"/>
              </a:ext>
            </a:extLst>
          </p:cNvPr>
          <p:cNvSpPr>
            <a:spLocks noChangeArrowheads="1"/>
          </p:cNvSpPr>
          <p:nvPr/>
        </p:nvSpPr>
        <p:spPr bwMode="auto">
          <a:xfrm>
            <a:off x="7363231" y="4420280"/>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2</a:t>
            </a:r>
          </a:p>
        </p:txBody>
      </p:sp>
      <p:sp>
        <p:nvSpPr>
          <p:cNvPr id="8" name="Rettangolo 1">
            <a:extLst>
              <a:ext uri="{FF2B5EF4-FFF2-40B4-BE49-F238E27FC236}">
                <a16:creationId xmlns:a16="http://schemas.microsoft.com/office/drawing/2014/main" id="{AD169B6B-EC72-2C37-1D67-1940B8EC8824}"/>
              </a:ext>
            </a:extLst>
          </p:cNvPr>
          <p:cNvSpPr>
            <a:spLocks noChangeArrowheads="1"/>
          </p:cNvSpPr>
          <p:nvPr/>
        </p:nvSpPr>
        <p:spPr bwMode="auto">
          <a:xfrm>
            <a:off x="7236296" y="4082142"/>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spTree>
    <p:extLst>
      <p:ext uri="{BB962C8B-B14F-4D97-AF65-F5344CB8AC3E}">
        <p14:creationId xmlns:p14="http://schemas.microsoft.com/office/powerpoint/2010/main" val="29276785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9.jpg"/>
          <p:cNvPicPr>
            <a:picLocks noGrp="1" noChangeAspect="1"/>
          </p:cNvPicPr>
          <p:nvPr isPhoto="1"/>
        </p:nvPicPr>
        <p:blipFill>
          <a:blip r:embed="rId2">
            <a:lum/>
          </a:blip>
          <a:srcRect l="17266" r="15219" b="80625"/>
          <a:stretch>
            <a:fillRect/>
          </a:stretch>
        </p:blipFill>
        <p:spPr>
          <a:xfrm>
            <a:off x="251520" y="1950627"/>
            <a:ext cx="4517191" cy="2956746"/>
          </a:xfrm>
          <a:prstGeom prst="rect">
            <a:avLst/>
          </a:prstGeom>
          <a:noFill/>
          <a:ln>
            <a:noFill/>
          </a:ln>
        </p:spPr>
      </p:pic>
      <p:pic>
        <p:nvPicPr>
          <p:cNvPr id="3" name="Picture 1" descr="02149.jpg">
            <a:extLst>
              <a:ext uri="{FF2B5EF4-FFF2-40B4-BE49-F238E27FC236}">
                <a16:creationId xmlns:a16="http://schemas.microsoft.com/office/drawing/2014/main" id="{40A1D038-7B2B-DEF1-4344-A29E9E22B10B}"/>
              </a:ext>
            </a:extLst>
          </p:cNvPr>
          <p:cNvPicPr>
            <a:picLocks noGrp="1" noChangeAspect="1"/>
          </p:cNvPicPr>
          <p:nvPr isPhoto="1"/>
        </p:nvPicPr>
        <p:blipFill>
          <a:blip r:embed="rId2">
            <a:lum/>
          </a:blip>
          <a:srcRect t="18832" b="16401"/>
          <a:stretch>
            <a:fillRect/>
          </a:stretch>
        </p:blipFill>
        <p:spPr>
          <a:xfrm>
            <a:off x="4932040" y="404154"/>
            <a:ext cx="4095178" cy="6049691"/>
          </a:xfrm>
          <a:prstGeom prst="rect">
            <a:avLst/>
          </a:prstGeom>
          <a:noFill/>
          <a:ln>
            <a:noFill/>
          </a:ln>
        </p:spPr>
      </p:pic>
      <p:sp>
        <p:nvSpPr>
          <p:cNvPr id="4" name="Titolo 1">
            <a:extLst>
              <a:ext uri="{FF2B5EF4-FFF2-40B4-BE49-F238E27FC236}">
                <a16:creationId xmlns:a16="http://schemas.microsoft.com/office/drawing/2014/main" id="{21B7CBCB-37BB-AD41-D242-2FA336B9C8E9}"/>
              </a:ext>
            </a:extLst>
          </p:cNvPr>
          <p:cNvSpPr txBox="1">
            <a:spLocks/>
          </p:cNvSpPr>
          <p:nvPr/>
        </p:nvSpPr>
        <p:spPr>
          <a:xfrm>
            <a:off x="992775" y="836712"/>
            <a:ext cx="3034680" cy="778098"/>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sz="3200" dirty="0"/>
              <a:t>M. SOTTOIOIDEI</a:t>
            </a:r>
          </a:p>
        </p:txBody>
      </p:sp>
    </p:spTree>
    <p:extLst>
      <p:ext uri="{BB962C8B-B14F-4D97-AF65-F5344CB8AC3E}">
        <p14:creationId xmlns:p14="http://schemas.microsoft.com/office/powerpoint/2010/main" val="2707525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DF97821-AF18-36D8-D894-F4535098F967}"/>
              </a:ext>
            </a:extLst>
          </p:cNvPr>
          <p:cNvSpPr>
            <a:spLocks noGrp="1"/>
          </p:cNvSpPr>
          <p:nvPr>
            <p:ph type="title"/>
          </p:nvPr>
        </p:nvSpPr>
        <p:spPr>
          <a:xfrm>
            <a:off x="628650" y="210083"/>
            <a:ext cx="7886700" cy="1448400"/>
          </a:xfrm>
        </p:spPr>
        <p:txBody>
          <a:bodyPr>
            <a:normAutofit/>
          </a:bodyPr>
          <a:lstStyle/>
          <a:p>
            <a:pPr algn="ctr"/>
            <a:r>
              <a:rPr lang="it-IT" dirty="0"/>
              <a:t>M. Anteriori Profondi (PREVERTEBRALI)</a:t>
            </a:r>
          </a:p>
        </p:txBody>
      </p:sp>
      <p:pic>
        <p:nvPicPr>
          <p:cNvPr id="5" name="Segnaposto contenuto 4" descr="Immagine che contiene testo, schermata, scheletro&#10;&#10;Il contenuto generato dall'IA potrebbe non essere corretto.">
            <a:extLst>
              <a:ext uri="{FF2B5EF4-FFF2-40B4-BE49-F238E27FC236}">
                <a16:creationId xmlns:a16="http://schemas.microsoft.com/office/drawing/2014/main" id="{6279ECB4-AD23-25BE-5280-2084F7B797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0035" y="1655792"/>
            <a:ext cx="7183931" cy="4071114"/>
          </a:xfrm>
        </p:spPr>
      </p:pic>
      <p:sp>
        <p:nvSpPr>
          <p:cNvPr id="6" name="Segnaposto contenuto 6">
            <a:extLst>
              <a:ext uri="{FF2B5EF4-FFF2-40B4-BE49-F238E27FC236}">
                <a16:creationId xmlns:a16="http://schemas.microsoft.com/office/drawing/2014/main" id="{DE8A810C-507E-2275-A5F7-E85644909C67}"/>
              </a:ext>
            </a:extLst>
          </p:cNvPr>
          <p:cNvSpPr txBox="1">
            <a:spLocks/>
          </p:cNvSpPr>
          <p:nvPr/>
        </p:nvSpPr>
        <p:spPr>
          <a:xfrm>
            <a:off x="6111477" y="3479152"/>
            <a:ext cx="1943100" cy="183031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350" dirty="0"/>
              <a:t>Fascia Prevertebrale</a:t>
            </a:r>
          </a:p>
          <a:p>
            <a:r>
              <a:rPr lang="it-IT" sz="1350" dirty="0">
                <a:solidFill>
                  <a:srgbClr val="FF0000"/>
                </a:solidFill>
              </a:rPr>
              <a:t>1</a:t>
            </a:r>
            <a:r>
              <a:rPr lang="it-IT" sz="1350" dirty="0"/>
              <a:t>) riduzione lordosi cervicale</a:t>
            </a:r>
          </a:p>
          <a:p>
            <a:endParaRPr lang="it-IT" sz="1350" dirty="0"/>
          </a:p>
          <a:p>
            <a:r>
              <a:rPr lang="it-IT" sz="1350" dirty="0"/>
              <a:t>Flettono </a:t>
            </a:r>
          </a:p>
          <a:p>
            <a:r>
              <a:rPr lang="it-IT" sz="1350" dirty="0"/>
              <a:t>Inclinano</a:t>
            </a:r>
          </a:p>
          <a:p>
            <a:pPr lvl="1"/>
            <a:r>
              <a:rPr lang="it-IT" sz="1050" dirty="0"/>
              <a:t>OMO-lateralmente</a:t>
            </a:r>
          </a:p>
          <a:p>
            <a:endParaRPr lang="it-IT" sz="1350" dirty="0"/>
          </a:p>
        </p:txBody>
      </p:sp>
      <p:sp>
        <p:nvSpPr>
          <p:cNvPr id="7" name="Rettangolo 1">
            <a:extLst>
              <a:ext uri="{FF2B5EF4-FFF2-40B4-BE49-F238E27FC236}">
                <a16:creationId xmlns:a16="http://schemas.microsoft.com/office/drawing/2014/main" id="{E48E87B8-E1C2-4FBE-0DAE-AB1C69A44D4D}"/>
              </a:ext>
            </a:extLst>
          </p:cNvPr>
          <p:cNvSpPr>
            <a:spLocks noChangeArrowheads="1"/>
          </p:cNvSpPr>
          <p:nvPr/>
        </p:nvSpPr>
        <p:spPr bwMode="auto">
          <a:xfrm>
            <a:off x="5922169" y="2703193"/>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9" name="Rettangolo 1">
            <a:extLst>
              <a:ext uri="{FF2B5EF4-FFF2-40B4-BE49-F238E27FC236}">
                <a16:creationId xmlns:a16="http://schemas.microsoft.com/office/drawing/2014/main" id="{665665FC-FAD3-7CC8-13F2-2C91AA0994C6}"/>
              </a:ext>
            </a:extLst>
          </p:cNvPr>
          <p:cNvSpPr>
            <a:spLocks noChangeArrowheads="1"/>
          </p:cNvSpPr>
          <p:nvPr/>
        </p:nvSpPr>
        <p:spPr bwMode="auto">
          <a:xfrm>
            <a:off x="5922168" y="1927234"/>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10" name="Rettangolo 1">
            <a:extLst>
              <a:ext uri="{FF2B5EF4-FFF2-40B4-BE49-F238E27FC236}">
                <a16:creationId xmlns:a16="http://schemas.microsoft.com/office/drawing/2014/main" id="{21823C1D-56AE-58F0-1CB4-73ADBFE03AF4}"/>
              </a:ext>
            </a:extLst>
          </p:cNvPr>
          <p:cNvSpPr>
            <a:spLocks noChangeArrowheads="1"/>
          </p:cNvSpPr>
          <p:nvPr/>
        </p:nvSpPr>
        <p:spPr bwMode="auto">
          <a:xfrm>
            <a:off x="2617442" y="2956797"/>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3</a:t>
            </a:r>
          </a:p>
        </p:txBody>
      </p:sp>
      <p:sp>
        <p:nvSpPr>
          <p:cNvPr id="11" name="Rettangolo 1">
            <a:extLst>
              <a:ext uri="{FF2B5EF4-FFF2-40B4-BE49-F238E27FC236}">
                <a16:creationId xmlns:a16="http://schemas.microsoft.com/office/drawing/2014/main" id="{DC53CD04-6E7C-03EE-970D-454C34F86E26}"/>
              </a:ext>
            </a:extLst>
          </p:cNvPr>
          <p:cNvSpPr>
            <a:spLocks noChangeArrowheads="1"/>
          </p:cNvSpPr>
          <p:nvPr/>
        </p:nvSpPr>
        <p:spPr bwMode="auto">
          <a:xfrm>
            <a:off x="2617441" y="2299756"/>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4</a:t>
            </a:r>
          </a:p>
        </p:txBody>
      </p:sp>
    </p:spTree>
    <p:extLst>
      <p:ext uri="{BB962C8B-B14F-4D97-AF65-F5344CB8AC3E}">
        <p14:creationId xmlns:p14="http://schemas.microsoft.com/office/powerpoint/2010/main" val="31662837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4.jpg"/>
          <p:cNvPicPr>
            <a:picLocks noGrp="1" noChangeAspect="1"/>
          </p:cNvPicPr>
          <p:nvPr isPhoto="1"/>
        </p:nvPicPr>
        <p:blipFill>
          <a:blip r:embed="rId2">
            <a:lum/>
          </a:blip>
          <a:srcRect b="16401"/>
          <a:stretch>
            <a:fillRect/>
          </a:stretch>
        </p:blipFill>
        <p:spPr>
          <a:xfrm>
            <a:off x="271462" y="369833"/>
            <a:ext cx="8601075" cy="6118334"/>
          </a:xfrm>
          <a:prstGeom prst="rect">
            <a:avLst/>
          </a:prstGeom>
          <a:noFill/>
          <a:ln>
            <a:noFill/>
          </a:ln>
        </p:spPr>
      </p:pic>
    </p:spTree>
    <p:extLst>
      <p:ext uri="{BB962C8B-B14F-4D97-AF65-F5344CB8AC3E}">
        <p14:creationId xmlns:p14="http://schemas.microsoft.com/office/powerpoint/2010/main" val="14036665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7977F-02A2-F702-5E79-DF149238CB9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674A68E-B5D9-F1D1-39E9-584F3C8C30AB}"/>
              </a:ext>
            </a:extLst>
          </p:cNvPr>
          <p:cNvSpPr>
            <a:spLocks noGrp="1"/>
          </p:cNvSpPr>
          <p:nvPr>
            <p:ph type="title"/>
          </p:nvPr>
        </p:nvSpPr>
        <p:spPr>
          <a:xfrm>
            <a:off x="457199" y="624875"/>
            <a:ext cx="8229600" cy="778098"/>
          </a:xfrm>
        </p:spPr>
        <p:txBody>
          <a:bodyPr>
            <a:normAutofit/>
          </a:bodyPr>
          <a:lstStyle/>
          <a:p>
            <a:pPr algn="ctr"/>
            <a:r>
              <a:rPr lang="it-IT" sz="3200" dirty="0"/>
              <a:t>MUSCOLI MOTORI DELLA TESTA E DEL COLLO</a:t>
            </a:r>
          </a:p>
        </p:txBody>
      </p:sp>
      <p:sp>
        <p:nvSpPr>
          <p:cNvPr id="3" name="Segnaposto contenuto 2">
            <a:extLst>
              <a:ext uri="{FF2B5EF4-FFF2-40B4-BE49-F238E27FC236}">
                <a16:creationId xmlns:a16="http://schemas.microsoft.com/office/drawing/2014/main" id="{E8316CF2-65CE-4240-0014-F4102A1A6B8D}"/>
              </a:ext>
            </a:extLst>
          </p:cNvPr>
          <p:cNvSpPr>
            <a:spLocks noGrp="1"/>
          </p:cNvSpPr>
          <p:nvPr>
            <p:ph sz="half" idx="1"/>
          </p:nvPr>
        </p:nvSpPr>
        <p:spPr>
          <a:xfrm>
            <a:off x="2843808" y="1792386"/>
            <a:ext cx="3826767" cy="2977381"/>
          </a:xfrm>
        </p:spPr>
        <p:txBody>
          <a:bodyPr>
            <a:noAutofit/>
          </a:bodyPr>
          <a:lstStyle/>
          <a:p>
            <a:r>
              <a:rPr lang="it-IT" b="1" dirty="0">
                <a:latin typeface="+mj-lt"/>
              </a:rPr>
              <a:t>L</a:t>
            </a:r>
            <a:r>
              <a:rPr lang="it-IT" dirty="0">
                <a:latin typeface="+mj-lt"/>
              </a:rPr>
              <a:t>ATERALI</a:t>
            </a:r>
          </a:p>
          <a:p>
            <a:pPr lvl="1"/>
            <a:r>
              <a:rPr lang="it-IT" sz="2800" dirty="0">
                <a:latin typeface="+mj-lt"/>
              </a:rPr>
              <a:t>Sterno-</a:t>
            </a:r>
            <a:r>
              <a:rPr lang="it-IT" sz="2800" dirty="0" err="1">
                <a:latin typeface="+mj-lt"/>
              </a:rPr>
              <a:t>Cleido</a:t>
            </a:r>
            <a:r>
              <a:rPr lang="it-IT" sz="2800" dirty="0">
                <a:latin typeface="+mj-lt"/>
              </a:rPr>
              <a:t>-Mastoidei</a:t>
            </a:r>
          </a:p>
          <a:p>
            <a:pPr lvl="1"/>
            <a:r>
              <a:rPr lang="it-IT" sz="2800" dirty="0">
                <a:latin typeface="+mj-lt"/>
              </a:rPr>
              <a:t>Elevatori della scapola</a:t>
            </a:r>
          </a:p>
          <a:p>
            <a:pPr lvl="1"/>
            <a:r>
              <a:rPr lang="it-IT" sz="2800" dirty="0">
                <a:latin typeface="+mj-lt"/>
              </a:rPr>
              <a:t>Scaleni</a:t>
            </a:r>
          </a:p>
          <a:p>
            <a:pPr lvl="1"/>
            <a:endParaRPr lang="it-IT" sz="2800" dirty="0">
              <a:latin typeface="+mj-lt"/>
            </a:endParaRPr>
          </a:p>
          <a:p>
            <a:pPr lvl="1"/>
            <a:endParaRPr lang="it-IT" sz="2800" dirty="0">
              <a:latin typeface="+mj-lt"/>
            </a:endParaRPr>
          </a:p>
          <a:p>
            <a:endParaRPr lang="it-IT" dirty="0">
              <a:latin typeface="+mj-lt"/>
            </a:endParaRPr>
          </a:p>
        </p:txBody>
      </p:sp>
      <p:sp>
        <p:nvSpPr>
          <p:cNvPr id="6" name="Rettangolo 1">
            <a:extLst>
              <a:ext uri="{FF2B5EF4-FFF2-40B4-BE49-F238E27FC236}">
                <a16:creationId xmlns:a16="http://schemas.microsoft.com/office/drawing/2014/main" id="{F8497CAF-A85A-A8FA-BF52-CF456A877CC0}"/>
              </a:ext>
            </a:extLst>
          </p:cNvPr>
          <p:cNvSpPr>
            <a:spLocks noChangeArrowheads="1"/>
          </p:cNvSpPr>
          <p:nvPr/>
        </p:nvSpPr>
        <p:spPr bwMode="auto">
          <a:xfrm>
            <a:off x="2652862" y="1792143"/>
            <a:ext cx="3838275" cy="2977381"/>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Tree>
    <p:extLst>
      <p:ext uri="{BB962C8B-B14F-4D97-AF65-F5344CB8AC3E}">
        <p14:creationId xmlns:p14="http://schemas.microsoft.com/office/powerpoint/2010/main" val="15702194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olo 5">
            <a:extLst>
              <a:ext uri="{FF2B5EF4-FFF2-40B4-BE49-F238E27FC236}">
                <a16:creationId xmlns:a16="http://schemas.microsoft.com/office/drawing/2014/main" id="{608DC367-4C6B-78EC-C232-12F50F667220}"/>
              </a:ext>
            </a:extLst>
          </p:cNvPr>
          <p:cNvSpPr>
            <a:spLocks noGrp="1"/>
          </p:cNvSpPr>
          <p:nvPr>
            <p:ph type="title"/>
          </p:nvPr>
        </p:nvSpPr>
        <p:spPr>
          <a:xfrm>
            <a:off x="628650" y="1131095"/>
            <a:ext cx="7886700" cy="201463"/>
          </a:xfrm>
        </p:spPr>
        <p:txBody>
          <a:bodyPr>
            <a:normAutofit fontScale="90000"/>
          </a:bodyPr>
          <a:lstStyle/>
          <a:p>
            <a:pPr algn="ctr"/>
            <a:r>
              <a:rPr lang="it-IT" dirty="0"/>
              <a:t>M. (ANT) «LATERALI» superficiali</a:t>
            </a:r>
          </a:p>
        </p:txBody>
      </p:sp>
      <p:pic>
        <p:nvPicPr>
          <p:cNvPr id="5" name="Segnaposto contenuto 4" descr="Immagine che contiene schizzo, arte&#10;&#10;Il contenuto generato dall'IA potrebbe non essere corretto.">
            <a:extLst>
              <a:ext uri="{FF2B5EF4-FFF2-40B4-BE49-F238E27FC236}">
                <a16:creationId xmlns:a16="http://schemas.microsoft.com/office/drawing/2014/main" id="{352F132E-1981-F09D-5D38-B23BF498D628}"/>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r="21380"/>
          <a:stretch>
            <a:fillRect/>
          </a:stretch>
        </p:blipFill>
        <p:spPr>
          <a:xfrm>
            <a:off x="2005681" y="1560944"/>
            <a:ext cx="4702940" cy="4304148"/>
          </a:xfrm>
        </p:spPr>
      </p:pic>
      <p:sp>
        <p:nvSpPr>
          <p:cNvPr id="7" name="Segnaposto contenuto 6">
            <a:extLst>
              <a:ext uri="{FF2B5EF4-FFF2-40B4-BE49-F238E27FC236}">
                <a16:creationId xmlns:a16="http://schemas.microsoft.com/office/drawing/2014/main" id="{1D701436-011D-148C-7CCB-D6A9EBBF8D06}"/>
              </a:ext>
            </a:extLst>
          </p:cNvPr>
          <p:cNvSpPr>
            <a:spLocks noGrp="1"/>
          </p:cNvSpPr>
          <p:nvPr>
            <p:ph sz="half" idx="2"/>
          </p:nvPr>
        </p:nvSpPr>
        <p:spPr>
          <a:xfrm>
            <a:off x="6461576" y="2093049"/>
            <a:ext cx="2298127" cy="3035174"/>
          </a:xfrm>
        </p:spPr>
        <p:txBody>
          <a:bodyPr>
            <a:normAutofit fontScale="92500" lnSpcReduction="10000"/>
          </a:bodyPr>
          <a:lstStyle/>
          <a:p>
            <a:r>
              <a:rPr lang="it-IT" b="1" dirty="0">
                <a:solidFill>
                  <a:srgbClr val="FF0000"/>
                </a:solidFill>
              </a:rPr>
              <a:t>STERNO-CLEIDO-MASTOIDEO</a:t>
            </a:r>
          </a:p>
          <a:p>
            <a:endParaRPr lang="it-IT" dirty="0"/>
          </a:p>
          <a:p>
            <a:r>
              <a:rPr lang="it-IT" dirty="0"/>
              <a:t>Flessore</a:t>
            </a:r>
          </a:p>
          <a:p>
            <a:r>
              <a:rPr lang="it-IT" dirty="0"/>
              <a:t>Inclina</a:t>
            </a:r>
          </a:p>
          <a:p>
            <a:r>
              <a:rPr lang="it-IT" dirty="0"/>
              <a:t>Rot. </a:t>
            </a:r>
            <a:r>
              <a:rPr lang="it-IT" dirty="0" err="1"/>
              <a:t>Cntr</a:t>
            </a:r>
            <a:endParaRPr lang="it-IT" dirty="0"/>
          </a:p>
          <a:p>
            <a:endParaRPr lang="it-IT" dirty="0"/>
          </a:p>
        </p:txBody>
      </p:sp>
      <p:sp>
        <p:nvSpPr>
          <p:cNvPr id="9" name="Rettangolo 1">
            <a:extLst>
              <a:ext uri="{FF2B5EF4-FFF2-40B4-BE49-F238E27FC236}">
                <a16:creationId xmlns:a16="http://schemas.microsoft.com/office/drawing/2014/main" id="{9157CBDA-4458-F840-ABA5-11DB950998D4}"/>
              </a:ext>
            </a:extLst>
          </p:cNvPr>
          <p:cNvSpPr>
            <a:spLocks noChangeArrowheads="1"/>
          </p:cNvSpPr>
          <p:nvPr/>
        </p:nvSpPr>
        <p:spPr bwMode="auto">
          <a:xfrm>
            <a:off x="4906122" y="3921795"/>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10" name="Rettangolo 1">
            <a:extLst>
              <a:ext uri="{FF2B5EF4-FFF2-40B4-BE49-F238E27FC236}">
                <a16:creationId xmlns:a16="http://schemas.microsoft.com/office/drawing/2014/main" id="{F4F910B9-5AC0-5447-BB73-76B1547BD75E}"/>
              </a:ext>
            </a:extLst>
          </p:cNvPr>
          <p:cNvSpPr>
            <a:spLocks noChangeArrowheads="1"/>
          </p:cNvSpPr>
          <p:nvPr/>
        </p:nvSpPr>
        <p:spPr bwMode="auto">
          <a:xfrm>
            <a:off x="5985834" y="3611996"/>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13" name="Rettangolo 1">
            <a:extLst>
              <a:ext uri="{FF2B5EF4-FFF2-40B4-BE49-F238E27FC236}">
                <a16:creationId xmlns:a16="http://schemas.microsoft.com/office/drawing/2014/main" id="{40E4A02D-BD0A-EC31-190B-189D6F69C708}"/>
              </a:ext>
            </a:extLst>
          </p:cNvPr>
          <p:cNvSpPr>
            <a:spLocks noChangeArrowheads="1"/>
          </p:cNvSpPr>
          <p:nvPr/>
        </p:nvSpPr>
        <p:spPr bwMode="auto">
          <a:xfrm>
            <a:off x="4268937" y="2200501"/>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3</a:t>
            </a:r>
          </a:p>
        </p:txBody>
      </p:sp>
      <p:pic>
        <p:nvPicPr>
          <p:cNvPr id="17" name="Immagine 16">
            <a:extLst>
              <a:ext uri="{FF2B5EF4-FFF2-40B4-BE49-F238E27FC236}">
                <a16:creationId xmlns:a16="http://schemas.microsoft.com/office/drawing/2014/main" id="{695088B9-66B8-F872-8B27-DE5E1CB28CC4}"/>
              </a:ext>
            </a:extLst>
          </p:cNvPr>
          <p:cNvPicPr>
            <a:picLocks noChangeAspect="1"/>
          </p:cNvPicPr>
          <p:nvPr/>
        </p:nvPicPr>
        <p:blipFill>
          <a:blip r:embed="rId4"/>
          <a:stretch>
            <a:fillRect/>
          </a:stretch>
        </p:blipFill>
        <p:spPr>
          <a:xfrm>
            <a:off x="380246" y="1636788"/>
            <a:ext cx="3109866" cy="3386983"/>
          </a:xfrm>
          <a:prstGeom prst="rect">
            <a:avLst/>
          </a:prstGeom>
        </p:spPr>
      </p:pic>
      <p:pic>
        <p:nvPicPr>
          <p:cNvPr id="18" name="Segnaposto contenuto 2">
            <a:extLst>
              <a:ext uri="{FF2B5EF4-FFF2-40B4-BE49-F238E27FC236}">
                <a16:creationId xmlns:a16="http://schemas.microsoft.com/office/drawing/2014/main" id="{1DD90695-8050-BFDF-BD18-AB7A2509F6A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flipV="1">
            <a:off x="384296" y="2302731"/>
            <a:ext cx="147230" cy="1771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Segnaposto contenuto 2">
            <a:extLst>
              <a:ext uri="{FF2B5EF4-FFF2-40B4-BE49-F238E27FC236}">
                <a16:creationId xmlns:a16="http://schemas.microsoft.com/office/drawing/2014/main" id="{30B273D0-2F37-CF8F-28E7-E9C1A5FCD46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6684" y="3428999"/>
            <a:ext cx="476250" cy="619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Segnaposto contenuto 2">
            <a:extLst>
              <a:ext uri="{FF2B5EF4-FFF2-40B4-BE49-F238E27FC236}">
                <a16:creationId xmlns:a16="http://schemas.microsoft.com/office/drawing/2014/main" id="{A4D10430-82C4-EAE4-2263-8A9F335D596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3568" y="3450092"/>
            <a:ext cx="476250" cy="389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Segnaposto contenuto 2">
            <a:extLst>
              <a:ext uri="{FF2B5EF4-FFF2-40B4-BE49-F238E27FC236}">
                <a16:creationId xmlns:a16="http://schemas.microsoft.com/office/drawing/2014/main" id="{10558B8E-23C2-1310-1375-FD269050086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190285" y="1627742"/>
            <a:ext cx="328526" cy="1801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Segnaposto contenuto 2">
            <a:extLst>
              <a:ext uri="{FF2B5EF4-FFF2-40B4-BE49-F238E27FC236}">
                <a16:creationId xmlns:a16="http://schemas.microsoft.com/office/drawing/2014/main" id="{B535BAA1-46AA-E808-5DDF-88660FF437B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013862" y="2663417"/>
            <a:ext cx="245386" cy="752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Segnaposto contenuto 2">
            <a:extLst>
              <a:ext uri="{FF2B5EF4-FFF2-40B4-BE49-F238E27FC236}">
                <a16:creationId xmlns:a16="http://schemas.microsoft.com/office/drawing/2014/main" id="{C2B916F2-5244-D9F9-F007-929569BC30F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rot="1335992">
            <a:off x="3045744" y="2282197"/>
            <a:ext cx="320817" cy="862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Segnaposto contenuto 2">
            <a:extLst>
              <a:ext uri="{FF2B5EF4-FFF2-40B4-BE49-F238E27FC236}">
                <a16:creationId xmlns:a16="http://schemas.microsoft.com/office/drawing/2014/main" id="{9C348616-E866-A672-F1DD-8097D833DF1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54838" y="4680853"/>
            <a:ext cx="912439" cy="26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Segnaposto contenuto 2">
            <a:extLst>
              <a:ext uri="{FF2B5EF4-FFF2-40B4-BE49-F238E27FC236}">
                <a16:creationId xmlns:a16="http://schemas.microsoft.com/office/drawing/2014/main" id="{7765FFE8-D594-6ED7-FB84-371A684FCFAE}"/>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32425" y="4680853"/>
            <a:ext cx="255425" cy="13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ttangolo 1">
            <a:extLst>
              <a:ext uri="{FF2B5EF4-FFF2-40B4-BE49-F238E27FC236}">
                <a16:creationId xmlns:a16="http://schemas.microsoft.com/office/drawing/2014/main" id="{C066E079-9AAE-8620-6F3C-ED282B85B845}"/>
              </a:ext>
            </a:extLst>
          </p:cNvPr>
          <p:cNvSpPr>
            <a:spLocks noChangeArrowheads="1"/>
          </p:cNvSpPr>
          <p:nvPr/>
        </p:nvSpPr>
        <p:spPr bwMode="auto">
          <a:xfrm>
            <a:off x="628650" y="2506577"/>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3</a:t>
            </a:r>
          </a:p>
        </p:txBody>
      </p:sp>
      <p:sp>
        <p:nvSpPr>
          <p:cNvPr id="14" name="Rettangolo 1">
            <a:extLst>
              <a:ext uri="{FF2B5EF4-FFF2-40B4-BE49-F238E27FC236}">
                <a16:creationId xmlns:a16="http://schemas.microsoft.com/office/drawing/2014/main" id="{99B6ED2A-2A26-2BC0-549D-35C2F2666715}"/>
              </a:ext>
            </a:extLst>
          </p:cNvPr>
          <p:cNvSpPr>
            <a:spLocks noChangeArrowheads="1"/>
          </p:cNvSpPr>
          <p:nvPr/>
        </p:nvSpPr>
        <p:spPr bwMode="auto">
          <a:xfrm>
            <a:off x="2757936" y="4267061"/>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8" name="Rettangolo 1">
            <a:extLst>
              <a:ext uri="{FF2B5EF4-FFF2-40B4-BE49-F238E27FC236}">
                <a16:creationId xmlns:a16="http://schemas.microsoft.com/office/drawing/2014/main" id="{1ECAF999-F90E-E931-4817-4314EF280936}"/>
              </a:ext>
            </a:extLst>
          </p:cNvPr>
          <p:cNvSpPr>
            <a:spLocks noChangeArrowheads="1"/>
          </p:cNvSpPr>
          <p:nvPr/>
        </p:nvSpPr>
        <p:spPr bwMode="auto">
          <a:xfrm>
            <a:off x="2175658" y="4140259"/>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26" name="Freccia circolare in giù 25">
            <a:extLst>
              <a:ext uri="{FF2B5EF4-FFF2-40B4-BE49-F238E27FC236}">
                <a16:creationId xmlns:a16="http://schemas.microsoft.com/office/drawing/2014/main" id="{DF85C5E0-AEE3-FFE4-CD50-B9CF2B1EB13A}"/>
              </a:ext>
            </a:extLst>
          </p:cNvPr>
          <p:cNvSpPr/>
          <p:nvPr/>
        </p:nvSpPr>
        <p:spPr>
          <a:xfrm>
            <a:off x="2233943" y="1560945"/>
            <a:ext cx="1025305" cy="236647"/>
          </a:xfrm>
          <a:prstGeom prst="curved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sz="1350">
              <a:solidFill>
                <a:schemeClr val="tx1"/>
              </a:solidFill>
            </a:endParaRPr>
          </a:p>
        </p:txBody>
      </p:sp>
    </p:spTree>
    <p:extLst>
      <p:ext uri="{BB962C8B-B14F-4D97-AF65-F5344CB8AC3E}">
        <p14:creationId xmlns:p14="http://schemas.microsoft.com/office/powerpoint/2010/main" val="4020771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nc0224_01.jpg"/>
          <p:cNvPicPr>
            <a:picLocks noGrp="1" noChangeAspect="1"/>
          </p:cNvPicPr>
          <p:nvPr isPhoto="1"/>
        </p:nvPicPr>
        <p:blipFill>
          <a:blip r:embed="rId2">
            <a:lum/>
          </a:blip>
          <a:srcRect l="63387" b="31660"/>
          <a:stretch>
            <a:fillRect/>
          </a:stretch>
        </p:blipFill>
        <p:spPr>
          <a:xfrm>
            <a:off x="2654913" y="908720"/>
            <a:ext cx="3834173" cy="3687674"/>
          </a:xfrm>
          <a:prstGeom prst="rect">
            <a:avLst/>
          </a:prstGeom>
          <a:noFill/>
          <a:ln>
            <a:noFill/>
          </a:ln>
        </p:spPr>
      </p:pic>
      <p:pic>
        <p:nvPicPr>
          <p:cNvPr id="3" name="Picture 1" descr="nc0224_01.jpg">
            <a:extLst>
              <a:ext uri="{FF2B5EF4-FFF2-40B4-BE49-F238E27FC236}">
                <a16:creationId xmlns:a16="http://schemas.microsoft.com/office/drawing/2014/main" id="{B4B81634-A206-481B-8E42-CDCE0BF25148}"/>
              </a:ext>
            </a:extLst>
          </p:cNvPr>
          <p:cNvPicPr>
            <a:picLocks noGrp="1" noChangeAspect="1"/>
          </p:cNvPicPr>
          <p:nvPr isPhoto="1"/>
        </p:nvPicPr>
        <p:blipFill>
          <a:blip r:embed="rId2">
            <a:lum/>
          </a:blip>
          <a:srcRect t="70301" r="35540" b="17473"/>
          <a:stretch>
            <a:fillRect/>
          </a:stretch>
        </p:blipFill>
        <p:spPr>
          <a:xfrm>
            <a:off x="1624915" y="4797152"/>
            <a:ext cx="5894169" cy="576064"/>
          </a:xfrm>
          <a:prstGeom prst="rect">
            <a:avLst/>
          </a:prstGeom>
          <a:noFill/>
          <a:ln>
            <a:noFill/>
          </a:ln>
        </p:spPr>
      </p:pic>
    </p:spTree>
    <p:extLst>
      <p:ext uri="{BB962C8B-B14F-4D97-AF65-F5344CB8AC3E}">
        <p14:creationId xmlns:p14="http://schemas.microsoft.com/office/powerpoint/2010/main" val="3126546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528"/>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827584" y="428359"/>
            <a:ext cx="5044133" cy="6001281"/>
          </a:xfrm>
          <a:prstGeom prst="rect">
            <a:avLst/>
          </a:prstGeom>
          <a:noFill/>
          <a:ln>
            <a:noFill/>
          </a:ln>
        </p:spPr>
      </p:pic>
      <p:sp>
        <p:nvSpPr>
          <p:cNvPr id="6" name="Segnaposto contenuto 6">
            <a:extLst>
              <a:ext uri="{FF2B5EF4-FFF2-40B4-BE49-F238E27FC236}">
                <a16:creationId xmlns:a16="http://schemas.microsoft.com/office/drawing/2014/main" id="{62851A78-53F3-AF27-E85F-A543BAB51727}"/>
              </a:ext>
            </a:extLst>
          </p:cNvPr>
          <p:cNvSpPr txBox="1">
            <a:spLocks/>
          </p:cNvSpPr>
          <p:nvPr/>
        </p:nvSpPr>
        <p:spPr>
          <a:xfrm>
            <a:off x="6353767" y="3886468"/>
            <a:ext cx="1919791" cy="1656184"/>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350" dirty="0">
                <a:solidFill>
                  <a:srgbClr val="FF0000"/>
                </a:solidFill>
              </a:rPr>
              <a:t>INCLINAZIONE</a:t>
            </a:r>
          </a:p>
          <a:p>
            <a:r>
              <a:rPr lang="it-IT" sz="1350" dirty="0">
                <a:solidFill>
                  <a:srgbClr val="FF0000"/>
                </a:solidFill>
              </a:rPr>
              <a:t>ESTENSIONE</a:t>
            </a:r>
          </a:p>
          <a:p>
            <a:endParaRPr lang="it-IT" sz="1350" dirty="0">
              <a:solidFill>
                <a:srgbClr val="FF0000"/>
              </a:solidFill>
            </a:endParaRPr>
          </a:p>
          <a:p>
            <a:r>
              <a:rPr lang="it-IT" sz="1350" dirty="0">
                <a:solidFill>
                  <a:srgbClr val="FF0000"/>
                </a:solidFill>
              </a:rPr>
              <a:t>ROTAZIONE</a:t>
            </a:r>
          </a:p>
          <a:p>
            <a:pPr lvl="1"/>
            <a:r>
              <a:rPr lang="it-IT" sz="1050" dirty="0">
                <a:solidFill>
                  <a:srgbClr val="FF0000"/>
                </a:solidFill>
              </a:rPr>
              <a:t>OMOLATERALE</a:t>
            </a:r>
          </a:p>
          <a:p>
            <a:pPr lvl="1"/>
            <a:r>
              <a:rPr lang="it-IT" sz="1050" dirty="0">
                <a:solidFill>
                  <a:srgbClr val="FF0000"/>
                </a:solidFill>
              </a:rPr>
              <a:t>CONTROLATERALE</a:t>
            </a:r>
            <a:endParaRPr lang="it-IT" sz="1350" dirty="0">
              <a:solidFill>
                <a:srgbClr val="FF0000"/>
              </a:solidFill>
            </a:endParaRPr>
          </a:p>
        </p:txBody>
      </p:sp>
      <p:sp>
        <p:nvSpPr>
          <p:cNvPr id="3" name="Titolo 1">
            <a:extLst>
              <a:ext uri="{FF2B5EF4-FFF2-40B4-BE49-F238E27FC236}">
                <a16:creationId xmlns:a16="http://schemas.microsoft.com/office/drawing/2014/main" id="{7ADF646D-1BD6-3BCB-5129-D9279125EE75}"/>
              </a:ext>
            </a:extLst>
          </p:cNvPr>
          <p:cNvSpPr txBox="1">
            <a:spLocks/>
          </p:cNvSpPr>
          <p:nvPr/>
        </p:nvSpPr>
        <p:spPr>
          <a:xfrm>
            <a:off x="3185840" y="521241"/>
            <a:ext cx="2520281" cy="459487"/>
          </a:xfrm>
          <a:prstGeom prst="rect">
            <a:avLst/>
          </a:prstGeom>
        </p:spPr>
        <p:txBody>
          <a:bodyPr>
            <a:normAutofit fontScale="6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dirty="0"/>
              <a:t>M. POSTERIORI</a:t>
            </a:r>
          </a:p>
        </p:txBody>
      </p:sp>
      <p:pic>
        <p:nvPicPr>
          <p:cNvPr id="8" name="Immagine 7" descr="Immagine che contiene schizzo, disegno, arte&#10;&#10;Il contenuto generato dall'IA potrebbe non essere corretto.">
            <a:extLst>
              <a:ext uri="{FF2B5EF4-FFF2-40B4-BE49-F238E27FC236}">
                <a16:creationId xmlns:a16="http://schemas.microsoft.com/office/drawing/2014/main" id="{C5649660-D4CD-7EF4-151E-829C6C37B89E}"/>
              </a:ext>
            </a:extLst>
          </p:cNvPr>
          <p:cNvPicPr>
            <a:picLocks noChangeAspect="1"/>
          </p:cNvPicPr>
          <p:nvPr/>
        </p:nvPicPr>
        <p:blipFill>
          <a:blip r:embed="rId3"/>
          <a:stretch>
            <a:fillRect/>
          </a:stretch>
        </p:blipFill>
        <p:spPr>
          <a:xfrm>
            <a:off x="6037312" y="750984"/>
            <a:ext cx="2552700" cy="2543175"/>
          </a:xfrm>
          <a:prstGeom prst="rect">
            <a:avLst/>
          </a:prstGeom>
        </p:spPr>
      </p:pic>
    </p:spTree>
    <p:extLst>
      <p:ext uri="{BB962C8B-B14F-4D97-AF65-F5344CB8AC3E}">
        <p14:creationId xmlns:p14="http://schemas.microsoft.com/office/powerpoint/2010/main" val="2231349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gnaposto contenuto 4" descr="Immagine che contiene invertebrato, artropode&#10;&#10;Il contenuto generato dall'IA potrebbe non essere corretto.">
            <a:extLst>
              <a:ext uri="{FF2B5EF4-FFF2-40B4-BE49-F238E27FC236}">
                <a16:creationId xmlns:a16="http://schemas.microsoft.com/office/drawing/2014/main" id="{96E67168-6B32-521A-856A-A5BD384970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1600" y="1842261"/>
            <a:ext cx="7002912" cy="4426486"/>
          </a:xfrm>
        </p:spPr>
      </p:pic>
      <p:sp>
        <p:nvSpPr>
          <p:cNvPr id="6" name="Titolo 5">
            <a:extLst>
              <a:ext uri="{FF2B5EF4-FFF2-40B4-BE49-F238E27FC236}">
                <a16:creationId xmlns:a16="http://schemas.microsoft.com/office/drawing/2014/main" id="{22591235-23F1-C262-F611-C6DFB75C7AEA}"/>
              </a:ext>
            </a:extLst>
          </p:cNvPr>
          <p:cNvSpPr>
            <a:spLocks noGrp="1"/>
          </p:cNvSpPr>
          <p:nvPr>
            <p:ph type="title"/>
          </p:nvPr>
        </p:nvSpPr>
        <p:spPr>
          <a:xfrm>
            <a:off x="4463210" y="634505"/>
            <a:ext cx="3511302" cy="641722"/>
          </a:xfrm>
        </p:spPr>
        <p:txBody>
          <a:bodyPr>
            <a:normAutofit fontScale="90000"/>
          </a:bodyPr>
          <a:lstStyle/>
          <a:p>
            <a:pPr algn="ctr"/>
            <a:r>
              <a:rPr lang="it-IT" dirty="0"/>
              <a:t>M. SCALENI</a:t>
            </a:r>
          </a:p>
        </p:txBody>
      </p:sp>
      <p:pic>
        <p:nvPicPr>
          <p:cNvPr id="8" name="Immagine 7">
            <a:extLst>
              <a:ext uri="{FF2B5EF4-FFF2-40B4-BE49-F238E27FC236}">
                <a16:creationId xmlns:a16="http://schemas.microsoft.com/office/drawing/2014/main" id="{89A00071-901E-F80E-CBC7-B4F39C32E8B9}"/>
              </a:ext>
            </a:extLst>
          </p:cNvPr>
          <p:cNvPicPr>
            <a:picLocks noChangeAspect="1"/>
          </p:cNvPicPr>
          <p:nvPr/>
        </p:nvPicPr>
        <p:blipFill>
          <a:blip r:embed="rId3"/>
          <a:stretch>
            <a:fillRect/>
          </a:stretch>
        </p:blipFill>
        <p:spPr>
          <a:xfrm>
            <a:off x="323528" y="223857"/>
            <a:ext cx="3096343" cy="2895135"/>
          </a:xfrm>
          <a:prstGeom prst="rect">
            <a:avLst/>
          </a:prstGeom>
        </p:spPr>
      </p:pic>
      <p:sp>
        <p:nvSpPr>
          <p:cNvPr id="9" name="Segnaposto contenuto 6">
            <a:extLst>
              <a:ext uri="{FF2B5EF4-FFF2-40B4-BE49-F238E27FC236}">
                <a16:creationId xmlns:a16="http://schemas.microsoft.com/office/drawing/2014/main" id="{70BA5FA4-F0F6-982C-70A0-EE1A1228DA1C}"/>
              </a:ext>
            </a:extLst>
          </p:cNvPr>
          <p:cNvSpPr txBox="1">
            <a:spLocks/>
          </p:cNvSpPr>
          <p:nvPr/>
        </p:nvSpPr>
        <p:spPr>
          <a:xfrm>
            <a:off x="6372200" y="1844824"/>
            <a:ext cx="1602312" cy="131620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sz="1350" dirty="0">
                <a:solidFill>
                  <a:srgbClr val="FF0000"/>
                </a:solidFill>
              </a:rPr>
              <a:t>ANT, MEDIO, POST:</a:t>
            </a:r>
          </a:p>
          <a:p>
            <a:pPr lvl="1"/>
            <a:r>
              <a:rPr lang="it-IT" sz="1350" dirty="0">
                <a:solidFill>
                  <a:srgbClr val="FF0000"/>
                </a:solidFill>
              </a:rPr>
              <a:t>INCLINAZ</a:t>
            </a:r>
          </a:p>
          <a:p>
            <a:pPr lvl="1"/>
            <a:r>
              <a:rPr lang="it-IT" sz="1350" dirty="0">
                <a:solidFill>
                  <a:srgbClr val="FF0000"/>
                </a:solidFill>
              </a:rPr>
              <a:t>FLEX</a:t>
            </a:r>
          </a:p>
          <a:p>
            <a:r>
              <a:rPr lang="it-IT" sz="1350" dirty="0"/>
              <a:t>INSPIRAZIONE FORZATA</a:t>
            </a:r>
          </a:p>
        </p:txBody>
      </p:sp>
      <p:pic>
        <p:nvPicPr>
          <p:cNvPr id="11" name="Immagine 10">
            <a:extLst>
              <a:ext uri="{FF2B5EF4-FFF2-40B4-BE49-F238E27FC236}">
                <a16:creationId xmlns:a16="http://schemas.microsoft.com/office/drawing/2014/main" id="{0EDECC6D-E835-31FA-C56B-C11E6A1F955E}"/>
              </a:ext>
            </a:extLst>
          </p:cNvPr>
          <p:cNvPicPr>
            <a:picLocks noChangeAspect="1"/>
          </p:cNvPicPr>
          <p:nvPr/>
        </p:nvPicPr>
        <p:blipFill>
          <a:blip r:embed="rId4"/>
          <a:stretch>
            <a:fillRect/>
          </a:stretch>
        </p:blipFill>
        <p:spPr>
          <a:xfrm>
            <a:off x="5678021" y="4293096"/>
            <a:ext cx="3204129" cy="2305281"/>
          </a:xfrm>
          <a:prstGeom prst="rect">
            <a:avLst/>
          </a:prstGeom>
        </p:spPr>
      </p:pic>
    </p:spTree>
    <p:extLst>
      <p:ext uri="{BB962C8B-B14F-4D97-AF65-F5344CB8AC3E}">
        <p14:creationId xmlns:p14="http://schemas.microsoft.com/office/powerpoint/2010/main" val="208623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82.jpg"/>
          <p:cNvPicPr>
            <a:picLocks noGrp="1" noChangeAspect="1"/>
          </p:cNvPicPr>
          <p:nvPr isPhoto="1"/>
        </p:nvPicPr>
        <p:blipFill>
          <a:blip r:embed="rId3">
            <a:lum/>
          </a:blip>
          <a:srcRect b="16551"/>
          <a:stretch>
            <a:fillRect/>
          </a:stretch>
        </p:blipFill>
        <p:spPr>
          <a:xfrm>
            <a:off x="766306" y="177484"/>
            <a:ext cx="7611387" cy="6359016"/>
          </a:xfrm>
          <a:prstGeom prst="rect">
            <a:avLst/>
          </a:prstGeom>
          <a:noFill/>
          <a:ln>
            <a:noFill/>
          </a:ln>
        </p:spPr>
      </p:pic>
      <p:sp>
        <p:nvSpPr>
          <p:cNvPr id="4" name="Titolo 5">
            <a:extLst>
              <a:ext uri="{FF2B5EF4-FFF2-40B4-BE49-F238E27FC236}">
                <a16:creationId xmlns:a16="http://schemas.microsoft.com/office/drawing/2014/main" id="{162D6FC3-3CA2-DAD5-1DB4-99CB92C30E66}"/>
              </a:ext>
            </a:extLst>
          </p:cNvPr>
          <p:cNvSpPr txBox="1">
            <a:spLocks/>
          </p:cNvSpPr>
          <p:nvPr/>
        </p:nvSpPr>
        <p:spPr>
          <a:xfrm>
            <a:off x="1043608" y="548680"/>
            <a:ext cx="2592288" cy="641722"/>
          </a:xfrm>
          <a:prstGeom prst="rect">
            <a:avLst/>
          </a:prstGeom>
        </p:spPr>
        <p:txBody>
          <a:bodyPr>
            <a:normAutofit fontScale="900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dirty="0"/>
              <a:t>M. SCALENI</a:t>
            </a:r>
          </a:p>
        </p:txBody>
      </p:sp>
      <p:sp>
        <p:nvSpPr>
          <p:cNvPr id="5" name="Ovale 4">
            <a:extLst>
              <a:ext uri="{FF2B5EF4-FFF2-40B4-BE49-F238E27FC236}">
                <a16:creationId xmlns:a16="http://schemas.microsoft.com/office/drawing/2014/main" id="{6A460FB4-99A3-A334-255D-60412CB14E39}"/>
              </a:ext>
            </a:extLst>
          </p:cNvPr>
          <p:cNvSpPr/>
          <p:nvPr/>
        </p:nvSpPr>
        <p:spPr>
          <a:xfrm>
            <a:off x="2699792" y="4011414"/>
            <a:ext cx="1224136" cy="713730"/>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7" name="CasellaDiTesto 6">
            <a:extLst>
              <a:ext uri="{FF2B5EF4-FFF2-40B4-BE49-F238E27FC236}">
                <a16:creationId xmlns:a16="http://schemas.microsoft.com/office/drawing/2014/main" id="{B7BB87D5-E497-5E15-CE8F-CF484B078B98}"/>
              </a:ext>
            </a:extLst>
          </p:cNvPr>
          <p:cNvSpPr txBox="1"/>
          <p:nvPr/>
        </p:nvSpPr>
        <p:spPr>
          <a:xfrm>
            <a:off x="1196752" y="1448118"/>
            <a:ext cx="2286000" cy="646331"/>
          </a:xfrm>
          <a:prstGeom prst="rect">
            <a:avLst/>
          </a:prstGeom>
          <a:noFill/>
        </p:spPr>
        <p:txBody>
          <a:bodyPr wrap="square">
            <a:spAutoFit/>
          </a:bodyPr>
          <a:lstStyle/>
          <a:p>
            <a:r>
              <a:rPr lang="it-IT" sz="1800" b="1" i="0" kern="1200" dirty="0">
                <a:solidFill>
                  <a:schemeClr val="tx1"/>
                </a:solidFill>
                <a:effectLst/>
                <a:latin typeface="+mn-lt"/>
                <a:ea typeface="+mn-ea"/>
                <a:cs typeface="+mn-cs"/>
              </a:rPr>
              <a:t>Spazio </a:t>
            </a:r>
            <a:r>
              <a:rPr lang="it-IT" sz="1800" b="1" i="0" kern="1200" dirty="0" err="1">
                <a:solidFill>
                  <a:schemeClr val="tx1"/>
                </a:solidFill>
                <a:effectLst/>
                <a:latin typeface="+mn-lt"/>
                <a:ea typeface="+mn-ea"/>
                <a:cs typeface="+mn-cs"/>
              </a:rPr>
              <a:t>interscalenico</a:t>
            </a:r>
            <a:endParaRPr lang="it-IT" sz="1800" b="1" i="0" kern="1200" dirty="0">
              <a:solidFill>
                <a:schemeClr val="tx1"/>
              </a:solidFill>
              <a:effectLst/>
              <a:latin typeface="+mn-lt"/>
              <a:ea typeface="+mn-ea"/>
              <a:cs typeface="+mn-cs"/>
            </a:endParaRPr>
          </a:p>
          <a:p>
            <a:r>
              <a:rPr lang="it-IT" sz="1800" b="1" i="0" kern="1200" dirty="0">
                <a:solidFill>
                  <a:schemeClr val="tx1"/>
                </a:solidFill>
                <a:effectLst/>
                <a:latin typeface="+mn-lt"/>
                <a:ea typeface="+mn-ea"/>
                <a:cs typeface="+mn-cs"/>
              </a:rPr>
              <a:t>                 (</a:t>
            </a:r>
            <a:r>
              <a:rPr lang="it-IT" sz="1800" b="1" i="0" kern="1200" dirty="0">
                <a:solidFill>
                  <a:srgbClr val="FF0000"/>
                </a:solidFill>
                <a:effectLst/>
                <a:latin typeface="+mn-lt"/>
                <a:ea typeface="+mn-ea"/>
                <a:cs typeface="+mn-cs"/>
              </a:rPr>
              <a:t>TOS</a:t>
            </a:r>
            <a:r>
              <a:rPr lang="it-IT" sz="1800" b="1" i="0" kern="1200" dirty="0">
                <a:solidFill>
                  <a:schemeClr val="tx1"/>
                </a:solidFill>
                <a:effectLst/>
                <a:latin typeface="+mn-lt"/>
                <a:ea typeface="+mn-ea"/>
                <a:cs typeface="+mn-cs"/>
              </a:rPr>
              <a:t>)</a:t>
            </a:r>
            <a:r>
              <a:rPr lang="it-IT" sz="1800" b="0" i="0" kern="1200" dirty="0">
                <a:solidFill>
                  <a:schemeClr val="tx1"/>
                </a:solidFill>
                <a:effectLst/>
                <a:latin typeface="+mn-lt"/>
                <a:ea typeface="+mn-ea"/>
                <a:cs typeface="+mn-cs"/>
              </a:rPr>
              <a:t> </a:t>
            </a:r>
            <a:endParaRPr lang="it-IT" dirty="0"/>
          </a:p>
        </p:txBody>
      </p:sp>
      <p:sp>
        <p:nvSpPr>
          <p:cNvPr id="9" name="CasellaDiTesto 8">
            <a:extLst>
              <a:ext uri="{FF2B5EF4-FFF2-40B4-BE49-F238E27FC236}">
                <a16:creationId xmlns:a16="http://schemas.microsoft.com/office/drawing/2014/main" id="{4254C881-3B58-BCF7-E4E2-34475695FB3D}"/>
              </a:ext>
            </a:extLst>
          </p:cNvPr>
          <p:cNvSpPr txBox="1"/>
          <p:nvPr/>
        </p:nvSpPr>
        <p:spPr>
          <a:xfrm>
            <a:off x="6084168" y="2048959"/>
            <a:ext cx="1720667" cy="646331"/>
          </a:xfrm>
          <a:prstGeom prst="rect">
            <a:avLst/>
          </a:prstGeom>
          <a:noFill/>
        </p:spPr>
        <p:txBody>
          <a:bodyPr wrap="square">
            <a:spAutoFit/>
          </a:bodyPr>
          <a:lstStyle/>
          <a:p>
            <a:r>
              <a:rPr lang="it-IT" sz="1800" b="1" i="0" kern="1200" dirty="0">
                <a:solidFill>
                  <a:schemeClr val="tx1"/>
                </a:solidFill>
                <a:effectLst/>
                <a:latin typeface="+mn-lt"/>
                <a:ea typeface="+mn-ea"/>
                <a:cs typeface="+mn-cs"/>
              </a:rPr>
              <a:t>Plesso brachiale</a:t>
            </a:r>
          </a:p>
          <a:p>
            <a:r>
              <a:rPr lang="it-IT" b="1" dirty="0"/>
              <a:t>A. SUCCLAVIA</a:t>
            </a:r>
            <a:endParaRPr lang="it-IT" dirty="0"/>
          </a:p>
        </p:txBody>
      </p:sp>
    </p:spTree>
    <p:extLst>
      <p:ext uri="{BB962C8B-B14F-4D97-AF65-F5344CB8AC3E}">
        <p14:creationId xmlns:p14="http://schemas.microsoft.com/office/powerpoint/2010/main" val="17834793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2.jpg"/>
          <p:cNvPicPr>
            <a:picLocks noGrp="1" noChangeAspect="1"/>
          </p:cNvPicPr>
          <p:nvPr isPhoto="1"/>
        </p:nvPicPr>
        <p:blipFill>
          <a:blip r:embed="rId3">
            <a:lum/>
          </a:blip>
          <a:stretch>
            <a:fillRect/>
          </a:stretch>
        </p:blipFill>
        <p:spPr>
          <a:xfrm>
            <a:off x="1384300" y="0"/>
            <a:ext cx="6373813" cy="6858000"/>
          </a:xfrm>
          <a:prstGeom prst="rect">
            <a:avLst/>
          </a:prstGeom>
          <a:noFill/>
          <a:ln>
            <a:noFill/>
          </a:ln>
        </p:spPr>
      </p:pic>
    </p:spTree>
    <p:extLst>
      <p:ext uri="{BB962C8B-B14F-4D97-AF65-F5344CB8AC3E}">
        <p14:creationId xmlns:p14="http://schemas.microsoft.com/office/powerpoint/2010/main" val="2805979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6FD01-519F-23E4-860B-CA50BE52268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09A2264-2EC0-59AE-ED5C-63B1D9CD6798}"/>
              </a:ext>
            </a:extLst>
          </p:cNvPr>
          <p:cNvSpPr>
            <a:spLocks noGrp="1"/>
          </p:cNvSpPr>
          <p:nvPr>
            <p:ph type="title"/>
          </p:nvPr>
        </p:nvSpPr>
        <p:spPr>
          <a:xfrm>
            <a:off x="457200" y="418654"/>
            <a:ext cx="8229600" cy="778098"/>
          </a:xfrm>
        </p:spPr>
        <p:txBody>
          <a:bodyPr>
            <a:normAutofit/>
          </a:bodyPr>
          <a:lstStyle/>
          <a:p>
            <a:pPr algn="ctr"/>
            <a:r>
              <a:rPr lang="it-IT" sz="3200" dirty="0"/>
              <a:t>MUSCOLI MOTORI DELLA TESTA E DEL COLLO</a:t>
            </a:r>
          </a:p>
        </p:txBody>
      </p:sp>
      <p:sp>
        <p:nvSpPr>
          <p:cNvPr id="4" name="Segnaposto contenuto 3">
            <a:extLst>
              <a:ext uri="{FF2B5EF4-FFF2-40B4-BE49-F238E27FC236}">
                <a16:creationId xmlns:a16="http://schemas.microsoft.com/office/drawing/2014/main" id="{079FDCB7-F5FE-6101-E2EE-B28759A830B1}"/>
              </a:ext>
            </a:extLst>
          </p:cNvPr>
          <p:cNvSpPr>
            <a:spLocks noGrp="1"/>
          </p:cNvSpPr>
          <p:nvPr>
            <p:ph sz="half" idx="2"/>
          </p:nvPr>
        </p:nvSpPr>
        <p:spPr>
          <a:xfrm>
            <a:off x="2526109" y="1556792"/>
            <a:ext cx="4114800" cy="3672408"/>
          </a:xfrm>
        </p:spPr>
        <p:txBody>
          <a:bodyPr>
            <a:noAutofit/>
          </a:bodyPr>
          <a:lstStyle/>
          <a:p>
            <a:r>
              <a:rPr lang="it-IT" b="1" dirty="0"/>
              <a:t>P</a:t>
            </a:r>
            <a:r>
              <a:rPr lang="it-IT" dirty="0"/>
              <a:t>OSTERIORI</a:t>
            </a:r>
          </a:p>
          <a:p>
            <a:pPr lvl="1"/>
            <a:r>
              <a:rPr lang="it-IT" sz="2800" dirty="0"/>
              <a:t>Trapezio, </a:t>
            </a:r>
          </a:p>
          <a:p>
            <a:pPr lvl="1"/>
            <a:r>
              <a:rPr lang="it-IT" sz="2800" dirty="0"/>
              <a:t>Splenio della Testa</a:t>
            </a:r>
          </a:p>
          <a:p>
            <a:pPr lvl="1"/>
            <a:r>
              <a:rPr lang="it-IT" sz="2800" dirty="0"/>
              <a:t>Splenio del Collo</a:t>
            </a:r>
          </a:p>
          <a:p>
            <a:pPr lvl="1"/>
            <a:r>
              <a:rPr lang="it-IT" sz="2800" dirty="0"/>
              <a:t>Sub-Occipitali</a:t>
            </a:r>
          </a:p>
          <a:p>
            <a:pPr lvl="1"/>
            <a:r>
              <a:rPr lang="it-IT" sz="2800" dirty="0"/>
              <a:t>Spino-Dorsali</a:t>
            </a:r>
          </a:p>
          <a:p>
            <a:pPr lvl="2"/>
            <a:r>
              <a:rPr lang="it-IT" sz="2800" dirty="0"/>
              <a:t>Profondi/intrinseci</a:t>
            </a:r>
          </a:p>
          <a:p>
            <a:pPr lvl="1"/>
            <a:endParaRPr lang="it-IT" sz="2800" dirty="0"/>
          </a:p>
          <a:p>
            <a:endParaRPr lang="it-IT" dirty="0"/>
          </a:p>
        </p:txBody>
      </p:sp>
      <p:sp>
        <p:nvSpPr>
          <p:cNvPr id="7" name="Rettangolo 1">
            <a:extLst>
              <a:ext uri="{FF2B5EF4-FFF2-40B4-BE49-F238E27FC236}">
                <a16:creationId xmlns:a16="http://schemas.microsoft.com/office/drawing/2014/main" id="{0157E21F-39BC-7E3D-29DC-4DD490910385}"/>
              </a:ext>
            </a:extLst>
          </p:cNvPr>
          <p:cNvSpPr>
            <a:spLocks noChangeArrowheads="1"/>
          </p:cNvSpPr>
          <p:nvPr/>
        </p:nvSpPr>
        <p:spPr bwMode="auto">
          <a:xfrm>
            <a:off x="2514600" y="1556792"/>
            <a:ext cx="4114799" cy="36004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Tree>
    <p:extLst>
      <p:ext uri="{BB962C8B-B14F-4D97-AF65-F5344CB8AC3E}">
        <p14:creationId xmlns:p14="http://schemas.microsoft.com/office/powerpoint/2010/main" val="151245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586D-BDBE-25EC-A747-06651D1ECFF1}"/>
            </a:ext>
          </a:extLst>
        </p:cNvPr>
        <p:cNvGrpSpPr/>
        <p:nvPr/>
      </p:nvGrpSpPr>
      <p:grpSpPr>
        <a:xfrm>
          <a:off x="0" y="0"/>
          <a:ext cx="0" cy="0"/>
          <a:chOff x="0" y="0"/>
          <a:chExt cx="0" cy="0"/>
        </a:xfrm>
      </p:grpSpPr>
      <p:pic>
        <p:nvPicPr>
          <p:cNvPr id="2" name="Picture 1" descr="02145.jpg">
            <a:extLst>
              <a:ext uri="{FF2B5EF4-FFF2-40B4-BE49-F238E27FC236}">
                <a16:creationId xmlns:a16="http://schemas.microsoft.com/office/drawing/2014/main" id="{3EA7F419-F1D5-376A-836E-1CDDD9A3663F}"/>
              </a:ext>
            </a:extLst>
          </p:cNvPr>
          <p:cNvPicPr>
            <a:picLocks noGrp="1" noChangeAspect="1"/>
          </p:cNvPicPr>
          <p:nvPr isPhoto="1"/>
        </p:nvPicPr>
        <p:blipFill>
          <a:blip r:embed="rId2">
            <a:lum/>
          </a:blip>
          <a:srcRect b="20601"/>
          <a:stretch>
            <a:fillRect/>
          </a:stretch>
        </p:blipFill>
        <p:spPr>
          <a:xfrm>
            <a:off x="531813" y="504056"/>
            <a:ext cx="8080375" cy="5445224"/>
          </a:xfrm>
          <a:prstGeom prst="rect">
            <a:avLst/>
          </a:prstGeom>
          <a:noFill/>
          <a:ln>
            <a:noFill/>
          </a:ln>
        </p:spPr>
      </p:pic>
      <p:pic>
        <p:nvPicPr>
          <p:cNvPr id="4" name="Immagine 3" descr="Immagine che contiene articolazione, schermata, corpo, arte&#10;&#10;Il contenuto generato dall'IA potrebbe non essere corretto.">
            <a:extLst>
              <a:ext uri="{FF2B5EF4-FFF2-40B4-BE49-F238E27FC236}">
                <a16:creationId xmlns:a16="http://schemas.microsoft.com/office/drawing/2014/main" id="{A61C3957-5157-EB6B-2667-BC59927F083D}"/>
              </a:ext>
            </a:extLst>
          </p:cNvPr>
          <p:cNvPicPr>
            <a:picLocks noChangeAspect="1"/>
          </p:cNvPicPr>
          <p:nvPr/>
        </p:nvPicPr>
        <p:blipFill>
          <a:blip r:embed="rId3"/>
          <a:srcRect l="19688" t="10529" r="25188" b="7344"/>
          <a:stretch>
            <a:fillRect/>
          </a:stretch>
        </p:blipFill>
        <p:spPr>
          <a:xfrm>
            <a:off x="1979712" y="2204864"/>
            <a:ext cx="3168352" cy="4413062"/>
          </a:xfrm>
          <a:prstGeom prst="rect">
            <a:avLst/>
          </a:prstGeom>
        </p:spPr>
      </p:pic>
      <p:sp>
        <p:nvSpPr>
          <p:cNvPr id="5" name="Titolo 1">
            <a:extLst>
              <a:ext uri="{FF2B5EF4-FFF2-40B4-BE49-F238E27FC236}">
                <a16:creationId xmlns:a16="http://schemas.microsoft.com/office/drawing/2014/main" id="{83DE674A-BB39-2997-80B4-7A158B802772}"/>
              </a:ext>
            </a:extLst>
          </p:cNvPr>
          <p:cNvSpPr txBox="1">
            <a:spLocks/>
          </p:cNvSpPr>
          <p:nvPr/>
        </p:nvSpPr>
        <p:spPr>
          <a:xfrm>
            <a:off x="628650" y="1131094"/>
            <a:ext cx="2359174" cy="615659"/>
          </a:xfrm>
          <a:prstGeom prst="rect">
            <a:avLst/>
          </a:prstGeom>
        </p:spPr>
        <p:txBody>
          <a:bodyP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dirty="0"/>
              <a:t>TRAPEZIO</a:t>
            </a:r>
          </a:p>
        </p:txBody>
      </p:sp>
    </p:spTree>
    <p:extLst>
      <p:ext uri="{BB962C8B-B14F-4D97-AF65-F5344CB8AC3E}">
        <p14:creationId xmlns:p14="http://schemas.microsoft.com/office/powerpoint/2010/main" val="16734414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6F3DBE-4DA1-81E4-7B9F-A6CAA360FB4B}"/>
              </a:ext>
            </a:extLst>
          </p:cNvPr>
          <p:cNvSpPr>
            <a:spLocks noGrp="1"/>
          </p:cNvSpPr>
          <p:nvPr>
            <p:ph type="title"/>
          </p:nvPr>
        </p:nvSpPr>
        <p:spPr/>
        <p:txBody>
          <a:bodyPr>
            <a:normAutofit fontScale="90000"/>
          </a:bodyPr>
          <a:lstStyle/>
          <a:p>
            <a:r>
              <a:rPr lang="it-IT" dirty="0"/>
              <a:t>M. SPLENIO della TESTA e del COLLO</a:t>
            </a:r>
          </a:p>
        </p:txBody>
      </p:sp>
      <p:pic>
        <p:nvPicPr>
          <p:cNvPr id="5" name="Segnaposto contenuto 4" descr="Immagine che contiene schizzo, scheletro&#10;&#10;Il contenuto generato dall'IA potrebbe non essere corretto.">
            <a:extLst>
              <a:ext uri="{FF2B5EF4-FFF2-40B4-BE49-F238E27FC236}">
                <a16:creationId xmlns:a16="http://schemas.microsoft.com/office/drawing/2014/main" id="{672AAB37-6012-5216-8D8D-EC9254152F56}"/>
              </a:ext>
            </a:extLst>
          </p:cNvPr>
          <p:cNvPicPr>
            <a:picLocks noGrp="1" noChangeAspect="1"/>
          </p:cNvPicPr>
          <p:nvPr>
            <p:ph idx="1"/>
          </p:nvPr>
        </p:nvPicPr>
        <p:blipFill>
          <a:blip r:embed="rId2"/>
          <a:stretch>
            <a:fillRect/>
          </a:stretch>
        </p:blipFill>
        <p:spPr>
          <a:xfrm>
            <a:off x="1799692" y="1294323"/>
            <a:ext cx="5544616" cy="4269354"/>
          </a:xfrm>
          <a:prstGeom prst="rect">
            <a:avLst/>
          </a:prstGeom>
        </p:spPr>
      </p:pic>
    </p:spTree>
    <p:extLst>
      <p:ext uri="{BB962C8B-B14F-4D97-AF65-F5344CB8AC3E}">
        <p14:creationId xmlns:p14="http://schemas.microsoft.com/office/powerpoint/2010/main" val="11576832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9105C27-3976-7F29-BA04-F0B8A39F4C9A}"/>
              </a:ext>
            </a:extLst>
          </p:cNvPr>
          <p:cNvSpPr>
            <a:spLocks noGrp="1"/>
          </p:cNvSpPr>
          <p:nvPr>
            <p:ph type="title"/>
          </p:nvPr>
        </p:nvSpPr>
        <p:spPr>
          <a:xfrm>
            <a:off x="628650" y="1131094"/>
            <a:ext cx="7886700" cy="500228"/>
          </a:xfrm>
        </p:spPr>
        <p:txBody>
          <a:bodyPr>
            <a:normAutofit fontScale="90000"/>
          </a:bodyPr>
          <a:lstStyle/>
          <a:p>
            <a:pPr algn="ctr"/>
            <a:r>
              <a:rPr lang="it-IT" dirty="0"/>
              <a:t>M. SPINODORSALI C.V. (PROFONDI)</a:t>
            </a:r>
          </a:p>
        </p:txBody>
      </p:sp>
      <p:sp>
        <p:nvSpPr>
          <p:cNvPr id="6" name="Segnaposto contenuto 6">
            <a:extLst>
              <a:ext uri="{FF2B5EF4-FFF2-40B4-BE49-F238E27FC236}">
                <a16:creationId xmlns:a16="http://schemas.microsoft.com/office/drawing/2014/main" id="{2F793F86-F489-1652-87D8-907D2DE5812A}"/>
              </a:ext>
            </a:extLst>
          </p:cNvPr>
          <p:cNvSpPr txBox="1">
            <a:spLocks/>
          </p:cNvSpPr>
          <p:nvPr/>
        </p:nvSpPr>
        <p:spPr>
          <a:xfrm>
            <a:off x="6588224" y="2131549"/>
            <a:ext cx="2047630" cy="2881628"/>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350" dirty="0"/>
              <a:t>SACROSPINALE</a:t>
            </a:r>
          </a:p>
          <a:p>
            <a:pPr lvl="1"/>
            <a:r>
              <a:rPr lang="it-IT" sz="1050" dirty="0"/>
              <a:t>SPINALE</a:t>
            </a:r>
          </a:p>
          <a:p>
            <a:pPr lvl="1"/>
            <a:r>
              <a:rPr lang="it-IT" sz="1050" dirty="0"/>
              <a:t>LUNGHISSIMO</a:t>
            </a:r>
          </a:p>
          <a:p>
            <a:pPr lvl="1"/>
            <a:r>
              <a:rPr lang="it-IT" sz="1050" dirty="0"/>
              <a:t>ILEOCOSTALE</a:t>
            </a:r>
          </a:p>
          <a:p>
            <a:r>
              <a:rPr lang="it-IT" sz="1350" dirty="0"/>
              <a:t>LOMBI, TORACE, COLLO, TESTA</a:t>
            </a:r>
          </a:p>
          <a:p>
            <a:endParaRPr lang="it-IT" sz="1350" dirty="0"/>
          </a:p>
          <a:p>
            <a:r>
              <a:rPr lang="it-IT" sz="1350" dirty="0"/>
              <a:t>ESTENSIONE</a:t>
            </a:r>
          </a:p>
          <a:p>
            <a:r>
              <a:rPr lang="it-IT" sz="1350" dirty="0"/>
              <a:t>INCLINAZIONE (OL)</a:t>
            </a:r>
          </a:p>
          <a:p>
            <a:r>
              <a:rPr lang="it-IT" sz="1350" dirty="0"/>
              <a:t>ROTAZIONE</a:t>
            </a:r>
          </a:p>
          <a:p>
            <a:pPr lvl="1"/>
            <a:r>
              <a:rPr lang="it-IT" sz="1050" dirty="0"/>
              <a:t>OMOLATERALE (LT)</a:t>
            </a:r>
          </a:p>
        </p:txBody>
      </p:sp>
      <p:pic>
        <p:nvPicPr>
          <p:cNvPr id="5" name="Segnaposto contenuto 4" descr="Immagine che contiene scheletro, testo, arte&#10;&#10;Il contenuto generato dall'IA potrebbe non essere corretto.">
            <a:extLst>
              <a:ext uri="{FF2B5EF4-FFF2-40B4-BE49-F238E27FC236}">
                <a16:creationId xmlns:a16="http://schemas.microsoft.com/office/drawing/2014/main" id="{FE3963CB-98CD-318A-3CB2-9C3AE73599B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r="13860"/>
          <a:stretch>
            <a:fillRect/>
          </a:stretch>
        </p:blipFill>
        <p:spPr>
          <a:xfrm>
            <a:off x="3027889" y="1631322"/>
            <a:ext cx="3558649" cy="4254251"/>
          </a:xfrm>
        </p:spPr>
      </p:pic>
      <p:pic>
        <p:nvPicPr>
          <p:cNvPr id="7" name="Segnaposto contenuto 4" descr="Immagine che contiene scheletro, testo, arte&#10;&#10;Il contenuto generato dall'IA potrebbe non essere corretto.">
            <a:extLst>
              <a:ext uri="{FF2B5EF4-FFF2-40B4-BE49-F238E27FC236}">
                <a16:creationId xmlns:a16="http://schemas.microsoft.com/office/drawing/2014/main" id="{CBE80A49-D149-430F-BA51-5666AB70AE4A}"/>
              </a:ext>
            </a:extLst>
          </p:cNvPr>
          <p:cNvPicPr>
            <a:picLocks noChangeAspect="1"/>
          </p:cNvPicPr>
          <p:nvPr/>
        </p:nvPicPr>
        <p:blipFill>
          <a:blip r:embed="rId3">
            <a:extLst>
              <a:ext uri="{28A0092B-C50C-407E-A947-70E740481C1C}">
                <a14:useLocalDpi xmlns:a14="http://schemas.microsoft.com/office/drawing/2010/main" val="0"/>
              </a:ext>
            </a:extLst>
          </a:blip>
          <a:srcRect l="18874" t="2291" r="15243" b="71767"/>
          <a:stretch>
            <a:fillRect/>
          </a:stretch>
        </p:blipFill>
        <p:spPr>
          <a:xfrm>
            <a:off x="424135" y="2407444"/>
            <a:ext cx="3647102" cy="1478833"/>
          </a:xfrm>
          <a:prstGeom prst="rect">
            <a:avLst/>
          </a:prstGeom>
        </p:spPr>
      </p:pic>
      <p:sp>
        <p:nvSpPr>
          <p:cNvPr id="4" name="Rettangolo 1">
            <a:extLst>
              <a:ext uri="{FF2B5EF4-FFF2-40B4-BE49-F238E27FC236}">
                <a16:creationId xmlns:a16="http://schemas.microsoft.com/office/drawing/2014/main" id="{50C412B1-3768-A976-A50C-3C406DCD8C92}"/>
              </a:ext>
            </a:extLst>
          </p:cNvPr>
          <p:cNvSpPr>
            <a:spLocks noChangeArrowheads="1"/>
          </p:cNvSpPr>
          <p:nvPr/>
        </p:nvSpPr>
        <p:spPr bwMode="auto">
          <a:xfrm>
            <a:off x="424135" y="2407444"/>
            <a:ext cx="3647102" cy="147510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
        <p:nvSpPr>
          <p:cNvPr id="8" name="Rettangolo 1">
            <a:extLst>
              <a:ext uri="{FF2B5EF4-FFF2-40B4-BE49-F238E27FC236}">
                <a16:creationId xmlns:a16="http://schemas.microsoft.com/office/drawing/2014/main" id="{9F135B1B-837B-AD48-EA6F-518E1E8296EC}"/>
              </a:ext>
            </a:extLst>
          </p:cNvPr>
          <p:cNvSpPr>
            <a:spLocks noChangeArrowheads="1"/>
          </p:cNvSpPr>
          <p:nvPr/>
        </p:nvSpPr>
        <p:spPr bwMode="auto">
          <a:xfrm>
            <a:off x="827584" y="2509465"/>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9" name="Rettangolo 1">
            <a:extLst>
              <a:ext uri="{FF2B5EF4-FFF2-40B4-BE49-F238E27FC236}">
                <a16:creationId xmlns:a16="http://schemas.microsoft.com/office/drawing/2014/main" id="{F7EB6A91-0087-3808-EE2B-FF77CC177F6F}"/>
              </a:ext>
            </a:extLst>
          </p:cNvPr>
          <p:cNvSpPr>
            <a:spLocks noChangeArrowheads="1"/>
          </p:cNvSpPr>
          <p:nvPr/>
        </p:nvSpPr>
        <p:spPr bwMode="auto">
          <a:xfrm>
            <a:off x="3563888" y="1974870"/>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10" name="Rettangolo 1">
            <a:extLst>
              <a:ext uri="{FF2B5EF4-FFF2-40B4-BE49-F238E27FC236}">
                <a16:creationId xmlns:a16="http://schemas.microsoft.com/office/drawing/2014/main" id="{A7125A3F-72CC-9887-DC1D-A14E400F13B3}"/>
              </a:ext>
            </a:extLst>
          </p:cNvPr>
          <p:cNvSpPr>
            <a:spLocks noChangeArrowheads="1"/>
          </p:cNvSpPr>
          <p:nvPr/>
        </p:nvSpPr>
        <p:spPr bwMode="auto">
          <a:xfrm>
            <a:off x="523537" y="3619947"/>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11" name="Rettangolo 1">
            <a:extLst>
              <a:ext uri="{FF2B5EF4-FFF2-40B4-BE49-F238E27FC236}">
                <a16:creationId xmlns:a16="http://schemas.microsoft.com/office/drawing/2014/main" id="{BC2CAFC5-D7C8-EA21-B230-626B596FBCA7}"/>
              </a:ext>
            </a:extLst>
          </p:cNvPr>
          <p:cNvSpPr>
            <a:spLocks noChangeArrowheads="1"/>
          </p:cNvSpPr>
          <p:nvPr/>
        </p:nvSpPr>
        <p:spPr bwMode="auto">
          <a:xfrm>
            <a:off x="4382690" y="2369261"/>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12" name="Rettangolo 1">
            <a:extLst>
              <a:ext uri="{FF2B5EF4-FFF2-40B4-BE49-F238E27FC236}">
                <a16:creationId xmlns:a16="http://schemas.microsoft.com/office/drawing/2014/main" id="{6F030882-5FAD-795E-9BBC-9BA1E6B789A5}"/>
              </a:ext>
            </a:extLst>
          </p:cNvPr>
          <p:cNvSpPr>
            <a:spLocks noChangeArrowheads="1"/>
          </p:cNvSpPr>
          <p:nvPr/>
        </p:nvSpPr>
        <p:spPr bwMode="auto">
          <a:xfrm>
            <a:off x="6590618" y="3835113"/>
            <a:ext cx="2029846" cy="117806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Tree>
    <p:extLst>
      <p:ext uri="{BB962C8B-B14F-4D97-AF65-F5344CB8AC3E}">
        <p14:creationId xmlns:p14="http://schemas.microsoft.com/office/powerpoint/2010/main" val="2984695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C5B1D0F-9857-D2C1-CB0D-8205E9E2BA91}"/>
              </a:ext>
            </a:extLst>
          </p:cNvPr>
          <p:cNvSpPr>
            <a:spLocks noGrp="1"/>
          </p:cNvSpPr>
          <p:nvPr>
            <p:ph type="title"/>
          </p:nvPr>
        </p:nvSpPr>
        <p:spPr>
          <a:xfrm>
            <a:off x="628650" y="404664"/>
            <a:ext cx="7886700" cy="432326"/>
          </a:xfrm>
        </p:spPr>
        <p:txBody>
          <a:bodyPr>
            <a:normAutofit fontScale="90000"/>
          </a:bodyPr>
          <a:lstStyle/>
          <a:p>
            <a:pPr algn="ctr"/>
            <a:r>
              <a:rPr lang="it-IT" sz="2700" dirty="0"/>
              <a:t>SEMISPINALE, SPINALE, MULTIFIDO, ROTATORI</a:t>
            </a:r>
          </a:p>
        </p:txBody>
      </p:sp>
      <p:pic>
        <p:nvPicPr>
          <p:cNvPr id="5" name="Segnaposto contenuto 4" descr="Immagine che contiene testo, strumento&#10;&#10;Il contenuto generato dall'IA potrebbe non essere corretto.">
            <a:extLst>
              <a:ext uri="{FF2B5EF4-FFF2-40B4-BE49-F238E27FC236}">
                <a16:creationId xmlns:a16="http://schemas.microsoft.com/office/drawing/2014/main" id="{C46BCD25-E57C-1826-6C43-9FB1B91F1CF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911" b="25470"/>
          <a:stretch>
            <a:fillRect/>
          </a:stretch>
        </p:blipFill>
        <p:spPr>
          <a:xfrm>
            <a:off x="323527" y="1225333"/>
            <a:ext cx="3573775" cy="4507923"/>
          </a:xfrm>
        </p:spPr>
      </p:pic>
      <p:pic>
        <p:nvPicPr>
          <p:cNvPr id="6" name="Segnaposto contenuto 4">
            <a:extLst>
              <a:ext uri="{FF2B5EF4-FFF2-40B4-BE49-F238E27FC236}">
                <a16:creationId xmlns:a16="http://schemas.microsoft.com/office/drawing/2014/main" id="{B1828E1C-F0AD-CC0A-D041-2D46A65E1850}"/>
              </a:ext>
            </a:extLst>
          </p:cNvPr>
          <p:cNvPicPr>
            <a:picLocks noChangeAspect="1"/>
          </p:cNvPicPr>
          <p:nvPr/>
        </p:nvPicPr>
        <p:blipFill>
          <a:blip r:embed="rId3" cstate="print">
            <a:extLst>
              <a:ext uri="{28A0092B-C50C-407E-A947-70E740481C1C}">
                <a14:useLocalDpi xmlns:a14="http://schemas.microsoft.com/office/drawing/2010/main" val="0"/>
              </a:ext>
            </a:extLst>
          </a:blip>
          <a:srcRect l="2091" t="1371" r="7441" b="19583"/>
          <a:stretch>
            <a:fillRect/>
          </a:stretch>
        </p:blipFill>
        <p:spPr>
          <a:xfrm>
            <a:off x="3731576" y="1225333"/>
            <a:ext cx="5187562" cy="4507923"/>
          </a:xfrm>
          <a:prstGeom prst="rect">
            <a:avLst/>
          </a:prstGeom>
        </p:spPr>
      </p:pic>
      <p:sp>
        <p:nvSpPr>
          <p:cNvPr id="7" name="Segnaposto contenuto 6">
            <a:extLst>
              <a:ext uri="{FF2B5EF4-FFF2-40B4-BE49-F238E27FC236}">
                <a16:creationId xmlns:a16="http://schemas.microsoft.com/office/drawing/2014/main" id="{23D7F040-732A-4EB1-E35A-6B6C4CE9775A}"/>
              </a:ext>
            </a:extLst>
          </p:cNvPr>
          <p:cNvSpPr txBox="1">
            <a:spLocks/>
          </p:cNvSpPr>
          <p:nvPr/>
        </p:nvSpPr>
        <p:spPr>
          <a:xfrm>
            <a:off x="2699792" y="3356992"/>
            <a:ext cx="1939394" cy="134581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1350" b="1" dirty="0">
                <a:solidFill>
                  <a:srgbClr val="FF0000"/>
                </a:solidFill>
              </a:rPr>
              <a:t>ESTENSIONE</a:t>
            </a:r>
          </a:p>
          <a:p>
            <a:r>
              <a:rPr lang="it-IT" sz="1350" b="1" dirty="0">
                <a:solidFill>
                  <a:srgbClr val="FF0000"/>
                </a:solidFill>
              </a:rPr>
              <a:t>INCLINAZIONE</a:t>
            </a:r>
          </a:p>
          <a:p>
            <a:r>
              <a:rPr lang="it-IT" sz="1350" b="1" dirty="0">
                <a:solidFill>
                  <a:srgbClr val="FF0000"/>
                </a:solidFill>
              </a:rPr>
              <a:t>STABILIZZAZIONE</a:t>
            </a:r>
          </a:p>
          <a:p>
            <a:r>
              <a:rPr lang="it-IT" sz="1350" b="1" dirty="0">
                <a:solidFill>
                  <a:srgbClr val="FF0000"/>
                </a:solidFill>
              </a:rPr>
              <a:t>ROTAZIONE</a:t>
            </a:r>
          </a:p>
          <a:p>
            <a:pPr lvl="1"/>
            <a:r>
              <a:rPr lang="it-IT" sz="1050" b="1" dirty="0">
                <a:solidFill>
                  <a:srgbClr val="FF0000"/>
                </a:solidFill>
              </a:rPr>
              <a:t>CONTROLATERALE</a:t>
            </a:r>
          </a:p>
        </p:txBody>
      </p:sp>
      <p:sp>
        <p:nvSpPr>
          <p:cNvPr id="4" name="Rettangolo 1">
            <a:extLst>
              <a:ext uri="{FF2B5EF4-FFF2-40B4-BE49-F238E27FC236}">
                <a16:creationId xmlns:a16="http://schemas.microsoft.com/office/drawing/2014/main" id="{BDAEB7A8-479E-B7EF-384C-A11697A65A8F}"/>
              </a:ext>
            </a:extLst>
          </p:cNvPr>
          <p:cNvSpPr>
            <a:spLocks noChangeArrowheads="1"/>
          </p:cNvSpPr>
          <p:nvPr/>
        </p:nvSpPr>
        <p:spPr bwMode="auto">
          <a:xfrm>
            <a:off x="334015" y="1219748"/>
            <a:ext cx="8585123" cy="163318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
        <p:nvSpPr>
          <p:cNvPr id="9" name="Rettangolo 1">
            <a:extLst>
              <a:ext uri="{FF2B5EF4-FFF2-40B4-BE49-F238E27FC236}">
                <a16:creationId xmlns:a16="http://schemas.microsoft.com/office/drawing/2014/main" id="{357EE2A6-4984-26B1-BB3D-BC0CB66FCBCC}"/>
              </a:ext>
            </a:extLst>
          </p:cNvPr>
          <p:cNvSpPr>
            <a:spLocks noChangeArrowheads="1"/>
          </p:cNvSpPr>
          <p:nvPr/>
        </p:nvSpPr>
        <p:spPr bwMode="auto">
          <a:xfrm>
            <a:off x="971600" y="2138650"/>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10" name="Rettangolo 1">
            <a:extLst>
              <a:ext uri="{FF2B5EF4-FFF2-40B4-BE49-F238E27FC236}">
                <a16:creationId xmlns:a16="http://schemas.microsoft.com/office/drawing/2014/main" id="{22D8DD08-B9CF-A954-65DC-0EC7AE46D7C6}"/>
              </a:ext>
            </a:extLst>
          </p:cNvPr>
          <p:cNvSpPr>
            <a:spLocks noChangeArrowheads="1"/>
          </p:cNvSpPr>
          <p:nvPr/>
        </p:nvSpPr>
        <p:spPr bwMode="auto">
          <a:xfrm>
            <a:off x="2837065" y="1861651"/>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11" name="Rettangolo 1">
            <a:extLst>
              <a:ext uri="{FF2B5EF4-FFF2-40B4-BE49-F238E27FC236}">
                <a16:creationId xmlns:a16="http://schemas.microsoft.com/office/drawing/2014/main" id="{DF330347-E80C-BEF3-013B-B147CA1E380D}"/>
              </a:ext>
            </a:extLst>
          </p:cNvPr>
          <p:cNvSpPr>
            <a:spLocks noChangeArrowheads="1"/>
          </p:cNvSpPr>
          <p:nvPr/>
        </p:nvSpPr>
        <p:spPr bwMode="auto">
          <a:xfrm>
            <a:off x="4193381" y="2966464"/>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3</a:t>
            </a:r>
          </a:p>
        </p:txBody>
      </p:sp>
      <p:sp>
        <p:nvSpPr>
          <p:cNvPr id="12" name="Rettangolo 1">
            <a:extLst>
              <a:ext uri="{FF2B5EF4-FFF2-40B4-BE49-F238E27FC236}">
                <a16:creationId xmlns:a16="http://schemas.microsoft.com/office/drawing/2014/main" id="{5B7B5563-AA23-9685-6DD7-5001E44BAFF4}"/>
              </a:ext>
            </a:extLst>
          </p:cNvPr>
          <p:cNvSpPr>
            <a:spLocks noChangeArrowheads="1"/>
          </p:cNvSpPr>
          <p:nvPr/>
        </p:nvSpPr>
        <p:spPr bwMode="auto">
          <a:xfrm>
            <a:off x="8431366" y="1412776"/>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4</a:t>
            </a:r>
          </a:p>
        </p:txBody>
      </p:sp>
    </p:spTree>
    <p:extLst>
      <p:ext uri="{BB962C8B-B14F-4D97-AF65-F5344CB8AC3E}">
        <p14:creationId xmlns:p14="http://schemas.microsoft.com/office/powerpoint/2010/main" val="2369799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6.jpg"/>
          <p:cNvPicPr>
            <a:picLocks noGrp="1" noChangeAspect="1"/>
          </p:cNvPicPr>
          <p:nvPr isPhoto="1"/>
        </p:nvPicPr>
        <p:blipFill>
          <a:blip r:embed="rId2">
            <a:lum/>
          </a:blip>
          <a:stretch>
            <a:fillRect/>
          </a:stretch>
        </p:blipFill>
        <p:spPr>
          <a:xfrm>
            <a:off x="0" y="223838"/>
            <a:ext cx="9144000" cy="6408737"/>
          </a:xfrm>
          <a:prstGeom prst="rect">
            <a:avLst/>
          </a:prstGeom>
          <a:noFill/>
          <a:ln>
            <a:noFill/>
          </a:ln>
        </p:spPr>
      </p:pic>
      <p:pic>
        <p:nvPicPr>
          <p:cNvPr id="3" name="Picture 1" descr="02155.jpg"/>
          <p:cNvPicPr>
            <a:picLocks noGrp="1" noChangeAspect="1"/>
          </p:cNvPicPr>
          <p:nvPr isPhoto="1"/>
        </p:nvPicPr>
        <p:blipFill>
          <a:blip r:embed="rId3">
            <a:lum/>
          </a:blip>
          <a:srcRect l="1176" t="7555" r="70475" b="63766"/>
          <a:stretch>
            <a:fillRect/>
          </a:stretch>
        </p:blipFill>
        <p:spPr>
          <a:xfrm>
            <a:off x="5580112" y="398663"/>
            <a:ext cx="3119387" cy="2166241"/>
          </a:xfrm>
          <a:prstGeom prst="rect">
            <a:avLst/>
          </a:prstGeom>
          <a:noFill/>
          <a:ln>
            <a:noFill/>
          </a:ln>
        </p:spPr>
      </p:pic>
      <p:sp>
        <p:nvSpPr>
          <p:cNvPr id="4" name="Rettangolo 1">
            <a:extLst>
              <a:ext uri="{FF2B5EF4-FFF2-40B4-BE49-F238E27FC236}">
                <a16:creationId xmlns:a16="http://schemas.microsoft.com/office/drawing/2014/main" id="{9BCADD45-2CB8-FDBD-5AAD-EA243831E454}"/>
              </a:ext>
            </a:extLst>
          </p:cNvPr>
          <p:cNvSpPr>
            <a:spLocks noChangeArrowheads="1"/>
          </p:cNvSpPr>
          <p:nvPr/>
        </p:nvSpPr>
        <p:spPr bwMode="auto">
          <a:xfrm>
            <a:off x="3923928" y="1772816"/>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1</a:t>
            </a:r>
          </a:p>
        </p:txBody>
      </p:sp>
      <p:sp>
        <p:nvSpPr>
          <p:cNvPr id="5" name="Rettangolo 1">
            <a:extLst>
              <a:ext uri="{FF2B5EF4-FFF2-40B4-BE49-F238E27FC236}">
                <a16:creationId xmlns:a16="http://schemas.microsoft.com/office/drawing/2014/main" id="{4497E634-5C4E-295E-5393-C137BC4DEF22}"/>
              </a:ext>
            </a:extLst>
          </p:cNvPr>
          <p:cNvSpPr>
            <a:spLocks noChangeArrowheads="1"/>
          </p:cNvSpPr>
          <p:nvPr/>
        </p:nvSpPr>
        <p:spPr bwMode="auto">
          <a:xfrm>
            <a:off x="2843808" y="223838"/>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2</a:t>
            </a:r>
          </a:p>
        </p:txBody>
      </p:sp>
      <p:sp>
        <p:nvSpPr>
          <p:cNvPr id="6" name="Rettangolo 1">
            <a:extLst>
              <a:ext uri="{FF2B5EF4-FFF2-40B4-BE49-F238E27FC236}">
                <a16:creationId xmlns:a16="http://schemas.microsoft.com/office/drawing/2014/main" id="{49F71B93-6B15-B41B-5F98-16B814054817}"/>
              </a:ext>
            </a:extLst>
          </p:cNvPr>
          <p:cNvSpPr>
            <a:spLocks noChangeArrowheads="1"/>
          </p:cNvSpPr>
          <p:nvPr/>
        </p:nvSpPr>
        <p:spPr bwMode="auto">
          <a:xfrm>
            <a:off x="4499992" y="908720"/>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3</a:t>
            </a:r>
          </a:p>
        </p:txBody>
      </p:sp>
      <p:sp>
        <p:nvSpPr>
          <p:cNvPr id="7" name="Rettangolo 1">
            <a:extLst>
              <a:ext uri="{FF2B5EF4-FFF2-40B4-BE49-F238E27FC236}">
                <a16:creationId xmlns:a16="http://schemas.microsoft.com/office/drawing/2014/main" id="{440AF04E-B11F-7325-0388-E9708C3A59A9}"/>
              </a:ext>
            </a:extLst>
          </p:cNvPr>
          <p:cNvSpPr>
            <a:spLocks noChangeArrowheads="1"/>
          </p:cNvSpPr>
          <p:nvPr/>
        </p:nvSpPr>
        <p:spPr bwMode="auto">
          <a:xfrm>
            <a:off x="3923927" y="2636912"/>
            <a:ext cx="3786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solidFill>
                  <a:srgbClr val="FF0000"/>
                </a:solidFill>
                <a:latin typeface="Tahoma" pitchFamily="34" charset="0"/>
              </a:rPr>
              <a:t>4</a:t>
            </a:r>
          </a:p>
        </p:txBody>
      </p:sp>
    </p:spTree>
    <p:extLst>
      <p:ext uri="{BB962C8B-B14F-4D97-AF65-F5344CB8AC3E}">
        <p14:creationId xmlns:p14="http://schemas.microsoft.com/office/powerpoint/2010/main" val="24191994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DBE1A04-2A67-8E2C-5A1E-13FE76AB465B}"/>
              </a:ext>
            </a:extLst>
          </p:cNvPr>
          <p:cNvSpPr>
            <a:spLocks noGrp="1"/>
          </p:cNvSpPr>
          <p:nvPr>
            <p:ph type="title"/>
          </p:nvPr>
        </p:nvSpPr>
        <p:spPr>
          <a:xfrm>
            <a:off x="628650" y="548680"/>
            <a:ext cx="7886700" cy="615659"/>
          </a:xfrm>
        </p:spPr>
        <p:txBody>
          <a:bodyPr>
            <a:normAutofit fontScale="90000"/>
          </a:bodyPr>
          <a:lstStyle/>
          <a:p>
            <a:pPr algn="ctr"/>
            <a:r>
              <a:rPr lang="it-IT" dirty="0"/>
              <a:t>M. SUBOCCIPITALI</a:t>
            </a:r>
          </a:p>
        </p:txBody>
      </p:sp>
      <p:pic>
        <p:nvPicPr>
          <p:cNvPr id="5" name="Segnaposto contenuto 4" descr="Immagine che contiene testo, schermata&#10;&#10;Il contenuto generato dall'IA potrebbe non essere corretto.">
            <a:extLst>
              <a:ext uri="{FF2B5EF4-FFF2-40B4-BE49-F238E27FC236}">
                <a16:creationId xmlns:a16="http://schemas.microsoft.com/office/drawing/2014/main" id="{F28923AD-2463-E2E9-FEA9-BDAFC0F8FEE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4065" b="4968"/>
          <a:stretch>
            <a:fillRect/>
          </a:stretch>
        </p:blipFill>
        <p:spPr>
          <a:xfrm>
            <a:off x="1691680" y="1268760"/>
            <a:ext cx="4887699" cy="5360198"/>
          </a:xfrm>
        </p:spPr>
      </p:pic>
      <p:sp>
        <p:nvSpPr>
          <p:cNvPr id="6" name="Segnaposto contenuto 6">
            <a:extLst>
              <a:ext uri="{FF2B5EF4-FFF2-40B4-BE49-F238E27FC236}">
                <a16:creationId xmlns:a16="http://schemas.microsoft.com/office/drawing/2014/main" id="{973B87B2-A208-C531-87A1-E99FC92D4ED1}"/>
              </a:ext>
            </a:extLst>
          </p:cNvPr>
          <p:cNvSpPr txBox="1">
            <a:spLocks/>
          </p:cNvSpPr>
          <p:nvPr/>
        </p:nvSpPr>
        <p:spPr>
          <a:xfrm>
            <a:off x="5508104" y="4581128"/>
            <a:ext cx="2232248" cy="1344328"/>
          </a:xfrm>
          <a:prstGeom prst="rect">
            <a:avLst/>
          </a:prstGeom>
          <a:solidFill>
            <a:schemeClr val="bg1"/>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sz="2400" dirty="0">
                <a:solidFill>
                  <a:srgbClr val="FF0000"/>
                </a:solidFill>
              </a:rPr>
              <a:t>ESTENSIONE</a:t>
            </a:r>
          </a:p>
          <a:p>
            <a:r>
              <a:rPr lang="it-IT" sz="2400" dirty="0">
                <a:solidFill>
                  <a:srgbClr val="FF0000"/>
                </a:solidFill>
              </a:rPr>
              <a:t>INCLINAZIONE</a:t>
            </a:r>
          </a:p>
          <a:p>
            <a:r>
              <a:rPr lang="it-IT" sz="2400" dirty="0">
                <a:solidFill>
                  <a:srgbClr val="FF0000"/>
                </a:solidFill>
              </a:rPr>
              <a:t>ROTAZIONE</a:t>
            </a:r>
          </a:p>
        </p:txBody>
      </p:sp>
    </p:spTree>
    <p:extLst>
      <p:ext uri="{BB962C8B-B14F-4D97-AF65-F5344CB8AC3E}">
        <p14:creationId xmlns:p14="http://schemas.microsoft.com/office/powerpoint/2010/main" val="4995509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258FB-A1A9-0396-E13A-12B70CA6727D}"/>
            </a:ext>
          </a:extLst>
        </p:cNvPr>
        <p:cNvGrpSpPr/>
        <p:nvPr/>
      </p:nvGrpSpPr>
      <p:grpSpPr>
        <a:xfrm>
          <a:off x="0" y="0"/>
          <a:ext cx="0" cy="0"/>
          <a:chOff x="0" y="0"/>
          <a:chExt cx="0" cy="0"/>
        </a:xfrm>
      </p:grpSpPr>
      <p:sp>
        <p:nvSpPr>
          <p:cNvPr id="4" name="Sottotitolo 3">
            <a:extLst>
              <a:ext uri="{FF2B5EF4-FFF2-40B4-BE49-F238E27FC236}">
                <a16:creationId xmlns:a16="http://schemas.microsoft.com/office/drawing/2014/main" id="{BF39185A-FCE3-08D3-4B80-D0C7504E2B0A}"/>
              </a:ext>
            </a:extLst>
          </p:cNvPr>
          <p:cNvSpPr>
            <a:spLocks noGrp="1"/>
          </p:cNvSpPr>
          <p:nvPr>
            <p:ph type="subTitle" idx="1"/>
          </p:nvPr>
        </p:nvSpPr>
        <p:spPr>
          <a:xfrm>
            <a:off x="1371600" y="2552700"/>
            <a:ext cx="6400800" cy="1752600"/>
          </a:xfrm>
        </p:spPr>
        <p:txBody>
          <a:bodyPr>
            <a:normAutofit/>
          </a:bodyPr>
          <a:lstStyle/>
          <a:p>
            <a:r>
              <a:rPr lang="it-IT" sz="4400" dirty="0"/>
              <a:t>CENNI sulla TOPOGRAFIA del COLLO</a:t>
            </a:r>
          </a:p>
        </p:txBody>
      </p:sp>
    </p:spTree>
    <p:extLst>
      <p:ext uri="{BB962C8B-B14F-4D97-AF65-F5344CB8AC3E}">
        <p14:creationId xmlns:p14="http://schemas.microsoft.com/office/powerpoint/2010/main" val="23476097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0.jpg"/>
          <p:cNvPicPr>
            <a:picLocks noGrp="1" noChangeAspect="1"/>
          </p:cNvPicPr>
          <p:nvPr isPhoto="1"/>
        </p:nvPicPr>
        <p:blipFill>
          <a:blip r:embed="rId2">
            <a:lum/>
          </a:blip>
          <a:srcRect b="13653"/>
          <a:stretch>
            <a:fillRect/>
          </a:stretch>
        </p:blipFill>
        <p:spPr>
          <a:xfrm>
            <a:off x="1112043" y="468158"/>
            <a:ext cx="6919913" cy="5921684"/>
          </a:xfrm>
          <a:prstGeom prst="rect">
            <a:avLst/>
          </a:prstGeom>
          <a:noFill/>
          <a:ln>
            <a:noFill/>
          </a:ln>
        </p:spPr>
      </p:pic>
      <p:sp>
        <p:nvSpPr>
          <p:cNvPr id="3" name="Rettangolo 1">
            <a:extLst>
              <a:ext uri="{FF2B5EF4-FFF2-40B4-BE49-F238E27FC236}">
                <a16:creationId xmlns:a16="http://schemas.microsoft.com/office/drawing/2014/main" id="{A2C0C099-F645-32DE-8F4B-501F472A95B2}"/>
              </a:ext>
            </a:extLst>
          </p:cNvPr>
          <p:cNvSpPr>
            <a:spLocks noChangeArrowheads="1"/>
          </p:cNvSpPr>
          <p:nvPr/>
        </p:nvSpPr>
        <p:spPr bwMode="auto">
          <a:xfrm>
            <a:off x="2937173" y="1074222"/>
            <a:ext cx="9867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TESTA</a:t>
            </a:r>
          </a:p>
        </p:txBody>
      </p:sp>
      <p:sp>
        <p:nvSpPr>
          <p:cNvPr id="4" name="Rettangolo 1">
            <a:extLst>
              <a:ext uri="{FF2B5EF4-FFF2-40B4-BE49-F238E27FC236}">
                <a16:creationId xmlns:a16="http://schemas.microsoft.com/office/drawing/2014/main" id="{9F38BE48-BB1B-FF0A-4E3F-282B7419D2DE}"/>
              </a:ext>
            </a:extLst>
          </p:cNvPr>
          <p:cNvSpPr>
            <a:spLocks noChangeArrowheads="1"/>
          </p:cNvSpPr>
          <p:nvPr/>
        </p:nvSpPr>
        <p:spPr bwMode="auto">
          <a:xfrm>
            <a:off x="4139952" y="5013176"/>
            <a:ext cx="10081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TORACE</a:t>
            </a:r>
          </a:p>
        </p:txBody>
      </p:sp>
      <p:sp>
        <p:nvSpPr>
          <p:cNvPr id="5" name="Rettangolo 1">
            <a:extLst>
              <a:ext uri="{FF2B5EF4-FFF2-40B4-BE49-F238E27FC236}">
                <a16:creationId xmlns:a16="http://schemas.microsoft.com/office/drawing/2014/main" id="{C1D94681-62F4-3ABB-E1AB-EEE3D4F62E52}"/>
              </a:ext>
            </a:extLst>
          </p:cNvPr>
          <p:cNvSpPr>
            <a:spLocks noChangeArrowheads="1"/>
          </p:cNvSpPr>
          <p:nvPr/>
        </p:nvSpPr>
        <p:spPr bwMode="auto">
          <a:xfrm>
            <a:off x="179512" y="2276872"/>
            <a:ext cx="158417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LINEA CEFALO-CERVICALE</a:t>
            </a:r>
          </a:p>
        </p:txBody>
      </p:sp>
      <p:sp>
        <p:nvSpPr>
          <p:cNvPr id="6" name="Rettangolo 1">
            <a:extLst>
              <a:ext uri="{FF2B5EF4-FFF2-40B4-BE49-F238E27FC236}">
                <a16:creationId xmlns:a16="http://schemas.microsoft.com/office/drawing/2014/main" id="{699595D2-CA3D-17FC-9547-7529FD2496BC}"/>
              </a:ext>
            </a:extLst>
          </p:cNvPr>
          <p:cNvSpPr>
            <a:spLocks noChangeArrowheads="1"/>
          </p:cNvSpPr>
          <p:nvPr/>
        </p:nvSpPr>
        <p:spPr bwMode="auto">
          <a:xfrm>
            <a:off x="107504" y="4597677"/>
            <a:ext cx="15841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LINEA CERVICO-TORACICA</a:t>
            </a:r>
          </a:p>
        </p:txBody>
      </p:sp>
      <p:sp>
        <p:nvSpPr>
          <p:cNvPr id="7" name="Rettangolo 1">
            <a:extLst>
              <a:ext uri="{FF2B5EF4-FFF2-40B4-BE49-F238E27FC236}">
                <a16:creationId xmlns:a16="http://schemas.microsoft.com/office/drawing/2014/main" id="{0154A3C5-8A5B-DB90-50F0-6E26C5099301}"/>
              </a:ext>
            </a:extLst>
          </p:cNvPr>
          <p:cNvSpPr>
            <a:spLocks noChangeArrowheads="1"/>
          </p:cNvSpPr>
          <p:nvPr/>
        </p:nvSpPr>
        <p:spPr bwMode="auto">
          <a:xfrm>
            <a:off x="3131840" y="3259723"/>
            <a:ext cx="11014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PLATISMA</a:t>
            </a:r>
          </a:p>
        </p:txBody>
      </p:sp>
      <p:sp>
        <p:nvSpPr>
          <p:cNvPr id="8" name="Rettangolo 1">
            <a:extLst>
              <a:ext uri="{FF2B5EF4-FFF2-40B4-BE49-F238E27FC236}">
                <a16:creationId xmlns:a16="http://schemas.microsoft.com/office/drawing/2014/main" id="{BBD4B84E-55C5-D44B-BCAB-D88EAF742072}"/>
              </a:ext>
            </a:extLst>
          </p:cNvPr>
          <p:cNvSpPr>
            <a:spLocks noChangeArrowheads="1"/>
          </p:cNvSpPr>
          <p:nvPr/>
        </p:nvSpPr>
        <p:spPr bwMode="auto">
          <a:xfrm>
            <a:off x="4716016" y="3598277"/>
            <a:ext cx="7200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TRAP</a:t>
            </a:r>
          </a:p>
        </p:txBody>
      </p:sp>
      <p:sp>
        <p:nvSpPr>
          <p:cNvPr id="9" name="Rettangolo 1">
            <a:extLst>
              <a:ext uri="{FF2B5EF4-FFF2-40B4-BE49-F238E27FC236}">
                <a16:creationId xmlns:a16="http://schemas.microsoft.com/office/drawing/2014/main" id="{5137EB25-EDB1-3815-68F2-0BF17AB9E816}"/>
              </a:ext>
            </a:extLst>
          </p:cNvPr>
          <p:cNvSpPr>
            <a:spLocks noChangeArrowheads="1"/>
          </p:cNvSpPr>
          <p:nvPr/>
        </p:nvSpPr>
        <p:spPr bwMode="auto">
          <a:xfrm>
            <a:off x="3911066" y="2418475"/>
            <a:ext cx="98675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SCOM</a:t>
            </a:r>
          </a:p>
        </p:txBody>
      </p:sp>
    </p:spTree>
    <p:extLst>
      <p:ext uri="{BB962C8B-B14F-4D97-AF65-F5344CB8AC3E}">
        <p14:creationId xmlns:p14="http://schemas.microsoft.com/office/powerpoint/2010/main" val="3664214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1.jpg"/>
          <p:cNvPicPr>
            <a:picLocks noGrp="1" noChangeAspect="1"/>
          </p:cNvPicPr>
          <p:nvPr isPhoto="1"/>
        </p:nvPicPr>
        <p:blipFill>
          <a:blip r:embed="rId3">
            <a:lum/>
          </a:blip>
          <a:srcRect b="13250"/>
          <a:stretch>
            <a:fillRect/>
          </a:stretch>
        </p:blipFill>
        <p:spPr>
          <a:xfrm>
            <a:off x="930549" y="130324"/>
            <a:ext cx="7282902" cy="6597352"/>
          </a:xfrm>
          <a:prstGeom prst="rect">
            <a:avLst/>
          </a:prstGeom>
          <a:noFill/>
          <a:ln>
            <a:noFill/>
          </a:ln>
        </p:spPr>
      </p:pic>
      <p:sp>
        <p:nvSpPr>
          <p:cNvPr id="3" name="Rettangolo 1">
            <a:extLst>
              <a:ext uri="{FF2B5EF4-FFF2-40B4-BE49-F238E27FC236}">
                <a16:creationId xmlns:a16="http://schemas.microsoft.com/office/drawing/2014/main" id="{70795972-735A-E423-AC78-77CA8CF5E5CA}"/>
              </a:ext>
            </a:extLst>
          </p:cNvPr>
          <p:cNvSpPr>
            <a:spLocks noChangeArrowheads="1"/>
          </p:cNvSpPr>
          <p:nvPr/>
        </p:nvSpPr>
        <p:spPr bwMode="auto">
          <a:xfrm>
            <a:off x="372199" y="703470"/>
            <a:ext cx="1768297" cy="738664"/>
          </a:xfrm>
          <a:prstGeom prst="rect">
            <a:avLst/>
          </a:prstGeom>
          <a:solidFill>
            <a:schemeClr val="bg1"/>
          </a:solidFill>
          <a:ln>
            <a:solidFill>
              <a:srgbClr val="FF0000"/>
            </a:solidFill>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it-IT" altLang="it-IT" sz="1400" dirty="0">
                <a:solidFill>
                  <a:srgbClr val="FF0000"/>
                </a:solidFill>
                <a:latin typeface="Tahoma" pitchFamily="34" charset="0"/>
              </a:rPr>
              <a:t>A) CUTE</a:t>
            </a:r>
          </a:p>
          <a:p>
            <a:pPr eaLnBrk="1" hangingPunct="1">
              <a:spcBef>
                <a:spcPct val="0"/>
              </a:spcBef>
              <a:buFontTx/>
              <a:buNone/>
            </a:pPr>
            <a:r>
              <a:rPr lang="it-IT" altLang="it-IT" sz="1400" dirty="0">
                <a:solidFill>
                  <a:srgbClr val="FF0000"/>
                </a:solidFill>
                <a:latin typeface="Tahoma" pitchFamily="34" charset="0"/>
              </a:rPr>
              <a:t>B) SOTTOCUTANEO</a:t>
            </a:r>
          </a:p>
          <a:p>
            <a:pPr eaLnBrk="1" hangingPunct="1">
              <a:spcBef>
                <a:spcPct val="0"/>
              </a:spcBef>
              <a:buFontTx/>
              <a:buNone/>
            </a:pPr>
            <a:r>
              <a:rPr lang="it-IT" altLang="it-IT" sz="1400" dirty="0">
                <a:solidFill>
                  <a:srgbClr val="FF0000"/>
                </a:solidFill>
                <a:latin typeface="Tahoma" pitchFamily="34" charset="0"/>
              </a:rPr>
              <a:t>1) PLATISMA</a:t>
            </a:r>
          </a:p>
        </p:txBody>
      </p:sp>
      <p:sp>
        <p:nvSpPr>
          <p:cNvPr id="4" name="Rettangolo 1">
            <a:extLst>
              <a:ext uri="{FF2B5EF4-FFF2-40B4-BE49-F238E27FC236}">
                <a16:creationId xmlns:a16="http://schemas.microsoft.com/office/drawing/2014/main" id="{C7815182-8737-670B-65B0-3F5022ABEFDB}"/>
              </a:ext>
            </a:extLst>
          </p:cNvPr>
          <p:cNvSpPr>
            <a:spLocks noChangeArrowheads="1"/>
          </p:cNvSpPr>
          <p:nvPr/>
        </p:nvSpPr>
        <p:spPr bwMode="auto">
          <a:xfrm>
            <a:off x="2123852" y="210126"/>
            <a:ext cx="5039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chemeClr val="accent6"/>
                </a:solidFill>
                <a:latin typeface="Tahoma" pitchFamily="34" charset="0"/>
              </a:rPr>
              <a:t>C)</a:t>
            </a:r>
          </a:p>
        </p:txBody>
      </p:sp>
      <p:sp>
        <p:nvSpPr>
          <p:cNvPr id="5" name="Rettangolo 1">
            <a:extLst>
              <a:ext uri="{FF2B5EF4-FFF2-40B4-BE49-F238E27FC236}">
                <a16:creationId xmlns:a16="http://schemas.microsoft.com/office/drawing/2014/main" id="{B0DDF48E-4316-E5C2-4757-286EA3F808AE}"/>
              </a:ext>
            </a:extLst>
          </p:cNvPr>
          <p:cNvSpPr>
            <a:spLocks noChangeArrowheads="1"/>
          </p:cNvSpPr>
          <p:nvPr/>
        </p:nvSpPr>
        <p:spPr bwMode="auto">
          <a:xfrm>
            <a:off x="6084168" y="4797152"/>
            <a:ext cx="57683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0070C0"/>
                </a:solidFill>
                <a:latin typeface="Tahoma" pitchFamily="34" charset="0"/>
              </a:rPr>
              <a:t>E)</a:t>
            </a:r>
          </a:p>
        </p:txBody>
      </p:sp>
      <p:sp>
        <p:nvSpPr>
          <p:cNvPr id="6" name="Rettangolo 1">
            <a:extLst>
              <a:ext uri="{FF2B5EF4-FFF2-40B4-BE49-F238E27FC236}">
                <a16:creationId xmlns:a16="http://schemas.microsoft.com/office/drawing/2014/main" id="{BB9B1297-EA2A-1A02-3010-E9A956758697}"/>
              </a:ext>
            </a:extLst>
          </p:cNvPr>
          <p:cNvSpPr>
            <a:spLocks noChangeArrowheads="1"/>
          </p:cNvSpPr>
          <p:nvPr/>
        </p:nvSpPr>
        <p:spPr bwMode="auto">
          <a:xfrm>
            <a:off x="4139952" y="210126"/>
            <a:ext cx="43358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00B050"/>
                </a:solidFill>
                <a:latin typeface="Tahoma" pitchFamily="34" charset="0"/>
              </a:rPr>
              <a:t>D)</a:t>
            </a:r>
          </a:p>
        </p:txBody>
      </p:sp>
      <p:sp>
        <p:nvSpPr>
          <p:cNvPr id="8" name="Rettangolo 1">
            <a:extLst>
              <a:ext uri="{FF2B5EF4-FFF2-40B4-BE49-F238E27FC236}">
                <a16:creationId xmlns:a16="http://schemas.microsoft.com/office/drawing/2014/main" id="{B6E31520-41D0-5DCF-2B77-9BEBB932299E}"/>
              </a:ext>
            </a:extLst>
          </p:cNvPr>
          <p:cNvSpPr>
            <a:spLocks noChangeArrowheads="1"/>
          </p:cNvSpPr>
          <p:nvPr/>
        </p:nvSpPr>
        <p:spPr bwMode="auto">
          <a:xfrm>
            <a:off x="3923928" y="2924944"/>
            <a:ext cx="720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2400" b="1" dirty="0">
                <a:latin typeface="Tahoma" pitchFamily="34" charset="0"/>
              </a:rPr>
              <a:t>C5</a:t>
            </a:r>
          </a:p>
        </p:txBody>
      </p:sp>
      <p:sp>
        <p:nvSpPr>
          <p:cNvPr id="9" name="Rettangolo 1">
            <a:extLst>
              <a:ext uri="{FF2B5EF4-FFF2-40B4-BE49-F238E27FC236}">
                <a16:creationId xmlns:a16="http://schemas.microsoft.com/office/drawing/2014/main" id="{DF21463A-5A88-4CDA-A904-419456DD873E}"/>
              </a:ext>
            </a:extLst>
          </p:cNvPr>
          <p:cNvSpPr>
            <a:spLocks noChangeArrowheads="1"/>
          </p:cNvSpPr>
          <p:nvPr/>
        </p:nvSpPr>
        <p:spPr bwMode="auto">
          <a:xfrm>
            <a:off x="6804248" y="116632"/>
            <a:ext cx="2298440" cy="523220"/>
          </a:xfrm>
          <a:prstGeom prst="rect">
            <a:avLst/>
          </a:prstGeom>
          <a:solidFill>
            <a:schemeClr val="bg1"/>
          </a:solidFill>
          <a:ln>
            <a:solidFill>
              <a:srgbClr val="00B050"/>
            </a:solidFill>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400" dirty="0">
                <a:solidFill>
                  <a:srgbClr val="00B050"/>
                </a:solidFill>
                <a:latin typeface="Tahoma" pitchFamily="34" charset="0"/>
              </a:rPr>
              <a:t>D.1) M. SOTTOIOIDEI:</a:t>
            </a:r>
          </a:p>
          <a:p>
            <a:pPr algn="ctr">
              <a:spcBef>
                <a:spcPct val="0"/>
              </a:spcBef>
              <a:buNone/>
            </a:pPr>
            <a:r>
              <a:rPr lang="it-IT" altLang="it-IT" sz="1400" dirty="0">
                <a:solidFill>
                  <a:srgbClr val="00B050"/>
                </a:solidFill>
                <a:latin typeface="Tahoma" pitchFamily="34" charset="0"/>
              </a:rPr>
              <a:t>(</a:t>
            </a:r>
            <a:r>
              <a:rPr lang="it-IT" altLang="it-IT" sz="1400" b="1" dirty="0">
                <a:solidFill>
                  <a:srgbClr val="00B050"/>
                </a:solidFill>
                <a:latin typeface="Tahoma" pitchFamily="34" charset="0"/>
              </a:rPr>
              <a:t>S</a:t>
            </a:r>
            <a:r>
              <a:rPr lang="it-IT" altLang="it-IT" sz="1400" dirty="0">
                <a:solidFill>
                  <a:srgbClr val="00B050"/>
                </a:solidFill>
                <a:latin typeface="Tahoma" pitchFamily="34" charset="0"/>
              </a:rPr>
              <a:t>terno-</a:t>
            </a:r>
            <a:r>
              <a:rPr lang="it-IT" altLang="it-IT" sz="1400" b="1" dirty="0">
                <a:solidFill>
                  <a:srgbClr val="00B050"/>
                </a:solidFill>
                <a:latin typeface="Tahoma" pitchFamily="34" charset="0"/>
              </a:rPr>
              <a:t>O</a:t>
            </a:r>
            <a:r>
              <a:rPr lang="it-IT" altLang="it-IT" sz="1400" dirty="0">
                <a:solidFill>
                  <a:srgbClr val="00B050"/>
                </a:solidFill>
                <a:latin typeface="Tahoma" pitchFamily="34" charset="0"/>
              </a:rPr>
              <a:t>mo-</a:t>
            </a:r>
            <a:r>
              <a:rPr lang="it-IT" altLang="it-IT" sz="1400" b="1" dirty="0">
                <a:solidFill>
                  <a:srgbClr val="00B050"/>
                </a:solidFill>
                <a:latin typeface="Tahoma" pitchFamily="34" charset="0"/>
              </a:rPr>
              <a:t>T</a:t>
            </a:r>
            <a:r>
              <a:rPr lang="it-IT" altLang="it-IT" sz="1400" dirty="0">
                <a:solidFill>
                  <a:srgbClr val="00B050"/>
                </a:solidFill>
                <a:latin typeface="Tahoma" pitchFamily="34" charset="0"/>
              </a:rPr>
              <a:t>iro) Ioideo</a:t>
            </a:r>
          </a:p>
        </p:txBody>
      </p:sp>
      <p:sp>
        <p:nvSpPr>
          <p:cNvPr id="10" name="Rettangolo 1">
            <a:extLst>
              <a:ext uri="{FF2B5EF4-FFF2-40B4-BE49-F238E27FC236}">
                <a16:creationId xmlns:a16="http://schemas.microsoft.com/office/drawing/2014/main" id="{DE1E6774-DA10-C3F7-338E-BD34518BF354}"/>
              </a:ext>
            </a:extLst>
          </p:cNvPr>
          <p:cNvSpPr>
            <a:spLocks noChangeArrowheads="1"/>
          </p:cNvSpPr>
          <p:nvPr/>
        </p:nvSpPr>
        <p:spPr bwMode="auto">
          <a:xfrm>
            <a:off x="1477856" y="1509307"/>
            <a:ext cx="360809"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C</a:t>
            </a:r>
          </a:p>
        </p:txBody>
      </p:sp>
      <p:sp>
        <p:nvSpPr>
          <p:cNvPr id="11" name="Rettangolo 1">
            <a:extLst>
              <a:ext uri="{FF2B5EF4-FFF2-40B4-BE49-F238E27FC236}">
                <a16:creationId xmlns:a16="http://schemas.microsoft.com/office/drawing/2014/main" id="{0F87D70F-7949-C802-234A-A9C3F7A33612}"/>
              </a:ext>
            </a:extLst>
          </p:cNvPr>
          <p:cNvSpPr>
            <a:spLocks noChangeArrowheads="1"/>
          </p:cNvSpPr>
          <p:nvPr/>
        </p:nvSpPr>
        <p:spPr bwMode="auto">
          <a:xfrm>
            <a:off x="2123251" y="987646"/>
            <a:ext cx="360809"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A</a:t>
            </a:r>
          </a:p>
        </p:txBody>
      </p:sp>
      <p:sp>
        <p:nvSpPr>
          <p:cNvPr id="12" name="Rettangolo 1">
            <a:extLst>
              <a:ext uri="{FF2B5EF4-FFF2-40B4-BE49-F238E27FC236}">
                <a16:creationId xmlns:a16="http://schemas.microsoft.com/office/drawing/2014/main" id="{66ADC75E-D3BD-C615-ABC3-65641123AF28}"/>
              </a:ext>
            </a:extLst>
          </p:cNvPr>
          <p:cNvSpPr>
            <a:spLocks noChangeArrowheads="1"/>
          </p:cNvSpPr>
          <p:nvPr/>
        </p:nvSpPr>
        <p:spPr bwMode="auto">
          <a:xfrm>
            <a:off x="1718974" y="1209434"/>
            <a:ext cx="360809"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B</a:t>
            </a:r>
          </a:p>
        </p:txBody>
      </p:sp>
      <p:cxnSp>
        <p:nvCxnSpPr>
          <p:cNvPr id="14" name="Connettore 2 13">
            <a:extLst>
              <a:ext uri="{FF2B5EF4-FFF2-40B4-BE49-F238E27FC236}">
                <a16:creationId xmlns:a16="http://schemas.microsoft.com/office/drawing/2014/main" id="{272A888C-238E-A69D-73EB-1803CA566DF9}"/>
              </a:ext>
            </a:extLst>
          </p:cNvPr>
          <p:cNvCxnSpPr>
            <a:cxnSpLocks/>
          </p:cNvCxnSpPr>
          <p:nvPr/>
        </p:nvCxnSpPr>
        <p:spPr>
          <a:xfrm>
            <a:off x="2339628" y="1268760"/>
            <a:ext cx="216024" cy="3600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A5513D2F-89C7-35B4-6439-46137C2EBB4E}"/>
              </a:ext>
            </a:extLst>
          </p:cNvPr>
          <p:cNvCxnSpPr>
            <a:cxnSpLocks/>
          </p:cNvCxnSpPr>
          <p:nvPr/>
        </p:nvCxnSpPr>
        <p:spPr>
          <a:xfrm>
            <a:off x="1979712" y="1448780"/>
            <a:ext cx="287970" cy="39604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a:extLst>
              <a:ext uri="{FF2B5EF4-FFF2-40B4-BE49-F238E27FC236}">
                <a16:creationId xmlns:a16="http://schemas.microsoft.com/office/drawing/2014/main" id="{0B83C42D-7F70-AC23-D059-F3CDDDE39E97}"/>
              </a:ext>
            </a:extLst>
          </p:cNvPr>
          <p:cNvCxnSpPr>
            <a:cxnSpLocks/>
          </p:cNvCxnSpPr>
          <p:nvPr/>
        </p:nvCxnSpPr>
        <p:spPr>
          <a:xfrm>
            <a:off x="1754796" y="1760745"/>
            <a:ext cx="271264" cy="3600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4" name="Rettangolo 1">
            <a:extLst>
              <a:ext uri="{FF2B5EF4-FFF2-40B4-BE49-F238E27FC236}">
                <a16:creationId xmlns:a16="http://schemas.microsoft.com/office/drawing/2014/main" id="{DFC7B8E1-F09F-E753-EE86-431A476DFAF7}"/>
              </a:ext>
            </a:extLst>
          </p:cNvPr>
          <p:cNvSpPr>
            <a:spLocks noChangeArrowheads="1"/>
          </p:cNvSpPr>
          <p:nvPr/>
        </p:nvSpPr>
        <p:spPr bwMode="auto">
          <a:xfrm>
            <a:off x="251520" y="2445941"/>
            <a:ext cx="1368151" cy="338554"/>
          </a:xfrm>
          <a:prstGeom prst="rect">
            <a:avLst/>
          </a:prstGeom>
          <a:solidFill>
            <a:schemeClr val="bg1"/>
          </a:solidFill>
          <a:ln>
            <a:noFill/>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chemeClr val="accent6">
                    <a:lumMod val="75000"/>
                  </a:schemeClr>
                </a:solidFill>
                <a:latin typeface="Tahoma" pitchFamily="34" charset="0"/>
              </a:rPr>
              <a:t>C.1) SCOM</a:t>
            </a:r>
          </a:p>
        </p:txBody>
      </p:sp>
      <p:cxnSp>
        <p:nvCxnSpPr>
          <p:cNvPr id="25" name="Connettore 2 24">
            <a:extLst>
              <a:ext uri="{FF2B5EF4-FFF2-40B4-BE49-F238E27FC236}">
                <a16:creationId xmlns:a16="http://schemas.microsoft.com/office/drawing/2014/main" id="{F5016D73-841F-3A60-84D4-24557155E22B}"/>
              </a:ext>
            </a:extLst>
          </p:cNvPr>
          <p:cNvCxnSpPr>
            <a:cxnSpLocks/>
          </p:cNvCxnSpPr>
          <p:nvPr/>
        </p:nvCxnSpPr>
        <p:spPr>
          <a:xfrm>
            <a:off x="1503374" y="2615010"/>
            <a:ext cx="522686" cy="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Rettangolo 1">
            <a:extLst>
              <a:ext uri="{FF2B5EF4-FFF2-40B4-BE49-F238E27FC236}">
                <a16:creationId xmlns:a16="http://schemas.microsoft.com/office/drawing/2014/main" id="{1B7CBCE0-31DB-84ED-3E78-7507A7D8CE2A}"/>
              </a:ext>
            </a:extLst>
          </p:cNvPr>
          <p:cNvSpPr>
            <a:spLocks noChangeArrowheads="1"/>
          </p:cNvSpPr>
          <p:nvPr/>
        </p:nvSpPr>
        <p:spPr bwMode="auto">
          <a:xfrm>
            <a:off x="3490589" y="1249015"/>
            <a:ext cx="2893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400" b="1" dirty="0">
                <a:solidFill>
                  <a:srgbClr val="00FF00"/>
                </a:solidFill>
                <a:latin typeface="Tahoma" pitchFamily="34" charset="0"/>
              </a:rPr>
              <a:t>S</a:t>
            </a:r>
          </a:p>
        </p:txBody>
      </p:sp>
      <p:sp>
        <p:nvSpPr>
          <p:cNvPr id="29" name="Rettangolo 1">
            <a:extLst>
              <a:ext uri="{FF2B5EF4-FFF2-40B4-BE49-F238E27FC236}">
                <a16:creationId xmlns:a16="http://schemas.microsoft.com/office/drawing/2014/main" id="{7E315B89-2EAA-30FC-F8F3-350B463F0D3A}"/>
              </a:ext>
            </a:extLst>
          </p:cNvPr>
          <p:cNvSpPr>
            <a:spLocks noChangeArrowheads="1"/>
          </p:cNvSpPr>
          <p:nvPr/>
        </p:nvSpPr>
        <p:spPr bwMode="auto">
          <a:xfrm>
            <a:off x="2879493" y="1537047"/>
            <a:ext cx="28797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400" b="1" dirty="0">
                <a:solidFill>
                  <a:srgbClr val="00FF00"/>
                </a:solidFill>
                <a:latin typeface="Tahoma" pitchFamily="34" charset="0"/>
              </a:rPr>
              <a:t>O</a:t>
            </a:r>
          </a:p>
        </p:txBody>
      </p:sp>
      <p:sp>
        <p:nvSpPr>
          <p:cNvPr id="30" name="Rettangolo 1">
            <a:extLst>
              <a:ext uri="{FF2B5EF4-FFF2-40B4-BE49-F238E27FC236}">
                <a16:creationId xmlns:a16="http://schemas.microsoft.com/office/drawing/2014/main" id="{9D8A6F9F-1A92-0572-32B9-B8D80C807DEF}"/>
              </a:ext>
            </a:extLst>
          </p:cNvPr>
          <p:cNvSpPr>
            <a:spLocks noChangeArrowheads="1"/>
          </p:cNvSpPr>
          <p:nvPr/>
        </p:nvSpPr>
        <p:spPr bwMode="auto">
          <a:xfrm>
            <a:off x="3234681" y="1509307"/>
            <a:ext cx="27126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400" b="1" dirty="0">
                <a:solidFill>
                  <a:srgbClr val="00FF00"/>
                </a:solidFill>
                <a:latin typeface="Tahoma" pitchFamily="34" charset="0"/>
              </a:rPr>
              <a:t>T</a:t>
            </a:r>
          </a:p>
        </p:txBody>
      </p:sp>
      <p:sp>
        <p:nvSpPr>
          <p:cNvPr id="31" name="Rettangolo 1">
            <a:extLst>
              <a:ext uri="{FF2B5EF4-FFF2-40B4-BE49-F238E27FC236}">
                <a16:creationId xmlns:a16="http://schemas.microsoft.com/office/drawing/2014/main" id="{FFC4ADAF-E1F7-F62F-7E90-710A58824877}"/>
              </a:ext>
            </a:extLst>
          </p:cNvPr>
          <p:cNvSpPr>
            <a:spLocks noChangeArrowheads="1"/>
          </p:cNvSpPr>
          <p:nvPr/>
        </p:nvSpPr>
        <p:spPr bwMode="auto">
          <a:xfrm>
            <a:off x="3914180" y="1494126"/>
            <a:ext cx="360809"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0070C0"/>
                </a:solidFill>
                <a:latin typeface="Tahoma" pitchFamily="34" charset="0"/>
              </a:rPr>
              <a:t>L</a:t>
            </a:r>
          </a:p>
        </p:txBody>
      </p:sp>
      <p:sp>
        <p:nvSpPr>
          <p:cNvPr id="32" name="Rettangolo 1">
            <a:extLst>
              <a:ext uri="{FF2B5EF4-FFF2-40B4-BE49-F238E27FC236}">
                <a16:creationId xmlns:a16="http://schemas.microsoft.com/office/drawing/2014/main" id="{8C8AF214-0CD3-D637-077B-0B2CFC740720}"/>
              </a:ext>
            </a:extLst>
          </p:cNvPr>
          <p:cNvSpPr>
            <a:spLocks noChangeArrowheads="1"/>
          </p:cNvSpPr>
          <p:nvPr/>
        </p:nvSpPr>
        <p:spPr bwMode="auto">
          <a:xfrm>
            <a:off x="3749925" y="2132151"/>
            <a:ext cx="360809"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0070C0"/>
                </a:solidFill>
                <a:latin typeface="Tahoma" pitchFamily="34" charset="0"/>
              </a:rPr>
              <a:t>E</a:t>
            </a:r>
          </a:p>
        </p:txBody>
      </p:sp>
      <p:sp>
        <p:nvSpPr>
          <p:cNvPr id="33" name="Rettangolo 1">
            <a:extLst>
              <a:ext uri="{FF2B5EF4-FFF2-40B4-BE49-F238E27FC236}">
                <a16:creationId xmlns:a16="http://schemas.microsoft.com/office/drawing/2014/main" id="{18567DB8-70BF-B8FB-79DD-9ABE6AE137B2}"/>
              </a:ext>
            </a:extLst>
          </p:cNvPr>
          <p:cNvSpPr>
            <a:spLocks noChangeArrowheads="1"/>
          </p:cNvSpPr>
          <p:nvPr/>
        </p:nvSpPr>
        <p:spPr bwMode="auto">
          <a:xfrm>
            <a:off x="6984777" y="5320953"/>
            <a:ext cx="2051719" cy="1384995"/>
          </a:xfrm>
          <a:prstGeom prst="rect">
            <a:avLst/>
          </a:prstGeom>
          <a:solidFill>
            <a:schemeClr val="bg1"/>
          </a:solidFill>
          <a:ln>
            <a:solidFill>
              <a:srgbClr val="0070C0"/>
            </a:solidFill>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it-IT" altLang="it-IT" sz="1200" b="1" dirty="0">
                <a:solidFill>
                  <a:srgbClr val="0070C0"/>
                </a:solidFill>
                <a:latin typeface="Tahoma" pitchFamily="34" charset="0"/>
              </a:rPr>
              <a:t>L</a:t>
            </a:r>
            <a:r>
              <a:rPr lang="it-IT" altLang="it-IT" sz="1200" dirty="0">
                <a:solidFill>
                  <a:srgbClr val="0070C0"/>
                </a:solidFill>
                <a:latin typeface="Tahoma" pitchFamily="34" charset="0"/>
              </a:rPr>
              <a:t>UNGO DEL </a:t>
            </a:r>
            <a:r>
              <a:rPr lang="it-IT" altLang="it-IT" sz="1200" b="1" dirty="0">
                <a:solidFill>
                  <a:srgbClr val="0070C0"/>
                </a:solidFill>
                <a:latin typeface="Tahoma" pitchFamily="34" charset="0"/>
              </a:rPr>
              <a:t>C</a:t>
            </a:r>
            <a:r>
              <a:rPr lang="it-IT" altLang="it-IT" sz="1200" dirty="0">
                <a:solidFill>
                  <a:srgbClr val="0070C0"/>
                </a:solidFill>
                <a:latin typeface="Tahoma" pitchFamily="34" charset="0"/>
              </a:rPr>
              <a:t>OLLO</a:t>
            </a:r>
          </a:p>
          <a:p>
            <a:pPr eaLnBrk="1" hangingPunct="1">
              <a:spcBef>
                <a:spcPct val="0"/>
              </a:spcBef>
              <a:buFontTx/>
              <a:buNone/>
            </a:pPr>
            <a:r>
              <a:rPr lang="it-IT" altLang="it-IT" sz="1200" b="1" dirty="0">
                <a:solidFill>
                  <a:srgbClr val="0070C0"/>
                </a:solidFill>
                <a:latin typeface="Tahoma" pitchFamily="34" charset="0"/>
              </a:rPr>
              <a:t>L</a:t>
            </a:r>
            <a:r>
              <a:rPr lang="it-IT" altLang="it-IT" sz="1200" dirty="0">
                <a:solidFill>
                  <a:srgbClr val="0070C0"/>
                </a:solidFill>
                <a:latin typeface="Tahoma" pitchFamily="34" charset="0"/>
              </a:rPr>
              <a:t>UNGO DELLA </a:t>
            </a:r>
            <a:r>
              <a:rPr lang="it-IT" altLang="it-IT" sz="1200" b="1" dirty="0">
                <a:solidFill>
                  <a:srgbClr val="0070C0"/>
                </a:solidFill>
                <a:latin typeface="Tahoma" pitchFamily="34" charset="0"/>
              </a:rPr>
              <a:t>T</a:t>
            </a:r>
            <a:r>
              <a:rPr lang="it-IT" altLang="it-IT" sz="1200" dirty="0">
                <a:solidFill>
                  <a:srgbClr val="0070C0"/>
                </a:solidFill>
                <a:latin typeface="Tahoma" pitchFamily="34" charset="0"/>
              </a:rPr>
              <a:t>ESTA</a:t>
            </a:r>
          </a:p>
          <a:p>
            <a:pPr>
              <a:spcBef>
                <a:spcPct val="0"/>
              </a:spcBef>
              <a:buNone/>
            </a:pPr>
            <a:r>
              <a:rPr lang="it-IT" altLang="it-IT" sz="1200" b="1" dirty="0">
                <a:solidFill>
                  <a:srgbClr val="0070C0"/>
                </a:solidFill>
                <a:latin typeface="Tahoma" pitchFamily="34" charset="0"/>
              </a:rPr>
              <a:t>Posteriori</a:t>
            </a:r>
            <a:r>
              <a:rPr lang="it-IT" altLang="it-IT" sz="1200" dirty="0">
                <a:solidFill>
                  <a:srgbClr val="0070C0"/>
                </a:solidFill>
                <a:latin typeface="Tahoma" pitchFamily="34" charset="0"/>
              </a:rPr>
              <a:t>: </a:t>
            </a:r>
          </a:p>
          <a:p>
            <a:pPr>
              <a:spcBef>
                <a:spcPct val="0"/>
              </a:spcBef>
              <a:buNone/>
            </a:pPr>
            <a:r>
              <a:rPr lang="it-IT" altLang="it-IT" sz="1200" dirty="0">
                <a:solidFill>
                  <a:srgbClr val="0070C0"/>
                </a:solidFill>
                <a:latin typeface="Tahoma" pitchFamily="34" charset="0"/>
              </a:rPr>
              <a:t>SPLENIO</a:t>
            </a:r>
          </a:p>
          <a:p>
            <a:pPr>
              <a:spcBef>
                <a:spcPct val="0"/>
              </a:spcBef>
              <a:buNone/>
            </a:pPr>
            <a:r>
              <a:rPr lang="it-IT" altLang="it-IT" sz="1200" dirty="0">
                <a:solidFill>
                  <a:srgbClr val="0070C0"/>
                </a:solidFill>
                <a:latin typeface="Tahoma" pitchFamily="34" charset="0"/>
              </a:rPr>
              <a:t>SEMISP. TESTA e COLLO</a:t>
            </a:r>
          </a:p>
          <a:p>
            <a:pPr>
              <a:spcBef>
                <a:spcPct val="0"/>
              </a:spcBef>
              <a:buNone/>
            </a:pPr>
            <a:r>
              <a:rPr lang="it-IT" altLang="it-IT" sz="1200" dirty="0">
                <a:solidFill>
                  <a:srgbClr val="0070C0"/>
                </a:solidFill>
                <a:latin typeface="Tahoma" pitchFamily="34" charset="0"/>
              </a:rPr>
              <a:t>MULTIFIDO</a:t>
            </a:r>
          </a:p>
          <a:p>
            <a:pPr>
              <a:spcBef>
                <a:spcPct val="0"/>
              </a:spcBef>
              <a:buNone/>
            </a:pPr>
            <a:r>
              <a:rPr lang="it-IT" altLang="it-IT" sz="1200" dirty="0">
                <a:solidFill>
                  <a:srgbClr val="0070C0"/>
                </a:solidFill>
                <a:latin typeface="Tahoma" pitchFamily="34" charset="0"/>
              </a:rPr>
              <a:t>INTERSPINOSI</a:t>
            </a:r>
          </a:p>
        </p:txBody>
      </p:sp>
      <p:sp>
        <p:nvSpPr>
          <p:cNvPr id="35" name="Rettangolo 1">
            <a:extLst>
              <a:ext uri="{FF2B5EF4-FFF2-40B4-BE49-F238E27FC236}">
                <a16:creationId xmlns:a16="http://schemas.microsoft.com/office/drawing/2014/main" id="{5492EEF6-BEF2-698C-69E2-E158F4E9BFB8}"/>
              </a:ext>
            </a:extLst>
          </p:cNvPr>
          <p:cNvSpPr>
            <a:spLocks noChangeArrowheads="1"/>
          </p:cNvSpPr>
          <p:nvPr/>
        </p:nvSpPr>
        <p:spPr bwMode="auto">
          <a:xfrm>
            <a:off x="3400487" y="2645494"/>
            <a:ext cx="4583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0070C0"/>
                </a:solidFill>
                <a:latin typeface="Tahoma" pitchFamily="34" charset="0"/>
              </a:rPr>
              <a:t>LC</a:t>
            </a:r>
          </a:p>
        </p:txBody>
      </p:sp>
      <p:sp>
        <p:nvSpPr>
          <p:cNvPr id="36" name="Rettangolo 1">
            <a:extLst>
              <a:ext uri="{FF2B5EF4-FFF2-40B4-BE49-F238E27FC236}">
                <a16:creationId xmlns:a16="http://schemas.microsoft.com/office/drawing/2014/main" id="{BF89FA1B-B939-436E-D458-4AB4DD538895}"/>
              </a:ext>
            </a:extLst>
          </p:cNvPr>
          <p:cNvSpPr>
            <a:spLocks noChangeArrowheads="1"/>
          </p:cNvSpPr>
          <p:nvPr/>
        </p:nvSpPr>
        <p:spPr bwMode="auto">
          <a:xfrm>
            <a:off x="2752163" y="4877278"/>
            <a:ext cx="37967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latin typeface="Tahoma" pitchFamily="34" charset="0"/>
              </a:rPr>
              <a:t>T</a:t>
            </a:r>
          </a:p>
        </p:txBody>
      </p:sp>
      <p:sp>
        <p:nvSpPr>
          <p:cNvPr id="37" name="Rettangolo 1">
            <a:extLst>
              <a:ext uri="{FF2B5EF4-FFF2-40B4-BE49-F238E27FC236}">
                <a16:creationId xmlns:a16="http://schemas.microsoft.com/office/drawing/2014/main" id="{6104D8A1-C89F-8CC7-916B-D3DC38AB7228}"/>
              </a:ext>
            </a:extLst>
          </p:cNvPr>
          <p:cNvSpPr>
            <a:spLocks noChangeArrowheads="1"/>
          </p:cNvSpPr>
          <p:nvPr/>
        </p:nvSpPr>
        <p:spPr bwMode="auto">
          <a:xfrm>
            <a:off x="2185793" y="3947696"/>
            <a:ext cx="52369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latin typeface="Tahoma" pitchFamily="34" charset="0"/>
              </a:rPr>
              <a:t>ES</a:t>
            </a:r>
          </a:p>
        </p:txBody>
      </p:sp>
      <p:sp>
        <p:nvSpPr>
          <p:cNvPr id="38" name="Rettangolo 1">
            <a:extLst>
              <a:ext uri="{FF2B5EF4-FFF2-40B4-BE49-F238E27FC236}">
                <a16:creationId xmlns:a16="http://schemas.microsoft.com/office/drawing/2014/main" id="{E72BD29B-2415-4205-991F-F484B4FB37E3}"/>
              </a:ext>
            </a:extLst>
          </p:cNvPr>
          <p:cNvSpPr>
            <a:spLocks noChangeArrowheads="1"/>
          </p:cNvSpPr>
          <p:nvPr/>
        </p:nvSpPr>
        <p:spPr bwMode="auto">
          <a:xfrm>
            <a:off x="2117165" y="2530513"/>
            <a:ext cx="80106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latin typeface="Tahoma" pitchFamily="34" charset="0"/>
              </a:rPr>
              <a:t>SAMP</a:t>
            </a:r>
          </a:p>
        </p:txBody>
      </p:sp>
      <p:sp>
        <p:nvSpPr>
          <p:cNvPr id="39" name="Rettangolo 1">
            <a:extLst>
              <a:ext uri="{FF2B5EF4-FFF2-40B4-BE49-F238E27FC236}">
                <a16:creationId xmlns:a16="http://schemas.microsoft.com/office/drawing/2014/main" id="{F079F424-C152-00B0-4E7E-FA49BB5941EE}"/>
              </a:ext>
            </a:extLst>
          </p:cNvPr>
          <p:cNvSpPr>
            <a:spLocks noChangeArrowheads="1"/>
          </p:cNvSpPr>
          <p:nvPr/>
        </p:nvSpPr>
        <p:spPr bwMode="auto">
          <a:xfrm>
            <a:off x="464759" y="4276217"/>
            <a:ext cx="1628741" cy="600164"/>
          </a:xfrm>
          <a:prstGeom prst="rect">
            <a:avLst/>
          </a:prstGeom>
          <a:solidFill>
            <a:schemeClr val="bg1"/>
          </a:solidFill>
          <a:ln>
            <a:solidFill>
              <a:schemeClr val="tx1"/>
            </a:solidFill>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100" b="1" dirty="0">
                <a:latin typeface="Tahoma" pitchFamily="34" charset="0"/>
              </a:rPr>
              <a:t>T</a:t>
            </a:r>
            <a:r>
              <a:rPr lang="it-IT" altLang="it-IT" sz="1100" dirty="0">
                <a:latin typeface="Tahoma" pitchFamily="34" charset="0"/>
              </a:rPr>
              <a:t>RAPEZIO</a:t>
            </a:r>
          </a:p>
          <a:p>
            <a:pPr algn="ctr" eaLnBrk="1" hangingPunct="1">
              <a:spcBef>
                <a:spcPct val="0"/>
              </a:spcBef>
              <a:buFontTx/>
              <a:buNone/>
            </a:pPr>
            <a:r>
              <a:rPr lang="it-IT" altLang="it-IT" sz="1100" b="1" dirty="0">
                <a:latin typeface="Tahoma" pitchFamily="34" charset="0"/>
              </a:rPr>
              <a:t>E</a:t>
            </a:r>
            <a:r>
              <a:rPr lang="it-IT" altLang="it-IT" sz="1100" dirty="0">
                <a:latin typeface="Tahoma" pitchFamily="34" charset="0"/>
              </a:rPr>
              <a:t>LEVATORE </a:t>
            </a:r>
            <a:r>
              <a:rPr lang="it-IT" altLang="it-IT" sz="1100" b="1" dirty="0">
                <a:latin typeface="Tahoma" pitchFamily="34" charset="0"/>
              </a:rPr>
              <a:t>S</a:t>
            </a:r>
            <a:r>
              <a:rPr lang="it-IT" altLang="it-IT" sz="1100" dirty="0">
                <a:latin typeface="Tahoma" pitchFamily="34" charset="0"/>
              </a:rPr>
              <a:t>CAPOLA</a:t>
            </a:r>
          </a:p>
          <a:p>
            <a:pPr algn="ctr">
              <a:spcBef>
                <a:spcPct val="0"/>
              </a:spcBef>
              <a:buNone/>
            </a:pPr>
            <a:r>
              <a:rPr lang="it-IT" altLang="it-IT" sz="1100" b="1" dirty="0">
                <a:latin typeface="Tahoma" pitchFamily="34" charset="0"/>
              </a:rPr>
              <a:t>S</a:t>
            </a:r>
            <a:r>
              <a:rPr lang="it-IT" altLang="it-IT" sz="1100" dirty="0">
                <a:latin typeface="Tahoma" pitchFamily="34" charset="0"/>
              </a:rPr>
              <a:t>CALENI </a:t>
            </a:r>
            <a:r>
              <a:rPr lang="it-IT" altLang="it-IT" sz="1100" b="1" dirty="0">
                <a:latin typeface="Tahoma" pitchFamily="34" charset="0"/>
              </a:rPr>
              <a:t>AMP</a:t>
            </a:r>
            <a:endParaRPr lang="it-IT" altLang="it-IT" sz="1100" dirty="0">
              <a:solidFill>
                <a:srgbClr val="0070C0"/>
              </a:solidFill>
              <a:latin typeface="Tahoma" pitchFamily="34" charset="0"/>
            </a:endParaRPr>
          </a:p>
        </p:txBody>
      </p:sp>
      <p:sp>
        <p:nvSpPr>
          <p:cNvPr id="41" name="CasellaDiTesto 40">
            <a:extLst>
              <a:ext uri="{FF2B5EF4-FFF2-40B4-BE49-F238E27FC236}">
                <a16:creationId xmlns:a16="http://schemas.microsoft.com/office/drawing/2014/main" id="{7C8EE881-4B0E-A603-A542-5E223D4F8D20}"/>
              </a:ext>
            </a:extLst>
          </p:cNvPr>
          <p:cNvSpPr txBox="1"/>
          <p:nvPr/>
        </p:nvSpPr>
        <p:spPr>
          <a:xfrm>
            <a:off x="2913748" y="4403675"/>
            <a:ext cx="1404426" cy="307777"/>
          </a:xfrm>
          <a:prstGeom prst="rect">
            <a:avLst/>
          </a:prstGeom>
          <a:noFill/>
        </p:spPr>
        <p:txBody>
          <a:bodyPr wrap="square">
            <a:spAutoFit/>
          </a:bodyPr>
          <a:lstStyle/>
          <a:p>
            <a:pPr>
              <a:spcBef>
                <a:spcPct val="0"/>
              </a:spcBef>
              <a:buNone/>
            </a:pPr>
            <a:r>
              <a:rPr lang="it-IT" altLang="it-IT" sz="1400" b="1" dirty="0">
                <a:solidFill>
                  <a:srgbClr val="0070C0"/>
                </a:solidFill>
                <a:latin typeface="Tahoma" pitchFamily="34" charset="0"/>
              </a:rPr>
              <a:t>POSTERIORI</a:t>
            </a:r>
          </a:p>
        </p:txBody>
      </p:sp>
      <p:sp>
        <p:nvSpPr>
          <p:cNvPr id="42" name="Rettangolo 1">
            <a:extLst>
              <a:ext uri="{FF2B5EF4-FFF2-40B4-BE49-F238E27FC236}">
                <a16:creationId xmlns:a16="http://schemas.microsoft.com/office/drawing/2014/main" id="{BCBF92C4-1FFE-5001-6944-8F9AEB723321}"/>
              </a:ext>
            </a:extLst>
          </p:cNvPr>
          <p:cNvSpPr>
            <a:spLocks noChangeArrowheads="1"/>
          </p:cNvSpPr>
          <p:nvPr/>
        </p:nvSpPr>
        <p:spPr bwMode="auto">
          <a:xfrm>
            <a:off x="6893180" y="2649796"/>
            <a:ext cx="2051719" cy="830997"/>
          </a:xfrm>
          <a:prstGeom prst="rect">
            <a:avLst/>
          </a:prstGeom>
          <a:solidFill>
            <a:schemeClr val="bg1"/>
          </a:solidFill>
          <a:ln w="25400">
            <a:solidFill>
              <a:srgbClr val="00FFFF"/>
            </a:solidFill>
            <a:miter lim="800000"/>
            <a:headEnd/>
            <a:tailEnd/>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it-IT" altLang="it-IT" sz="1600" b="1" dirty="0">
                <a:solidFill>
                  <a:srgbClr val="0CBEF3"/>
                </a:solidFill>
                <a:latin typeface="Tahoma" pitchFamily="34" charset="0"/>
              </a:rPr>
              <a:t>C</a:t>
            </a:r>
            <a:r>
              <a:rPr lang="it-IT" altLang="it-IT" sz="1600" dirty="0">
                <a:solidFill>
                  <a:srgbClr val="0CBEF3"/>
                </a:solidFill>
                <a:latin typeface="Tahoma" pitchFamily="34" charset="0"/>
              </a:rPr>
              <a:t>AROTIDE </a:t>
            </a:r>
            <a:r>
              <a:rPr lang="it-IT" altLang="it-IT" sz="1600" b="1" dirty="0">
                <a:solidFill>
                  <a:srgbClr val="0CBEF3"/>
                </a:solidFill>
                <a:latin typeface="Tahoma" pitchFamily="34" charset="0"/>
              </a:rPr>
              <a:t>C</a:t>
            </a:r>
            <a:r>
              <a:rPr lang="it-IT" altLang="it-IT" sz="1600" dirty="0">
                <a:solidFill>
                  <a:srgbClr val="0CBEF3"/>
                </a:solidFill>
                <a:latin typeface="Tahoma" pitchFamily="34" charset="0"/>
              </a:rPr>
              <a:t>OMUNE</a:t>
            </a:r>
          </a:p>
          <a:p>
            <a:pPr>
              <a:spcBef>
                <a:spcPct val="0"/>
              </a:spcBef>
              <a:buFontTx/>
              <a:buNone/>
            </a:pPr>
            <a:r>
              <a:rPr lang="it-IT" altLang="it-IT" sz="1600" b="1" dirty="0">
                <a:solidFill>
                  <a:srgbClr val="0CBEF3"/>
                </a:solidFill>
                <a:latin typeface="Tahoma" pitchFamily="34" charset="0"/>
              </a:rPr>
              <a:t>G</a:t>
            </a:r>
            <a:r>
              <a:rPr lang="it-IT" altLang="it-IT" sz="1600" dirty="0">
                <a:solidFill>
                  <a:srgbClr val="0CBEF3"/>
                </a:solidFill>
                <a:latin typeface="Tahoma" pitchFamily="34" charset="0"/>
              </a:rPr>
              <a:t>IUGULARE </a:t>
            </a:r>
            <a:r>
              <a:rPr lang="it-IT" altLang="it-IT" sz="1600" b="1" dirty="0">
                <a:solidFill>
                  <a:srgbClr val="0CBEF3"/>
                </a:solidFill>
                <a:latin typeface="Tahoma" pitchFamily="34" charset="0"/>
              </a:rPr>
              <a:t>I</a:t>
            </a:r>
            <a:r>
              <a:rPr lang="it-IT" altLang="it-IT" sz="1600" dirty="0">
                <a:solidFill>
                  <a:srgbClr val="0CBEF3"/>
                </a:solidFill>
                <a:latin typeface="Tahoma" pitchFamily="34" charset="0"/>
              </a:rPr>
              <a:t>NT</a:t>
            </a:r>
          </a:p>
          <a:p>
            <a:pPr>
              <a:spcBef>
                <a:spcPct val="0"/>
              </a:spcBef>
              <a:buFontTx/>
              <a:buNone/>
            </a:pPr>
            <a:r>
              <a:rPr lang="it-IT" altLang="it-IT" sz="1600" dirty="0">
                <a:solidFill>
                  <a:srgbClr val="0CBEF3"/>
                </a:solidFill>
                <a:latin typeface="Tahoma" pitchFamily="34" charset="0"/>
              </a:rPr>
              <a:t>NERVO </a:t>
            </a:r>
            <a:r>
              <a:rPr lang="it-IT" altLang="it-IT" sz="1600" b="1" dirty="0">
                <a:solidFill>
                  <a:srgbClr val="0CBEF3"/>
                </a:solidFill>
                <a:latin typeface="Tahoma" pitchFamily="34" charset="0"/>
              </a:rPr>
              <a:t>V</a:t>
            </a:r>
            <a:r>
              <a:rPr lang="it-IT" altLang="it-IT" sz="1600" dirty="0">
                <a:solidFill>
                  <a:srgbClr val="0CBEF3"/>
                </a:solidFill>
                <a:latin typeface="Tahoma" pitchFamily="34" charset="0"/>
              </a:rPr>
              <a:t>AGO</a:t>
            </a:r>
          </a:p>
        </p:txBody>
      </p:sp>
      <p:sp>
        <p:nvSpPr>
          <p:cNvPr id="44" name="CasellaDiTesto 43">
            <a:extLst>
              <a:ext uri="{FF2B5EF4-FFF2-40B4-BE49-F238E27FC236}">
                <a16:creationId xmlns:a16="http://schemas.microsoft.com/office/drawing/2014/main" id="{77EF652A-071A-58C2-A81E-6AA178DA4306}"/>
              </a:ext>
            </a:extLst>
          </p:cNvPr>
          <p:cNvSpPr txBox="1"/>
          <p:nvPr/>
        </p:nvSpPr>
        <p:spPr>
          <a:xfrm>
            <a:off x="2896832" y="2060848"/>
            <a:ext cx="504825" cy="369332"/>
          </a:xfrm>
          <a:prstGeom prst="rect">
            <a:avLst/>
          </a:prstGeom>
          <a:noFill/>
        </p:spPr>
        <p:txBody>
          <a:bodyPr wrap="square">
            <a:spAutoFit/>
          </a:bodyPr>
          <a:lstStyle/>
          <a:p>
            <a:r>
              <a:rPr lang="it-IT" altLang="it-IT" sz="1800" b="1" dirty="0">
                <a:solidFill>
                  <a:srgbClr val="0CBEF3"/>
                </a:solidFill>
                <a:latin typeface="Tahoma" pitchFamily="34" charset="0"/>
              </a:rPr>
              <a:t>CC</a:t>
            </a:r>
            <a:endParaRPr lang="it-IT" dirty="0"/>
          </a:p>
        </p:txBody>
      </p:sp>
      <p:sp>
        <p:nvSpPr>
          <p:cNvPr id="46" name="CasellaDiTesto 45">
            <a:extLst>
              <a:ext uri="{FF2B5EF4-FFF2-40B4-BE49-F238E27FC236}">
                <a16:creationId xmlns:a16="http://schemas.microsoft.com/office/drawing/2014/main" id="{4ED9C562-084B-E5CC-EFB0-52A8AE48C3FF}"/>
              </a:ext>
            </a:extLst>
          </p:cNvPr>
          <p:cNvSpPr txBox="1"/>
          <p:nvPr/>
        </p:nvSpPr>
        <p:spPr>
          <a:xfrm>
            <a:off x="2419462" y="2068418"/>
            <a:ext cx="464577" cy="369332"/>
          </a:xfrm>
          <a:prstGeom prst="rect">
            <a:avLst/>
          </a:prstGeom>
          <a:noFill/>
        </p:spPr>
        <p:txBody>
          <a:bodyPr wrap="square">
            <a:spAutoFit/>
          </a:bodyPr>
          <a:lstStyle/>
          <a:p>
            <a:r>
              <a:rPr lang="it-IT" altLang="it-IT" sz="1800" b="1" dirty="0">
                <a:solidFill>
                  <a:srgbClr val="0CBEF3"/>
                </a:solidFill>
                <a:latin typeface="Tahoma" pitchFamily="34" charset="0"/>
              </a:rPr>
              <a:t>GI</a:t>
            </a:r>
            <a:endParaRPr lang="it-IT" dirty="0"/>
          </a:p>
        </p:txBody>
      </p:sp>
      <p:sp>
        <p:nvSpPr>
          <p:cNvPr id="48" name="CasellaDiTesto 47">
            <a:extLst>
              <a:ext uri="{FF2B5EF4-FFF2-40B4-BE49-F238E27FC236}">
                <a16:creationId xmlns:a16="http://schemas.microsoft.com/office/drawing/2014/main" id="{D18875D8-7B39-25BE-F0CD-40217374790E}"/>
              </a:ext>
            </a:extLst>
          </p:cNvPr>
          <p:cNvSpPr txBox="1"/>
          <p:nvPr/>
        </p:nvSpPr>
        <p:spPr>
          <a:xfrm>
            <a:off x="2742856" y="2387451"/>
            <a:ext cx="341784" cy="369332"/>
          </a:xfrm>
          <a:prstGeom prst="rect">
            <a:avLst/>
          </a:prstGeom>
          <a:noFill/>
        </p:spPr>
        <p:txBody>
          <a:bodyPr wrap="square">
            <a:spAutoFit/>
          </a:bodyPr>
          <a:lstStyle/>
          <a:p>
            <a:r>
              <a:rPr lang="it-IT" altLang="it-IT" sz="1800" b="1" dirty="0">
                <a:solidFill>
                  <a:srgbClr val="0CBEF3"/>
                </a:solidFill>
                <a:latin typeface="Tahoma" pitchFamily="34" charset="0"/>
              </a:rPr>
              <a:t>V</a:t>
            </a:r>
            <a:endParaRPr lang="it-IT" dirty="0"/>
          </a:p>
        </p:txBody>
      </p:sp>
      <p:sp>
        <p:nvSpPr>
          <p:cNvPr id="51" name="Rettangolo 1">
            <a:extLst>
              <a:ext uri="{FF2B5EF4-FFF2-40B4-BE49-F238E27FC236}">
                <a16:creationId xmlns:a16="http://schemas.microsoft.com/office/drawing/2014/main" id="{CC294226-F2DA-D596-5053-6FC855FAAD87}"/>
              </a:ext>
            </a:extLst>
          </p:cNvPr>
          <p:cNvSpPr>
            <a:spLocks noChangeArrowheads="1"/>
          </p:cNvSpPr>
          <p:nvPr/>
        </p:nvSpPr>
        <p:spPr bwMode="auto">
          <a:xfrm>
            <a:off x="2811762" y="2645494"/>
            <a:ext cx="4583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0070C0"/>
                </a:solidFill>
                <a:latin typeface="Tahoma" pitchFamily="34" charset="0"/>
              </a:rPr>
              <a:t>LT</a:t>
            </a:r>
          </a:p>
        </p:txBody>
      </p:sp>
      <p:sp>
        <p:nvSpPr>
          <p:cNvPr id="52" name="Rettangolo 1">
            <a:extLst>
              <a:ext uri="{FF2B5EF4-FFF2-40B4-BE49-F238E27FC236}">
                <a16:creationId xmlns:a16="http://schemas.microsoft.com/office/drawing/2014/main" id="{D9560DE8-18D8-4821-6C80-17EB908879C0}"/>
              </a:ext>
            </a:extLst>
          </p:cNvPr>
          <p:cNvSpPr>
            <a:spLocks noChangeArrowheads="1"/>
          </p:cNvSpPr>
          <p:nvPr/>
        </p:nvSpPr>
        <p:spPr bwMode="auto">
          <a:xfrm>
            <a:off x="7380312" y="952272"/>
            <a:ext cx="1075240" cy="584775"/>
          </a:xfrm>
          <a:prstGeom prst="rect">
            <a:avLst/>
          </a:prstGeom>
          <a:solidFill>
            <a:schemeClr val="bg1"/>
          </a:solidFill>
          <a:ln w="25400">
            <a:solidFill>
              <a:srgbClr val="0070C0"/>
            </a:solidFill>
            <a:miter lim="800000"/>
            <a:headEnd/>
            <a:tailEnd/>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spcBef>
                <a:spcPct val="0"/>
              </a:spcBef>
              <a:buFontTx/>
              <a:buNone/>
            </a:pPr>
            <a:r>
              <a:rPr lang="it-IT" altLang="it-IT" sz="1600" b="1" dirty="0">
                <a:solidFill>
                  <a:srgbClr val="0070C0"/>
                </a:solidFill>
                <a:latin typeface="Tahoma" pitchFamily="34" charset="0"/>
              </a:rPr>
              <a:t>L</a:t>
            </a:r>
            <a:r>
              <a:rPr lang="it-IT" altLang="it-IT" sz="1600" dirty="0">
                <a:solidFill>
                  <a:srgbClr val="0070C0"/>
                </a:solidFill>
                <a:latin typeface="Tahoma" pitchFamily="34" charset="0"/>
              </a:rPr>
              <a:t>ARINGE</a:t>
            </a:r>
          </a:p>
          <a:p>
            <a:pPr algn="ctr">
              <a:spcBef>
                <a:spcPct val="0"/>
              </a:spcBef>
              <a:buFontTx/>
              <a:buNone/>
            </a:pPr>
            <a:r>
              <a:rPr lang="it-IT" altLang="it-IT" sz="1600" b="1" dirty="0">
                <a:solidFill>
                  <a:srgbClr val="0070C0"/>
                </a:solidFill>
                <a:latin typeface="Tahoma" pitchFamily="34" charset="0"/>
              </a:rPr>
              <a:t>E</a:t>
            </a:r>
            <a:r>
              <a:rPr lang="it-IT" altLang="it-IT" sz="1600" dirty="0">
                <a:solidFill>
                  <a:srgbClr val="0070C0"/>
                </a:solidFill>
                <a:latin typeface="Tahoma" pitchFamily="34" charset="0"/>
              </a:rPr>
              <a:t>SOFAGO</a:t>
            </a:r>
          </a:p>
        </p:txBody>
      </p:sp>
    </p:spTree>
    <p:extLst>
      <p:ext uri="{BB962C8B-B14F-4D97-AF65-F5344CB8AC3E}">
        <p14:creationId xmlns:p14="http://schemas.microsoft.com/office/powerpoint/2010/main" val="104424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animBg="1"/>
      <p:bldP spid="24" grpId="0" animBg="1"/>
      <p:bldP spid="28" grpId="0"/>
      <p:bldP spid="29" grpId="0"/>
      <p:bldP spid="30" grpId="0"/>
      <p:bldP spid="31" grpId="0"/>
      <p:bldP spid="32" grpId="0"/>
      <p:bldP spid="33" grpId="0" animBg="1"/>
      <p:bldP spid="35" grpId="0"/>
      <p:bldP spid="36" grpId="0"/>
      <p:bldP spid="37" grpId="0"/>
      <p:bldP spid="38" grpId="0"/>
      <p:bldP spid="39" grpId="0" animBg="1"/>
      <p:bldP spid="41" grpId="0"/>
      <p:bldP spid="42" grpId="0" animBg="1"/>
      <p:bldP spid="44" grpId="0"/>
      <p:bldP spid="46" grpId="0"/>
      <p:bldP spid="48" grpId="0"/>
      <p:bldP spid="51" grpId="0"/>
      <p:bldP spid="5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B2CFCD30-8BF5-516A-E5A2-B651E00FF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880" y="682383"/>
            <a:ext cx="7808240" cy="5493234"/>
          </a:xfrm>
          <a:prstGeom prst="rect">
            <a:avLst/>
          </a:prstGeom>
        </p:spPr>
      </p:pic>
      <p:sp>
        <p:nvSpPr>
          <p:cNvPr id="4" name="Rettangolo 1">
            <a:extLst>
              <a:ext uri="{FF2B5EF4-FFF2-40B4-BE49-F238E27FC236}">
                <a16:creationId xmlns:a16="http://schemas.microsoft.com/office/drawing/2014/main" id="{7B241558-0088-30C1-0844-8BA863B8CEF0}"/>
              </a:ext>
            </a:extLst>
          </p:cNvPr>
          <p:cNvSpPr>
            <a:spLocks noChangeArrowheads="1"/>
          </p:cNvSpPr>
          <p:nvPr/>
        </p:nvSpPr>
        <p:spPr bwMode="auto">
          <a:xfrm>
            <a:off x="3059832" y="2996952"/>
            <a:ext cx="648072" cy="276999"/>
          </a:xfrm>
          <a:prstGeom prst="rect">
            <a:avLst/>
          </a:prstGeom>
          <a:solidFill>
            <a:schemeClr val="bg1"/>
          </a:solidFill>
          <a:ln>
            <a:noFill/>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dirty="0">
                <a:latin typeface="Tahoma" pitchFamily="34" charset="0"/>
              </a:rPr>
              <a:t>C3/C4</a:t>
            </a:r>
          </a:p>
        </p:txBody>
      </p:sp>
      <p:sp>
        <p:nvSpPr>
          <p:cNvPr id="8" name="Stella a 4 punte 7">
            <a:extLst>
              <a:ext uri="{FF2B5EF4-FFF2-40B4-BE49-F238E27FC236}">
                <a16:creationId xmlns:a16="http://schemas.microsoft.com/office/drawing/2014/main" id="{EB9840D9-DB05-4E7D-1D7E-9F264ABF6140}"/>
              </a:ext>
            </a:extLst>
          </p:cNvPr>
          <p:cNvSpPr/>
          <p:nvPr/>
        </p:nvSpPr>
        <p:spPr>
          <a:xfrm>
            <a:off x="2267744" y="3789040"/>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9" name="Stella a 4 punte 8">
            <a:extLst>
              <a:ext uri="{FF2B5EF4-FFF2-40B4-BE49-F238E27FC236}">
                <a16:creationId xmlns:a16="http://schemas.microsoft.com/office/drawing/2014/main" id="{C87EFB1F-82F1-0038-F003-7E0DD341B032}"/>
              </a:ext>
            </a:extLst>
          </p:cNvPr>
          <p:cNvSpPr/>
          <p:nvPr/>
        </p:nvSpPr>
        <p:spPr>
          <a:xfrm>
            <a:off x="5796136" y="4149080"/>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0" name="Stella a 4 punte 9">
            <a:extLst>
              <a:ext uri="{FF2B5EF4-FFF2-40B4-BE49-F238E27FC236}">
                <a16:creationId xmlns:a16="http://schemas.microsoft.com/office/drawing/2014/main" id="{2BDA720B-B0C4-1642-7007-57D3B5E4DFE9}"/>
              </a:ext>
            </a:extLst>
          </p:cNvPr>
          <p:cNvSpPr/>
          <p:nvPr/>
        </p:nvSpPr>
        <p:spPr>
          <a:xfrm>
            <a:off x="6588348" y="3356992"/>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cxnSp>
        <p:nvCxnSpPr>
          <p:cNvPr id="11" name="Connettore 1 11">
            <a:extLst>
              <a:ext uri="{FF2B5EF4-FFF2-40B4-BE49-F238E27FC236}">
                <a16:creationId xmlns:a16="http://schemas.microsoft.com/office/drawing/2014/main" id="{262B1C23-5A94-63DC-7776-D861E2BD6CB8}"/>
              </a:ext>
            </a:extLst>
          </p:cNvPr>
          <p:cNvCxnSpPr/>
          <p:nvPr/>
        </p:nvCxnSpPr>
        <p:spPr>
          <a:xfrm>
            <a:off x="2627784" y="3356992"/>
            <a:ext cx="30956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Rettangolo 1">
            <a:extLst>
              <a:ext uri="{FF2B5EF4-FFF2-40B4-BE49-F238E27FC236}">
                <a16:creationId xmlns:a16="http://schemas.microsoft.com/office/drawing/2014/main" id="{07DA9313-AF1A-57FB-3AC5-74A720F45904}"/>
              </a:ext>
            </a:extLst>
          </p:cNvPr>
          <p:cNvSpPr>
            <a:spLocks noChangeArrowheads="1"/>
          </p:cNvSpPr>
          <p:nvPr/>
        </p:nvSpPr>
        <p:spPr bwMode="auto">
          <a:xfrm>
            <a:off x="5349878" y="3135451"/>
            <a:ext cx="446258" cy="276999"/>
          </a:xfrm>
          <a:prstGeom prst="rect">
            <a:avLst/>
          </a:prstGeom>
          <a:noFill/>
          <a:ln>
            <a:noFill/>
          </a:ln>
        </p:spPr>
        <p:txBody>
          <a:bodyPr wrap="square">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200" b="1" dirty="0">
                <a:latin typeface="Tahoma" pitchFamily="34" charset="0"/>
              </a:rPr>
              <a:t>C5</a:t>
            </a:r>
          </a:p>
        </p:txBody>
      </p:sp>
    </p:spTree>
    <p:extLst>
      <p:ext uri="{BB962C8B-B14F-4D97-AF65-F5344CB8AC3E}">
        <p14:creationId xmlns:p14="http://schemas.microsoft.com/office/powerpoint/2010/main" val="251765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3.jpg"/>
          <p:cNvPicPr>
            <a:picLocks noGrp="1" noChangeAspect="1"/>
          </p:cNvPicPr>
          <p:nvPr isPhoto="1"/>
        </p:nvPicPr>
        <p:blipFill>
          <a:blip r:embed="rId3">
            <a:lum/>
          </a:blip>
          <a:srcRect l="18500" b="22120"/>
          <a:stretch>
            <a:fillRect/>
          </a:stretch>
        </p:blipFill>
        <p:spPr>
          <a:xfrm>
            <a:off x="148044" y="1102201"/>
            <a:ext cx="8744436" cy="4487038"/>
          </a:xfrm>
          <a:prstGeom prst="rect">
            <a:avLst/>
          </a:prstGeom>
          <a:noFill/>
          <a:ln>
            <a:noFill/>
          </a:ln>
        </p:spPr>
      </p:pic>
    </p:spTree>
    <p:extLst>
      <p:ext uri="{BB962C8B-B14F-4D97-AF65-F5344CB8AC3E}">
        <p14:creationId xmlns:p14="http://schemas.microsoft.com/office/powerpoint/2010/main" val="29545956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2.jpg"/>
          <p:cNvPicPr>
            <a:picLocks noGrp="1" noChangeAspect="1"/>
          </p:cNvPicPr>
          <p:nvPr isPhoto="1"/>
        </p:nvPicPr>
        <p:blipFill>
          <a:blip r:embed="rId3">
            <a:lum/>
          </a:blip>
          <a:stretch>
            <a:fillRect/>
          </a:stretch>
        </p:blipFill>
        <p:spPr>
          <a:xfrm>
            <a:off x="0" y="268288"/>
            <a:ext cx="9144000" cy="6321425"/>
          </a:xfrm>
          <a:prstGeom prst="rect">
            <a:avLst/>
          </a:prstGeom>
          <a:noFill/>
          <a:ln>
            <a:noFill/>
          </a:ln>
        </p:spPr>
      </p:pic>
      <p:pic>
        <p:nvPicPr>
          <p:cNvPr id="3" name="Immagine 2" descr="Immagine che contiene testo, schermata&#10;&#10;Il contenuto generato dall'IA potrebbe non essere corretto.">
            <a:extLst>
              <a:ext uri="{FF2B5EF4-FFF2-40B4-BE49-F238E27FC236}">
                <a16:creationId xmlns:a16="http://schemas.microsoft.com/office/drawing/2014/main" id="{1C1AD860-ED39-4295-03AE-CB8C426461F8}"/>
              </a:ext>
            </a:extLst>
          </p:cNvPr>
          <p:cNvPicPr>
            <a:picLocks noChangeAspect="1"/>
          </p:cNvPicPr>
          <p:nvPr/>
        </p:nvPicPr>
        <p:blipFill>
          <a:blip r:embed="rId4"/>
          <a:stretch>
            <a:fillRect/>
          </a:stretch>
        </p:blipFill>
        <p:spPr>
          <a:xfrm>
            <a:off x="251520" y="404664"/>
            <a:ext cx="2016093" cy="1429320"/>
          </a:xfrm>
          <a:prstGeom prst="rect">
            <a:avLst/>
          </a:prstGeom>
        </p:spPr>
      </p:pic>
    </p:spTree>
    <p:extLst>
      <p:ext uri="{BB962C8B-B14F-4D97-AF65-F5344CB8AC3E}">
        <p14:creationId xmlns:p14="http://schemas.microsoft.com/office/powerpoint/2010/main" val="31117616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8.jpg"/>
          <p:cNvPicPr>
            <a:picLocks noGrp="1" noChangeAspect="1"/>
          </p:cNvPicPr>
          <p:nvPr isPhoto="1"/>
        </p:nvPicPr>
        <p:blipFill>
          <a:blip r:embed="rId3">
            <a:lum/>
          </a:blip>
          <a:stretch>
            <a:fillRect/>
          </a:stretch>
        </p:blipFill>
        <p:spPr>
          <a:xfrm>
            <a:off x="0" y="866775"/>
            <a:ext cx="9144000" cy="5124450"/>
          </a:xfrm>
          <a:prstGeom prst="rect">
            <a:avLst/>
          </a:prstGeom>
          <a:noFill/>
          <a:ln>
            <a:noFill/>
          </a:ln>
        </p:spPr>
      </p:pic>
    </p:spTree>
    <p:extLst>
      <p:ext uri="{BB962C8B-B14F-4D97-AF65-F5344CB8AC3E}">
        <p14:creationId xmlns:p14="http://schemas.microsoft.com/office/powerpoint/2010/main" val="36888225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7.jpg"/>
          <p:cNvPicPr>
            <a:picLocks noGrp="1" noChangeAspect="1"/>
          </p:cNvPicPr>
          <p:nvPr isPhoto="1"/>
        </p:nvPicPr>
        <p:blipFill>
          <a:blip r:embed="rId2">
            <a:lum/>
          </a:blip>
          <a:srcRect b="12201"/>
          <a:stretch>
            <a:fillRect/>
          </a:stretch>
        </p:blipFill>
        <p:spPr>
          <a:xfrm>
            <a:off x="1249362" y="418356"/>
            <a:ext cx="6645275" cy="6021288"/>
          </a:xfrm>
          <a:prstGeom prst="rect">
            <a:avLst/>
          </a:prstGeom>
          <a:noFill/>
          <a:ln>
            <a:noFill/>
          </a:ln>
        </p:spPr>
      </p:pic>
    </p:spTree>
    <p:extLst>
      <p:ext uri="{BB962C8B-B14F-4D97-AF65-F5344CB8AC3E}">
        <p14:creationId xmlns:p14="http://schemas.microsoft.com/office/powerpoint/2010/main" val="31877924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F217F-7D7E-1087-91FE-B77DFF1ADAE6}"/>
            </a:ext>
          </a:extLst>
        </p:cNvPr>
        <p:cNvGrpSpPr/>
        <p:nvPr/>
      </p:nvGrpSpPr>
      <p:grpSpPr>
        <a:xfrm>
          <a:off x="0" y="0"/>
          <a:ext cx="0" cy="0"/>
          <a:chOff x="0" y="0"/>
          <a:chExt cx="0" cy="0"/>
        </a:xfrm>
      </p:grpSpPr>
      <p:pic>
        <p:nvPicPr>
          <p:cNvPr id="47106" name="Picture 2" descr="Risultati immagini per PAUSA">
            <a:hlinkClick r:id="rId3"/>
            <a:extLst>
              <a:ext uri="{FF2B5EF4-FFF2-40B4-BE49-F238E27FC236}">
                <a16:creationId xmlns:a16="http://schemas.microsoft.com/office/drawing/2014/main" id="{23DF3428-E377-0492-C41A-1E338E2A97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5675" y="693738"/>
            <a:ext cx="7000875" cy="561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1712110"/>
      </p:ext>
    </p:extLst>
  </p:cSld>
  <p:clrMapOvr>
    <a:masterClrMapping/>
  </p:clrMapOvr>
  <p:transition spd="med">
    <p:pull/>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Segnaposto contenuto 2"/>
          <p:cNvPicPr>
            <a:picLocks noGrp="1" noChangeAspect="1"/>
          </p:cNvPicPr>
          <p:nvPr>
            <p:ph/>
          </p:nvPr>
        </p:nvPicPr>
        <p:blipFill>
          <a:blip r:embed="rId2">
            <a:extLst>
              <a:ext uri="{28A0092B-C50C-407E-A947-70E740481C1C}">
                <a14:useLocalDpi xmlns:a14="http://schemas.microsoft.com/office/drawing/2010/main" val="0"/>
              </a:ext>
            </a:extLst>
          </a:blip>
          <a:srcRect/>
          <a:stretch>
            <a:fillRect/>
          </a:stretch>
        </p:blipFill>
        <p:spPr>
          <a:xfrm>
            <a:off x="393700" y="3014663"/>
            <a:ext cx="1427163" cy="733425"/>
          </a:xfrm>
        </p:spPr>
      </p:pic>
      <p:sp>
        <p:nvSpPr>
          <p:cNvPr id="5" name="Titolo 1"/>
          <p:cNvSpPr txBox="1">
            <a:spLocks/>
          </p:cNvSpPr>
          <p:nvPr/>
        </p:nvSpPr>
        <p:spPr bwMode="auto">
          <a:xfrm>
            <a:off x="119063" y="230188"/>
            <a:ext cx="1811337" cy="307975"/>
          </a:xfrm>
          <a:prstGeom prst="rect">
            <a:avLst/>
          </a:prstGeom>
          <a:noFill/>
          <a:ln w="9525">
            <a:noFill/>
            <a:miter lim="800000"/>
            <a:headEnd/>
            <a:tailEnd/>
          </a:ln>
          <a:effectLst/>
        </p:spPr>
        <p:txBody>
          <a:bodyPr/>
          <a:lst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a:lstStyle>
          <a:p>
            <a:pPr marL="0" indent="0" algn="ctr">
              <a:buFont typeface="Wingdings" panose="05000000000000000000" pitchFamily="2" charset="2"/>
              <a:buNone/>
              <a:defRPr/>
            </a:pPr>
            <a:r>
              <a:rPr lang="it-IT" sz="1400" kern="0" dirty="0">
                <a:effectLst/>
              </a:rPr>
              <a:t>OSSIFICAZIONE</a:t>
            </a:r>
          </a:p>
        </p:txBody>
      </p:sp>
      <p:sp>
        <p:nvSpPr>
          <p:cNvPr id="6" name="Segnaposto contenuto 2"/>
          <p:cNvSpPr txBox="1">
            <a:spLocks/>
          </p:cNvSpPr>
          <p:nvPr/>
        </p:nvSpPr>
        <p:spPr>
          <a:xfrm>
            <a:off x="733425" y="863600"/>
            <a:ext cx="2447925" cy="1584325"/>
          </a:xfrm>
          <a:prstGeom prst="rect">
            <a:avLst/>
          </a:prstGeom>
        </p:spPr>
        <p:txBody>
          <a:bodyPr/>
          <a:lst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a:lstStyle>
          <a:p>
            <a:pPr>
              <a:defRPr/>
            </a:pPr>
            <a:r>
              <a:rPr lang="it-IT" kern="0" dirty="0">
                <a:effectLst/>
              </a:rPr>
              <a:t>CCC</a:t>
            </a:r>
          </a:p>
        </p:txBody>
      </p:sp>
      <p:sp>
        <p:nvSpPr>
          <p:cNvPr id="7" name="Ovale 6"/>
          <p:cNvSpPr/>
          <p:nvPr/>
        </p:nvSpPr>
        <p:spPr>
          <a:xfrm>
            <a:off x="4572000" y="5445125"/>
            <a:ext cx="3455988" cy="1079500"/>
          </a:xfrm>
          <a:prstGeom prst="ellipse">
            <a:avLst/>
          </a:prstGeom>
          <a:noFill/>
          <a:ln>
            <a:solidFill>
              <a:schemeClr val="tx2">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8" name="Stella a 4 punte 7"/>
          <p:cNvSpPr/>
          <p:nvPr/>
        </p:nvSpPr>
        <p:spPr>
          <a:xfrm>
            <a:off x="1849438" y="5719763"/>
            <a:ext cx="215900" cy="215900"/>
          </a:xfrm>
          <a:prstGeom prst="star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9" name="Freccia a sinistra 8"/>
          <p:cNvSpPr/>
          <p:nvPr/>
        </p:nvSpPr>
        <p:spPr>
          <a:xfrm>
            <a:off x="1147763" y="6259513"/>
            <a:ext cx="285750" cy="287337"/>
          </a:xfrm>
          <a:prstGeom prst="leftArrow">
            <a:avLst>
              <a:gd name="adj1" fmla="val 50000"/>
              <a:gd name="adj2" fmla="val 104707"/>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1" name="Freccia a sinistra 10"/>
          <p:cNvSpPr/>
          <p:nvPr/>
        </p:nvSpPr>
        <p:spPr>
          <a:xfrm rot="10800000">
            <a:off x="441325" y="6237288"/>
            <a:ext cx="288925" cy="165100"/>
          </a:xfrm>
          <a:prstGeom prst="leftArrow">
            <a:avLst>
              <a:gd name="adj1" fmla="val 50000"/>
              <a:gd name="adj2" fmla="val 100000"/>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cxnSp>
        <p:nvCxnSpPr>
          <p:cNvPr id="12" name="Connettore 1 11"/>
          <p:cNvCxnSpPr/>
          <p:nvPr/>
        </p:nvCxnSpPr>
        <p:spPr>
          <a:xfrm>
            <a:off x="5688013" y="3213100"/>
            <a:ext cx="3095625"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Connettore 2 12"/>
          <p:cNvCxnSpPr/>
          <p:nvPr/>
        </p:nvCxnSpPr>
        <p:spPr>
          <a:xfrm flipV="1">
            <a:off x="441325" y="5654675"/>
            <a:ext cx="990600" cy="63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nettore 1 13"/>
          <p:cNvCxnSpPr/>
          <p:nvPr/>
        </p:nvCxnSpPr>
        <p:spPr>
          <a:xfrm>
            <a:off x="6092825" y="2530475"/>
            <a:ext cx="2328863" cy="6350"/>
          </a:xfrm>
          <a:prstGeom prst="line">
            <a:avLst/>
          </a:prstGeom>
          <a:ln w="317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1276" name="Rettangolo 1"/>
          <p:cNvSpPr>
            <a:spLocks noChangeArrowheads="1"/>
          </p:cNvSpPr>
          <p:nvPr/>
        </p:nvSpPr>
        <p:spPr bwMode="auto">
          <a:xfrm>
            <a:off x="2438400" y="1203325"/>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a:latin typeface="Tahoma" pitchFamily="34" charset="0"/>
              </a:rPr>
              <a:t>A</a:t>
            </a:r>
          </a:p>
        </p:txBody>
      </p:sp>
      <p:sp>
        <p:nvSpPr>
          <p:cNvPr id="16" name="Sottotitolo 2"/>
          <p:cNvSpPr txBox="1">
            <a:spLocks/>
          </p:cNvSpPr>
          <p:nvPr/>
        </p:nvSpPr>
        <p:spPr>
          <a:xfrm>
            <a:off x="611188" y="1870075"/>
            <a:ext cx="4608512" cy="695325"/>
          </a:xfrm>
          <a:prstGeom prst="rect">
            <a:avLst/>
          </a:prstGeom>
        </p:spPr>
        <p:txBody>
          <a:bodyPr/>
          <a:lstStyle>
            <a:lvl1pPr marL="342900" indent="-342900" algn="l" rtl="0" eaLnBrk="0" fontAlgn="base" hangingPunct="0">
              <a:spcBef>
                <a:spcPct val="20000"/>
              </a:spcBef>
              <a:spcAft>
                <a:spcPct val="0"/>
              </a:spcAft>
              <a:buClr>
                <a:schemeClr val="hlink"/>
              </a:buClr>
              <a:buSzPct val="65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a:lstStyle>
          <a:p>
            <a:pPr>
              <a:defRPr/>
            </a:pPr>
            <a:r>
              <a:rPr lang="it-IT" kern="0" dirty="0"/>
              <a:t>SPLANCNOCRANIO</a:t>
            </a:r>
          </a:p>
        </p:txBody>
      </p:sp>
      <p:sp>
        <p:nvSpPr>
          <p:cNvPr id="17" name="Stella a 4 punte 16"/>
          <p:cNvSpPr/>
          <p:nvPr/>
        </p:nvSpPr>
        <p:spPr>
          <a:xfrm>
            <a:off x="1849438" y="6237288"/>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8" name="Ovale 17"/>
          <p:cNvSpPr/>
          <p:nvPr/>
        </p:nvSpPr>
        <p:spPr>
          <a:xfrm>
            <a:off x="8421688" y="5768975"/>
            <a:ext cx="250825" cy="215900"/>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1280" name="Rettangolo 1"/>
          <p:cNvSpPr>
            <a:spLocks noChangeArrowheads="1"/>
          </p:cNvSpPr>
          <p:nvPr/>
        </p:nvSpPr>
        <p:spPr bwMode="auto">
          <a:xfrm>
            <a:off x="6016625" y="858838"/>
            <a:ext cx="2228850" cy="33813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a:solidFill>
                  <a:srgbClr val="FF0000"/>
                </a:solidFill>
                <a:latin typeface="Tahoma" pitchFamily="34" charset="0"/>
              </a:rPr>
              <a:t>SPLANCNOCRANIO</a:t>
            </a:r>
          </a:p>
        </p:txBody>
      </p:sp>
      <p:sp>
        <p:nvSpPr>
          <p:cNvPr id="20" name="Rettangolo 19"/>
          <p:cNvSpPr/>
          <p:nvPr/>
        </p:nvSpPr>
        <p:spPr>
          <a:xfrm>
            <a:off x="1979613" y="3009900"/>
            <a:ext cx="1254125" cy="3397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it-IT" dirty="0">
                <a:solidFill>
                  <a:schemeClr val="accent6">
                    <a:lumMod val="50000"/>
                  </a:schemeClr>
                </a:solidFill>
              </a:rPr>
              <a:t>T </a:t>
            </a:r>
            <a:r>
              <a:rPr lang="it-IT" dirty="0" err="1">
                <a:solidFill>
                  <a:schemeClr val="accent6">
                    <a:lumMod val="50000"/>
                  </a:schemeClr>
                </a:solidFill>
              </a:rPr>
              <a:t>T</a:t>
            </a:r>
            <a:r>
              <a:rPr lang="it-IT" dirty="0">
                <a:solidFill>
                  <a:schemeClr val="accent6">
                    <a:lumMod val="50000"/>
                  </a:schemeClr>
                </a:solidFill>
              </a:rPr>
              <a:t> </a:t>
            </a:r>
            <a:r>
              <a:rPr lang="it-IT" dirty="0" err="1">
                <a:solidFill>
                  <a:schemeClr val="accent6">
                    <a:lumMod val="50000"/>
                  </a:schemeClr>
                </a:solidFill>
              </a:rPr>
              <a:t>T</a:t>
            </a:r>
            <a:r>
              <a:rPr lang="it-IT" dirty="0">
                <a:solidFill>
                  <a:schemeClr val="accent6">
                    <a:lumMod val="50000"/>
                  </a:schemeClr>
                </a:solidFill>
              </a:rPr>
              <a:t> </a:t>
            </a:r>
            <a:r>
              <a:rPr lang="it-IT" dirty="0" err="1">
                <a:solidFill>
                  <a:schemeClr val="accent6">
                    <a:lumMod val="50000"/>
                  </a:schemeClr>
                </a:solidFill>
              </a:rPr>
              <a:t>T</a:t>
            </a:r>
            <a:r>
              <a:rPr lang="it-IT" dirty="0">
                <a:solidFill>
                  <a:schemeClr val="accent6">
                    <a:lumMod val="50000"/>
                  </a:schemeClr>
                </a:solidFill>
              </a:rPr>
              <a:t> </a:t>
            </a:r>
            <a:r>
              <a:rPr lang="it-IT" dirty="0" err="1">
                <a:solidFill>
                  <a:schemeClr val="accent6">
                    <a:lumMod val="50000"/>
                  </a:schemeClr>
                </a:solidFill>
              </a:rPr>
              <a:t>T</a:t>
            </a:r>
            <a:endParaRPr lang="it-IT" dirty="0">
              <a:solidFill>
                <a:schemeClr val="accent6">
                  <a:lumMod val="50000"/>
                </a:schemeClr>
              </a:solidFill>
            </a:endParaRPr>
          </a:p>
        </p:txBody>
      </p:sp>
      <p:sp>
        <p:nvSpPr>
          <p:cNvPr id="11282" name="Rettangolo 1"/>
          <p:cNvSpPr>
            <a:spLocks noChangeArrowheads="1"/>
          </p:cNvSpPr>
          <p:nvPr/>
        </p:nvSpPr>
        <p:spPr bwMode="auto">
          <a:xfrm>
            <a:off x="6519863" y="1362075"/>
            <a:ext cx="2228850" cy="33813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a:latin typeface="Tahoma" pitchFamily="34" charset="0"/>
              </a:rPr>
              <a:t>SPLANCNOCRANIO</a:t>
            </a:r>
          </a:p>
        </p:txBody>
      </p:sp>
      <p:sp>
        <p:nvSpPr>
          <p:cNvPr id="24" name="Stella a 4 punte 23"/>
          <p:cNvSpPr/>
          <p:nvPr/>
        </p:nvSpPr>
        <p:spPr>
          <a:xfrm>
            <a:off x="827088" y="4652963"/>
            <a:ext cx="215900" cy="215900"/>
          </a:xfrm>
          <a:prstGeom prst="star4">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1284" name="Rettangolo 1"/>
          <p:cNvSpPr>
            <a:spLocks noChangeArrowheads="1"/>
          </p:cNvSpPr>
          <p:nvPr/>
        </p:nvSpPr>
        <p:spPr bwMode="auto">
          <a:xfrm>
            <a:off x="1763713" y="4602163"/>
            <a:ext cx="5048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2000" b="1">
                <a:solidFill>
                  <a:srgbClr val="FF0000"/>
                </a:solidFill>
                <a:latin typeface="Tahoma" pitchFamily="34" charset="0"/>
              </a:rPr>
              <a:t>??</a:t>
            </a:r>
          </a:p>
        </p:txBody>
      </p:sp>
      <p:pic>
        <p:nvPicPr>
          <p:cNvPr id="11285" name="Segnaposto contenuto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700" y="4051300"/>
            <a:ext cx="207645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86" name="Segnaposto contenuto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05088" y="3619500"/>
            <a:ext cx="6350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7" name="Rettangolo 1"/>
          <p:cNvSpPr>
            <a:spLocks noChangeArrowheads="1"/>
          </p:cNvSpPr>
          <p:nvPr/>
        </p:nvSpPr>
        <p:spPr bwMode="auto">
          <a:xfrm>
            <a:off x="3000375" y="1206500"/>
            <a:ext cx="5048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b="1" dirty="0">
                <a:solidFill>
                  <a:srgbClr val="FF0000"/>
                </a:solidFill>
                <a:latin typeface="Tahoma" pitchFamily="34" charset="0"/>
              </a:rPr>
              <a:t>1</a:t>
            </a:r>
          </a:p>
        </p:txBody>
      </p:sp>
      <p:cxnSp>
        <p:nvCxnSpPr>
          <p:cNvPr id="28" name="Connettore 1 27"/>
          <p:cNvCxnSpPr/>
          <p:nvPr/>
        </p:nvCxnSpPr>
        <p:spPr>
          <a:xfrm>
            <a:off x="5840413" y="2852738"/>
            <a:ext cx="3095625" cy="0"/>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9" name="Stella a 4 punte 28"/>
          <p:cNvSpPr/>
          <p:nvPr/>
        </p:nvSpPr>
        <p:spPr>
          <a:xfrm>
            <a:off x="2411413" y="6237288"/>
            <a:ext cx="215900" cy="215900"/>
          </a:xfrm>
          <a:prstGeom prst="star4">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1290" name="Rettangolo 1"/>
          <p:cNvSpPr>
            <a:spLocks noChangeArrowheads="1"/>
          </p:cNvSpPr>
          <p:nvPr/>
        </p:nvSpPr>
        <p:spPr bwMode="auto">
          <a:xfrm>
            <a:off x="1497013" y="534988"/>
            <a:ext cx="5667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FF0000"/>
                </a:solidFill>
                <a:latin typeface="Tahoma" pitchFamily="34" charset="0"/>
              </a:rPr>
              <a:t>SPL</a:t>
            </a:r>
          </a:p>
        </p:txBody>
      </p:sp>
      <p:sp>
        <p:nvSpPr>
          <p:cNvPr id="11291" name="Rettangolo 1"/>
          <p:cNvSpPr>
            <a:spLocks noChangeArrowheads="1"/>
          </p:cNvSpPr>
          <p:nvPr/>
        </p:nvSpPr>
        <p:spPr bwMode="auto">
          <a:xfrm>
            <a:off x="5794375" y="247650"/>
            <a:ext cx="2228850" cy="33813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it-IT" altLang="it-IT" sz="1600">
              <a:solidFill>
                <a:srgbClr val="FF0000"/>
              </a:solidFill>
              <a:latin typeface="Tahoma" pitchFamily="34" charset="0"/>
            </a:endParaRPr>
          </a:p>
        </p:txBody>
      </p:sp>
      <p:sp>
        <p:nvSpPr>
          <p:cNvPr id="30" name="Ovale 29"/>
          <p:cNvSpPr/>
          <p:nvPr/>
        </p:nvSpPr>
        <p:spPr>
          <a:xfrm>
            <a:off x="7793038" y="4078288"/>
            <a:ext cx="1079500" cy="468312"/>
          </a:xfrm>
          <a:prstGeom prst="ellipse">
            <a:avLst/>
          </a:prstGeom>
          <a:noFill/>
          <a:ln w="127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cxnSp>
        <p:nvCxnSpPr>
          <p:cNvPr id="31" name="Connettore 1 30"/>
          <p:cNvCxnSpPr/>
          <p:nvPr/>
        </p:nvCxnSpPr>
        <p:spPr>
          <a:xfrm>
            <a:off x="5840413" y="3500438"/>
            <a:ext cx="3095625"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1294" name="Rettangolo 1"/>
          <p:cNvSpPr>
            <a:spLocks noChangeArrowheads="1"/>
          </p:cNvSpPr>
          <p:nvPr/>
        </p:nvSpPr>
        <p:spPr bwMode="auto">
          <a:xfrm>
            <a:off x="2657475" y="896938"/>
            <a:ext cx="5048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it-IT" altLang="it-IT" sz="1600" dirty="0">
                <a:solidFill>
                  <a:srgbClr val="000000"/>
                </a:solidFill>
                <a:latin typeface="Tahoma" pitchFamily="34" charset="0"/>
              </a:rPr>
              <a:t>A</a:t>
            </a:r>
          </a:p>
        </p:txBody>
      </p:sp>
      <p:sp>
        <p:nvSpPr>
          <p:cNvPr id="33" name="Ovale 32"/>
          <p:cNvSpPr/>
          <p:nvPr/>
        </p:nvSpPr>
        <p:spPr>
          <a:xfrm>
            <a:off x="3421063" y="5805488"/>
            <a:ext cx="1655762" cy="503237"/>
          </a:xfrm>
          <a:prstGeom prst="ellipse">
            <a:avLst/>
          </a:prstGeom>
          <a:noFill/>
          <a:ln>
            <a:solidFill>
              <a:schemeClr val="tx2">
                <a:lumMod val="50000"/>
                <a:alpha val="99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defRPr/>
            </a:pPr>
            <a:endParaRPr lang="it-IT" b="1" dirty="0">
              <a:solidFill>
                <a:schemeClr val="bg1"/>
              </a:solidFill>
            </a:endParaRPr>
          </a:p>
        </p:txBody>
      </p:sp>
      <p:sp>
        <p:nvSpPr>
          <p:cNvPr id="34" name="Arco 33"/>
          <p:cNvSpPr/>
          <p:nvPr/>
        </p:nvSpPr>
        <p:spPr>
          <a:xfrm rot="16200000">
            <a:off x="7734301" y="4343400"/>
            <a:ext cx="431800" cy="1584325"/>
          </a:xfrm>
          <a:prstGeom prst="arc">
            <a:avLst>
              <a:gd name="adj1" fmla="val 16200000"/>
              <a:gd name="adj2" fmla="val 5649193"/>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it-IT"/>
          </a:p>
        </p:txBody>
      </p:sp>
      <p:sp>
        <p:nvSpPr>
          <p:cNvPr id="35" name="Ovale 34"/>
          <p:cNvSpPr/>
          <p:nvPr/>
        </p:nvSpPr>
        <p:spPr>
          <a:xfrm rot="1601307">
            <a:off x="7932738" y="5060950"/>
            <a:ext cx="309562" cy="503238"/>
          </a:xfrm>
          <a:prstGeom prst="ellipse">
            <a:avLst/>
          </a:prstGeom>
          <a:noFill/>
          <a:ln w="1270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36" name="Stella a 4 punte 35"/>
          <p:cNvSpPr/>
          <p:nvPr/>
        </p:nvSpPr>
        <p:spPr>
          <a:xfrm>
            <a:off x="2411413" y="5734050"/>
            <a:ext cx="215900" cy="215900"/>
          </a:xfrm>
          <a:prstGeom prst="star4">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41" name="Ovale 40"/>
          <p:cNvSpPr/>
          <p:nvPr/>
        </p:nvSpPr>
        <p:spPr>
          <a:xfrm>
            <a:off x="5400675" y="4794250"/>
            <a:ext cx="1511300" cy="360363"/>
          </a:xfrm>
          <a:prstGeom prst="ellipse">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1301" name="Rettangolo 1"/>
          <p:cNvSpPr>
            <a:spLocks noChangeArrowheads="1"/>
          </p:cNvSpPr>
          <p:nvPr/>
        </p:nvSpPr>
        <p:spPr bwMode="auto">
          <a:xfrm>
            <a:off x="3094038" y="144463"/>
            <a:ext cx="1296987" cy="584200"/>
          </a:xfrm>
          <a:prstGeom prst="rect">
            <a:avLst/>
          </a:prstGeom>
          <a:noFill/>
          <a:ln w="254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spcBef>
                <a:spcPct val="0"/>
              </a:spcBef>
              <a:buFontTx/>
              <a:buNone/>
            </a:pPr>
            <a:r>
              <a:rPr lang="it-IT" altLang="it-IT" sz="1600">
                <a:latin typeface="Tahoma" pitchFamily="34" charset="0"/>
              </a:rPr>
              <a:t>Martini,Cap. Embriologia</a:t>
            </a:r>
          </a:p>
        </p:txBody>
      </p:sp>
      <p:sp>
        <p:nvSpPr>
          <p:cNvPr id="11302" name="Rettangolo 1"/>
          <p:cNvSpPr>
            <a:spLocks noChangeArrowheads="1"/>
          </p:cNvSpPr>
          <p:nvPr/>
        </p:nvSpPr>
        <p:spPr bwMode="auto">
          <a:xfrm>
            <a:off x="4211638" y="1200150"/>
            <a:ext cx="1350962" cy="338138"/>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spcBef>
                <a:spcPct val="0"/>
              </a:spcBef>
              <a:buFontTx/>
              <a:buNone/>
            </a:pPr>
            <a:r>
              <a:rPr lang="it-IT" altLang="it-IT" sz="1600">
                <a:solidFill>
                  <a:srgbClr val="FF0000"/>
                </a:solidFill>
                <a:latin typeface="Tahoma" pitchFamily="34" charset="0"/>
              </a:rPr>
              <a:t>MARTINI</a:t>
            </a:r>
          </a:p>
        </p:txBody>
      </p:sp>
      <p:sp>
        <p:nvSpPr>
          <p:cNvPr id="47" name="Ovale 46"/>
          <p:cNvSpPr/>
          <p:nvPr/>
        </p:nvSpPr>
        <p:spPr>
          <a:xfrm rot="16200000">
            <a:off x="3203575" y="4508501"/>
            <a:ext cx="2376487" cy="360362"/>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cxnSp>
        <p:nvCxnSpPr>
          <p:cNvPr id="48" name="Connettore 1 47"/>
          <p:cNvCxnSpPr/>
          <p:nvPr/>
        </p:nvCxnSpPr>
        <p:spPr>
          <a:xfrm>
            <a:off x="4545013" y="3365500"/>
            <a:ext cx="3095625" cy="0"/>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49" name="Ovale 48"/>
          <p:cNvSpPr/>
          <p:nvPr/>
        </p:nvSpPr>
        <p:spPr>
          <a:xfrm rot="16200000">
            <a:off x="8362157" y="6106318"/>
            <a:ext cx="368300" cy="512763"/>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sp>
        <p:nvSpPr>
          <p:cNvPr id="11306" name="Rettangolo 1"/>
          <p:cNvSpPr>
            <a:spLocks noChangeArrowheads="1"/>
          </p:cNvSpPr>
          <p:nvPr/>
        </p:nvSpPr>
        <p:spPr bwMode="auto">
          <a:xfrm>
            <a:off x="8245475" y="66675"/>
            <a:ext cx="863600" cy="338138"/>
          </a:xfrm>
          <a:prstGeom prst="rect">
            <a:avLst/>
          </a:prstGeom>
          <a:noFill/>
          <a:ln w="254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spcBef>
                <a:spcPct val="0"/>
              </a:spcBef>
              <a:buFontTx/>
              <a:buNone/>
            </a:pPr>
            <a:r>
              <a:rPr lang="it-IT" altLang="it-IT" sz="1600">
                <a:latin typeface="Tahoma" pitchFamily="34" charset="0"/>
              </a:rPr>
              <a:t>V3,11</a:t>
            </a:r>
          </a:p>
        </p:txBody>
      </p:sp>
      <p:sp>
        <p:nvSpPr>
          <p:cNvPr id="11307" name="Rettangolo 1"/>
          <p:cNvSpPr>
            <a:spLocks noChangeArrowheads="1"/>
          </p:cNvSpPr>
          <p:nvPr/>
        </p:nvSpPr>
        <p:spPr bwMode="auto">
          <a:xfrm>
            <a:off x="8459788" y="498475"/>
            <a:ext cx="649287" cy="338138"/>
          </a:xfrm>
          <a:prstGeom prst="rect">
            <a:avLst/>
          </a:prstGeom>
          <a:noFill/>
          <a:ln w="25400">
            <a:solidFill>
              <a:srgbClr val="FFF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spcBef>
                <a:spcPct val="0"/>
              </a:spcBef>
              <a:buFontTx/>
              <a:buNone/>
            </a:pPr>
            <a:r>
              <a:rPr lang="it-IT" altLang="it-IT" sz="1600">
                <a:latin typeface="Tahoma" pitchFamily="34" charset="0"/>
              </a:rPr>
              <a:t>342</a:t>
            </a:r>
          </a:p>
        </p:txBody>
      </p:sp>
      <p:sp>
        <p:nvSpPr>
          <p:cNvPr id="52" name="Ovale 51"/>
          <p:cNvSpPr/>
          <p:nvPr/>
        </p:nvSpPr>
        <p:spPr>
          <a:xfrm>
            <a:off x="2843213" y="4810125"/>
            <a:ext cx="2376487" cy="360363"/>
          </a:xfrm>
          <a:prstGeom prst="ellipse">
            <a:avLst/>
          </a:prstGeom>
          <a:noFill/>
          <a:ln>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it-IT"/>
          </a:p>
        </p:txBody>
      </p:sp>
      <p:cxnSp>
        <p:nvCxnSpPr>
          <p:cNvPr id="55" name="Connettore 2 54"/>
          <p:cNvCxnSpPr/>
          <p:nvPr/>
        </p:nvCxnSpPr>
        <p:spPr>
          <a:xfrm flipV="1">
            <a:off x="882650" y="5300663"/>
            <a:ext cx="17463" cy="64293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descr="a0201_03.jpg">
            <a:extLst>
              <a:ext uri="{FF2B5EF4-FFF2-40B4-BE49-F238E27FC236}">
                <a16:creationId xmlns:a16="http://schemas.microsoft.com/office/drawing/2014/main" id="{FBACB63D-AC31-BB8C-A41D-EF2D691AC857}"/>
              </a:ext>
            </a:extLst>
          </p:cNvPr>
          <p:cNvPicPr>
            <a:picLocks noGrp="1" noChangeAspect="1"/>
          </p:cNvPicPr>
          <p:nvPr isPhoto="1"/>
        </p:nvPicPr>
        <p:blipFill>
          <a:blip r:embed="rId3">
            <a:lum/>
          </a:blip>
          <a:srcRect t="83218" r="54167"/>
          <a:stretch>
            <a:fillRect/>
          </a:stretch>
        </p:blipFill>
        <p:spPr>
          <a:xfrm>
            <a:off x="4779680" y="3791557"/>
            <a:ext cx="2805678" cy="489931"/>
          </a:xfrm>
          <a:prstGeom prst="rect">
            <a:avLst/>
          </a:prstGeom>
          <a:noFill/>
          <a:ln>
            <a:noFill/>
          </a:ln>
        </p:spPr>
      </p:pic>
    </p:spTree>
    <p:extLst>
      <p:ext uri="{BB962C8B-B14F-4D97-AF65-F5344CB8AC3E}">
        <p14:creationId xmlns:p14="http://schemas.microsoft.com/office/powerpoint/2010/main" val="20858228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53.jpg"/>
          <p:cNvPicPr>
            <a:picLocks noGrp="1" noChangeAspect="1"/>
          </p:cNvPicPr>
          <p:nvPr isPhoto="1"/>
        </p:nvPicPr>
        <p:blipFill>
          <a:blip r:embed="rId2">
            <a:lum/>
          </a:blip>
          <a:stretch>
            <a:fillRect/>
          </a:stretch>
        </p:blipFill>
        <p:spPr>
          <a:xfrm>
            <a:off x="0" y="1501775"/>
            <a:ext cx="9144000" cy="3852863"/>
          </a:xfrm>
          <a:prstGeom prst="rect">
            <a:avLst/>
          </a:prstGeom>
          <a:noFill/>
          <a:ln>
            <a:noFill/>
          </a:ln>
        </p:spPr>
      </p:pic>
    </p:spTree>
    <p:extLst>
      <p:ext uri="{BB962C8B-B14F-4D97-AF65-F5344CB8AC3E}">
        <p14:creationId xmlns:p14="http://schemas.microsoft.com/office/powerpoint/2010/main" val="3907575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8.jpg"/>
          <p:cNvPicPr>
            <a:picLocks noGrp="1" noChangeAspect="1"/>
          </p:cNvPicPr>
          <p:nvPr isPhoto="1"/>
        </p:nvPicPr>
        <p:blipFill>
          <a:blip r:embed="rId2" cstate="print">
            <a:lum/>
          </a:blip>
          <a:stretch>
            <a:fillRect/>
          </a:stretch>
        </p:blipFill>
        <p:spPr>
          <a:xfrm>
            <a:off x="3127375" y="0"/>
            <a:ext cx="2889250" cy="68580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39.jpg"/>
          <p:cNvPicPr>
            <a:picLocks noGrp="1" noChangeAspect="1"/>
          </p:cNvPicPr>
          <p:nvPr isPhoto="1"/>
        </p:nvPicPr>
        <p:blipFill>
          <a:blip r:embed="rId2">
            <a:lum/>
          </a:blip>
          <a:stretch>
            <a:fillRect/>
          </a:stretch>
        </p:blipFill>
        <p:spPr>
          <a:xfrm>
            <a:off x="508000" y="0"/>
            <a:ext cx="8126413" cy="6858000"/>
          </a:xfrm>
          <a:prstGeom prst="rect">
            <a:avLst/>
          </a:prstGeom>
          <a:noFill/>
          <a:ln>
            <a:noFill/>
          </a:ln>
        </p:spPr>
      </p:pic>
    </p:spTree>
    <p:extLst>
      <p:ext uri="{BB962C8B-B14F-4D97-AF65-F5344CB8AC3E}">
        <p14:creationId xmlns:p14="http://schemas.microsoft.com/office/powerpoint/2010/main" val="2926872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2147.jpg"/>
          <p:cNvPicPr>
            <a:picLocks noGrp="1" noChangeAspect="1"/>
          </p:cNvPicPr>
          <p:nvPr isPhoto="1"/>
        </p:nvPicPr>
        <p:blipFill>
          <a:blip r:embed="rId2">
            <a:lum/>
          </a:blip>
          <a:stretch>
            <a:fillRect/>
          </a:stretch>
        </p:blipFill>
        <p:spPr>
          <a:xfrm>
            <a:off x="1276350" y="0"/>
            <a:ext cx="6589713" cy="68580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949</TotalTime>
  <Words>2224</Words>
  <Application>Microsoft Office PowerPoint</Application>
  <PresentationFormat>Presentazione su schermo (4:3)</PresentationFormat>
  <Paragraphs>387</Paragraphs>
  <Slides>62</Slides>
  <Notes>12</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62</vt:i4>
      </vt:variant>
    </vt:vector>
  </HeadingPairs>
  <TitlesOfParts>
    <vt:vector size="68" baseType="lpstr">
      <vt:lpstr>Aptos</vt:lpstr>
      <vt:lpstr>Arial</vt:lpstr>
      <vt:lpstr>Calibri</vt:lpstr>
      <vt:lpstr>Tahoma</vt:lpstr>
      <vt:lpstr>Wingdings</vt:lpstr>
      <vt:lpstr>Office Theme</vt:lpstr>
      <vt:lpstr>COLONNA VERTEBRALE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UNCOARTROSI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MOBILITA’ DEL COLLO</vt:lpstr>
      <vt:lpstr>Presentazione standard di PowerPoint</vt:lpstr>
      <vt:lpstr>Presentazione standard di PowerPoint</vt:lpstr>
      <vt:lpstr>Presentazione standard di PowerPoint</vt:lpstr>
      <vt:lpstr>Presentazione standard di PowerPoint</vt:lpstr>
      <vt:lpstr>MUSCOLI MOTORI DELLA TESTA E DEL COLLO</vt:lpstr>
      <vt:lpstr>Presentazione standard di PowerPoint</vt:lpstr>
      <vt:lpstr>M. (ANT) «LATERALI» superficiali</vt:lpstr>
      <vt:lpstr>Presentazione standard di PowerPoint</vt:lpstr>
      <vt:lpstr>Presentazione standard di PowerPoint</vt:lpstr>
      <vt:lpstr>Presentazione standard di PowerPoint</vt:lpstr>
      <vt:lpstr>Presentazione standard di PowerPoint</vt:lpstr>
      <vt:lpstr>M. Anteriori Profondi (PREVERTEBRALI)</vt:lpstr>
      <vt:lpstr>Presentazione standard di PowerPoint</vt:lpstr>
      <vt:lpstr>MUSCOLI MOTORI DELLA TESTA E DEL COLLO</vt:lpstr>
      <vt:lpstr>M. (ANT) «LATERALI» superficiali</vt:lpstr>
      <vt:lpstr>Presentazione standard di PowerPoint</vt:lpstr>
      <vt:lpstr>Presentazione standard di PowerPoint</vt:lpstr>
      <vt:lpstr>M. SCALENI</vt:lpstr>
      <vt:lpstr>Presentazione standard di PowerPoint</vt:lpstr>
      <vt:lpstr>Presentazione standard di PowerPoint</vt:lpstr>
      <vt:lpstr>MUSCOLI MOTORI DELLA TESTA E DEL COLLO</vt:lpstr>
      <vt:lpstr>Presentazione standard di PowerPoint</vt:lpstr>
      <vt:lpstr>M. SPLENIO della TESTA e del COLLO</vt:lpstr>
      <vt:lpstr>M. SPINODORSALI C.V. (PROFONDI)</vt:lpstr>
      <vt:lpstr>SEMISPINALE, SPINALE, MULTIFIDO, ROTATORI</vt:lpstr>
      <vt:lpstr>Presentazione standard di PowerPoint</vt:lpstr>
      <vt:lpstr>M. SUBOCCIPITALI</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RUPAM</dc:creator>
  <cp:lastModifiedBy>gabriella cusella</cp:lastModifiedBy>
  <cp:revision>11</cp:revision>
  <dcterms:created xsi:type="dcterms:W3CDTF">2021-08-03T06:06:02Z</dcterms:created>
  <dcterms:modified xsi:type="dcterms:W3CDTF">2026-02-23T12:39:30Z</dcterms:modified>
</cp:coreProperties>
</file>