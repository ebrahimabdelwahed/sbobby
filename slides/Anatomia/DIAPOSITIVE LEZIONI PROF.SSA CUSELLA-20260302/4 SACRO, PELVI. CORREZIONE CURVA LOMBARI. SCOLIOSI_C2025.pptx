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8"/>
  </p:notesMasterIdLst>
  <p:handoutMasterIdLst>
    <p:handoutMasterId r:id="rId49"/>
  </p:handoutMasterIdLst>
  <p:sldIdLst>
    <p:sldId id="967" r:id="rId2"/>
    <p:sldId id="882" r:id="rId3"/>
    <p:sldId id="1037" r:id="rId4"/>
    <p:sldId id="887" r:id="rId5"/>
    <p:sldId id="1042" r:id="rId6"/>
    <p:sldId id="1076" r:id="rId7"/>
    <p:sldId id="893" r:id="rId8"/>
    <p:sldId id="907" r:id="rId9"/>
    <p:sldId id="1050" r:id="rId10"/>
    <p:sldId id="1031" r:id="rId11"/>
    <p:sldId id="946" r:id="rId12"/>
    <p:sldId id="1077" r:id="rId13"/>
    <p:sldId id="1078" r:id="rId14"/>
    <p:sldId id="1030" r:id="rId15"/>
    <p:sldId id="1079" r:id="rId16"/>
    <p:sldId id="1054" r:id="rId17"/>
    <p:sldId id="945" r:id="rId18"/>
    <p:sldId id="1053" r:id="rId19"/>
    <p:sldId id="921" r:id="rId20"/>
    <p:sldId id="1025" r:id="rId21"/>
    <p:sldId id="1051" r:id="rId22"/>
    <p:sldId id="922" r:id="rId23"/>
    <p:sldId id="1056" r:id="rId24"/>
    <p:sldId id="1032" r:id="rId25"/>
    <p:sldId id="1080" r:id="rId26"/>
    <p:sldId id="968" r:id="rId27"/>
    <p:sldId id="1073" r:id="rId28"/>
    <p:sldId id="1074" r:id="rId29"/>
    <p:sldId id="1072" r:id="rId30"/>
    <p:sldId id="970" r:id="rId31"/>
    <p:sldId id="1021" r:id="rId32"/>
    <p:sldId id="1070" r:id="rId33"/>
    <p:sldId id="1023" r:id="rId34"/>
    <p:sldId id="1071" r:id="rId35"/>
    <p:sldId id="1024" r:id="rId36"/>
    <p:sldId id="1069" r:id="rId37"/>
    <p:sldId id="825" r:id="rId38"/>
    <p:sldId id="1075" r:id="rId39"/>
    <p:sldId id="943" r:id="rId40"/>
    <p:sldId id="1048" r:id="rId41"/>
    <p:sldId id="1049" r:id="rId42"/>
    <p:sldId id="1055" r:id="rId43"/>
    <p:sldId id="1057" r:id="rId44"/>
    <p:sldId id="1058" r:id="rId45"/>
    <p:sldId id="957" r:id="rId46"/>
    <p:sldId id="1043" r:id="rId47"/>
  </p:sldIdLst>
  <p:sldSz cx="9144000" cy="6858000" type="screen4x3"/>
  <p:notesSz cx="7104063" cy="10234613"/>
  <p:custDataLst>
    <p:tags r:id="rId50"/>
  </p:custDataLst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6397" autoAdjust="0"/>
    <p:restoredTop sz="98934" autoAdjust="0"/>
  </p:normalViewPr>
  <p:slideViewPr>
    <p:cSldViewPr>
      <p:cViewPr>
        <p:scale>
          <a:sx n="70" d="100"/>
          <a:sy n="70" d="100"/>
        </p:scale>
        <p:origin x="2742" y="9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7182"/>
    </p:cViewPr>
  </p:sorterViewPr>
  <p:notesViewPr>
    <p:cSldViewPr>
      <p:cViewPr varScale="1">
        <p:scale>
          <a:sx n="83" d="100"/>
          <a:sy n="83" d="100"/>
        </p:scale>
        <p:origin x="2010" y="84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1175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 eaLnBrk="1" hangingPunct="1">
              <a:defRPr sz="1300">
                <a:latin typeface="Tahoma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1175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 eaLnBrk="1" hangingPunct="1">
              <a:defRPr sz="1300">
                <a:latin typeface="Tahoma" charset="0"/>
              </a:defRPr>
            </a:lvl1pPr>
          </a:lstStyle>
          <a:p>
            <a:pPr>
              <a:defRPr/>
            </a:pPr>
            <a:fld id="{F52EBC37-54D7-451D-AA3B-5E7F95970F0F}" type="datetimeFigureOut">
              <a:rPr lang="it-IT"/>
              <a:pPr>
                <a:defRPr/>
              </a:pPr>
              <a:t>16/02/2026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1175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 eaLnBrk="1" hangingPunct="1">
              <a:defRPr sz="1300">
                <a:latin typeface="Tahoma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1175"/>
          </a:xfrm>
          <a:prstGeom prst="rect">
            <a:avLst/>
          </a:prstGeom>
        </p:spPr>
        <p:txBody>
          <a:bodyPr vert="horz" wrap="square" lIns="99075" tIns="49538" rIns="99075" bIns="4953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DB519066-4086-491A-97A6-AC431A615F5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34767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1175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 eaLnBrk="1" hangingPunct="1">
              <a:defRPr sz="1300">
                <a:latin typeface="Tahoma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1175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 eaLnBrk="1" hangingPunct="1">
              <a:defRPr sz="1300">
                <a:latin typeface="Tahoma" charset="0"/>
              </a:defRPr>
            </a:lvl1pPr>
          </a:lstStyle>
          <a:p>
            <a:pPr>
              <a:defRPr/>
            </a:pPr>
            <a:fld id="{BAFD0C04-404C-4831-9435-D9F4F84B0949}" type="datetimeFigureOut">
              <a:rPr lang="it-IT"/>
              <a:pPr>
                <a:defRPr/>
              </a:pPr>
              <a:t>16/02/2026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pPr lv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11200" y="4860925"/>
            <a:ext cx="5683250" cy="4605338"/>
          </a:xfrm>
          <a:prstGeom prst="rect">
            <a:avLst/>
          </a:prstGeom>
        </p:spPr>
        <p:txBody>
          <a:bodyPr vert="horz" lIns="99075" tIns="49538" rIns="99075" bIns="49538" rtlCol="0">
            <a:normAutofit/>
          </a:bodyPr>
          <a:lstStyle/>
          <a:p>
            <a:pPr lvl="0"/>
            <a:r>
              <a:rPr lang="it-IT" noProof="0"/>
              <a:t>Fare clic per modificare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1175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 eaLnBrk="1" hangingPunct="1">
              <a:defRPr sz="1300">
                <a:latin typeface="Tahoma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1175"/>
          </a:xfrm>
          <a:prstGeom prst="rect">
            <a:avLst/>
          </a:prstGeom>
        </p:spPr>
        <p:txBody>
          <a:bodyPr vert="horz" wrap="square" lIns="99075" tIns="49538" rIns="99075" bIns="4953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FA168837-61CE-464D-85EC-72E3FB196E0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075259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it.wikipedia.org/wiki/Sinostosi" TargetMode="External"/><Relationship Id="rId3" Type="http://schemas.openxmlformats.org/officeDocument/2006/relationships/hyperlink" Target="https://it.wikipedia.org/w/index.php?title=Articolazione&amp;veaction=edit&amp;section=6" TargetMode="External"/><Relationship Id="rId7" Type="http://schemas.openxmlformats.org/officeDocument/2006/relationships/hyperlink" Target="https://it.wikipedia.org/wiki/Sterno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it.wikipedia.org/wiki/Vertebra" TargetMode="External"/><Relationship Id="rId5" Type="http://schemas.openxmlformats.org/officeDocument/2006/relationships/hyperlink" Target="https://it.wikipedia.org/wiki/Sinfisi_pubica" TargetMode="External"/><Relationship Id="rId4" Type="http://schemas.openxmlformats.org/officeDocument/2006/relationships/hyperlink" Target="https://it.wikipedia.org/w/index.php?title=Articolazione&amp;action=edit&amp;section=6" TargetMode="External"/><Relationship Id="rId9" Type="http://schemas.openxmlformats.org/officeDocument/2006/relationships/hyperlink" Target="https://it.wikipedia.org/wiki/Anfiartrosi" TargetMode="Externa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it.wikipedia.org/wiki/Sinostosi" TargetMode="External"/><Relationship Id="rId3" Type="http://schemas.openxmlformats.org/officeDocument/2006/relationships/hyperlink" Target="https://it.wikipedia.org/w/index.php?title=Articolazione&amp;veaction=edit&amp;section=6" TargetMode="External"/><Relationship Id="rId7" Type="http://schemas.openxmlformats.org/officeDocument/2006/relationships/hyperlink" Target="https://it.wikipedia.org/wiki/Sterno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it.wikipedia.org/wiki/Vertebra" TargetMode="External"/><Relationship Id="rId5" Type="http://schemas.openxmlformats.org/officeDocument/2006/relationships/hyperlink" Target="https://it.wikipedia.org/wiki/Sinfisi_pubica" TargetMode="External"/><Relationship Id="rId4" Type="http://schemas.openxmlformats.org/officeDocument/2006/relationships/hyperlink" Target="https://it.wikipedia.org/w/index.php?title=Articolazione&amp;action=edit&amp;section=6" TargetMode="External"/><Relationship Id="rId9" Type="http://schemas.openxmlformats.org/officeDocument/2006/relationships/hyperlink" Target="https://it.wikipedia.org/wiki/Anfiartrosi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 b="1"/>
              <a:t>Sinfisi</a:t>
            </a:r>
            <a:r>
              <a:rPr lang="it-IT" altLang="it-IT"/>
              <a:t>[</a:t>
            </a:r>
            <a:r>
              <a:rPr lang="it-IT" altLang="it-IT">
                <a:hlinkClick r:id="rId3" tooltip="Modifica la sezione Sinfisi"/>
              </a:rPr>
              <a:t>modifica</a:t>
            </a:r>
            <a:r>
              <a:rPr lang="it-IT" altLang="it-IT"/>
              <a:t> | </a:t>
            </a:r>
            <a:r>
              <a:rPr lang="it-IT" altLang="it-IT">
                <a:hlinkClick r:id="rId4" tooltip="Modifica la sezione Sinfisi"/>
              </a:rPr>
              <a:t>modifica wikitesto</a:t>
            </a:r>
            <a:r>
              <a:rPr lang="it-IT" altLang="it-IT"/>
              <a:t>]</a:t>
            </a:r>
            <a:endParaRPr lang="it-IT" altLang="it-IT" b="1"/>
          </a:p>
          <a:p>
            <a:r>
              <a:rPr lang="it-IT" altLang="it-IT"/>
              <a:t>Le </a:t>
            </a:r>
            <a:r>
              <a:rPr lang="it-IT" altLang="it-IT" i="1"/>
              <a:t>sinfisi</a:t>
            </a:r>
            <a:r>
              <a:rPr lang="it-IT" altLang="it-IT"/>
              <a:t> presentano un disco fibrocartilagineo di connessione, le superfici articolari delle ossa a contatto con il disco fibrocartilagineo della sinfisi sono rivestite da cartilagine ialina. Esempi sono la </a:t>
            </a:r>
            <a:r>
              <a:rPr lang="it-IT" altLang="it-IT">
                <a:hlinkClick r:id="rId5" tooltip="Sinfisi pubica"/>
              </a:rPr>
              <a:t>sinfisi pubica</a:t>
            </a:r>
            <a:r>
              <a:rPr lang="it-IT" altLang="it-IT"/>
              <a:t> e mentoniera, l'articolazione tra i corpi delle </a:t>
            </a:r>
            <a:r>
              <a:rPr lang="it-IT" altLang="it-IT">
                <a:hlinkClick r:id="rId6" tooltip="Vertebra"/>
              </a:rPr>
              <a:t>vertebre</a:t>
            </a:r>
            <a:r>
              <a:rPr lang="it-IT" altLang="it-IT"/>
              <a:t> (anfiartrosi) e quella tra il manubrio e il corpo dello </a:t>
            </a:r>
            <a:r>
              <a:rPr lang="it-IT" altLang="it-IT">
                <a:hlinkClick r:id="rId7" tooltip="Sterno"/>
              </a:rPr>
              <a:t>sterno</a:t>
            </a:r>
            <a:r>
              <a:rPr lang="it-IT" altLang="it-IT"/>
              <a:t>. La maggior parte delle sinfisi non va incontro a </a:t>
            </a:r>
            <a:r>
              <a:rPr lang="it-IT" altLang="it-IT">
                <a:hlinkClick r:id="rId8" tooltip="Sinostosi"/>
              </a:rPr>
              <a:t>sinostosi</a:t>
            </a:r>
            <a:r>
              <a:rPr lang="it-IT" altLang="it-IT"/>
              <a:t>, sussistono tuttavia alcune eccezioni.</a:t>
            </a:r>
          </a:p>
          <a:p>
            <a:endParaRPr lang="it-IT" altLang="it-IT"/>
          </a:p>
          <a:p>
            <a:r>
              <a:rPr lang="it-IT" altLang="it-IT"/>
              <a:t>Le </a:t>
            </a:r>
            <a:r>
              <a:rPr lang="it-IT" altLang="it-IT" u="sng">
                <a:hlinkClick r:id="rId9"/>
              </a:rPr>
              <a:t>anfiartrosi</a:t>
            </a:r>
            <a:r>
              <a:rPr lang="it-IT" altLang="it-IT" u="sng"/>
              <a:t> </a:t>
            </a:r>
            <a:r>
              <a:rPr lang="it-IT" altLang="it-IT"/>
              <a:t>includono le </a:t>
            </a:r>
            <a:r>
              <a:rPr lang="it-IT" altLang="it-IT" i="1"/>
              <a:t>sinfisi</a:t>
            </a:r>
            <a:r>
              <a:rPr lang="it-IT" altLang="it-IT"/>
              <a:t>, e sono articolazioni ipomobili, ossia con limitate possibilità di movimento.</a:t>
            </a:r>
          </a:p>
        </p:txBody>
      </p:sp>
      <p:sp>
        <p:nvSpPr>
          <p:cNvPr id="20484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804863" indent="-3095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238250" indent="-2476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733550" indent="-2476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228850" indent="-2476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86050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143250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600450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57650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043BDC2-8D35-4984-B99F-7ECC42C05EF6}" type="slidenum">
              <a:rPr lang="it-IT" altLang="it-IT" smtClean="0"/>
              <a:pPr/>
              <a:t>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72012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91B2E-CCD7-C04C-06F3-D22A89669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egnaposto immagine diapositiva 1">
            <a:extLst>
              <a:ext uri="{FF2B5EF4-FFF2-40B4-BE49-F238E27FC236}">
                <a16:creationId xmlns:a16="http://schemas.microsoft.com/office/drawing/2014/main" id="{760998DC-E31D-5951-9513-C55F03553F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Segnaposto note 2">
            <a:extLst>
              <a:ext uri="{FF2B5EF4-FFF2-40B4-BE49-F238E27FC236}">
                <a16:creationId xmlns:a16="http://schemas.microsoft.com/office/drawing/2014/main" id="{9201761B-1536-D0BC-72CB-00B975FC99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 b="1"/>
              <a:t>Sinfisi</a:t>
            </a:r>
            <a:r>
              <a:rPr lang="it-IT" altLang="it-IT"/>
              <a:t>[</a:t>
            </a:r>
            <a:r>
              <a:rPr lang="it-IT" altLang="it-IT">
                <a:hlinkClick r:id="rId3" tooltip="Modifica la sezione Sinfisi"/>
              </a:rPr>
              <a:t>modifica</a:t>
            </a:r>
            <a:r>
              <a:rPr lang="it-IT" altLang="it-IT"/>
              <a:t> | </a:t>
            </a:r>
            <a:r>
              <a:rPr lang="it-IT" altLang="it-IT">
                <a:hlinkClick r:id="rId4" tooltip="Modifica la sezione Sinfisi"/>
              </a:rPr>
              <a:t>modifica wikitesto</a:t>
            </a:r>
            <a:r>
              <a:rPr lang="it-IT" altLang="it-IT"/>
              <a:t>]</a:t>
            </a:r>
            <a:endParaRPr lang="it-IT" altLang="it-IT" b="1"/>
          </a:p>
          <a:p>
            <a:r>
              <a:rPr lang="it-IT" altLang="it-IT"/>
              <a:t>Le </a:t>
            </a:r>
            <a:r>
              <a:rPr lang="it-IT" altLang="it-IT" i="1"/>
              <a:t>sinfisi</a:t>
            </a:r>
            <a:r>
              <a:rPr lang="it-IT" altLang="it-IT"/>
              <a:t> presentano un disco fibrocartilagineo di connessione, le superfici articolari delle ossa a contatto con il disco fibrocartilagineo della sinfisi sono rivestite da cartilagine ialina. Esempi sono la </a:t>
            </a:r>
            <a:r>
              <a:rPr lang="it-IT" altLang="it-IT">
                <a:hlinkClick r:id="rId5" tooltip="Sinfisi pubica"/>
              </a:rPr>
              <a:t>sinfisi pubica</a:t>
            </a:r>
            <a:r>
              <a:rPr lang="it-IT" altLang="it-IT"/>
              <a:t> e mentoniera, l'articolazione tra i corpi delle </a:t>
            </a:r>
            <a:r>
              <a:rPr lang="it-IT" altLang="it-IT">
                <a:hlinkClick r:id="rId6" tooltip="Vertebra"/>
              </a:rPr>
              <a:t>vertebre</a:t>
            </a:r>
            <a:r>
              <a:rPr lang="it-IT" altLang="it-IT"/>
              <a:t> (anfiartrosi) e quella tra il manubrio e il corpo dello </a:t>
            </a:r>
            <a:r>
              <a:rPr lang="it-IT" altLang="it-IT">
                <a:hlinkClick r:id="rId7" tooltip="Sterno"/>
              </a:rPr>
              <a:t>sterno</a:t>
            </a:r>
            <a:r>
              <a:rPr lang="it-IT" altLang="it-IT"/>
              <a:t>. La maggior parte delle sinfisi non va incontro a </a:t>
            </a:r>
            <a:r>
              <a:rPr lang="it-IT" altLang="it-IT">
                <a:hlinkClick r:id="rId8" tooltip="Sinostosi"/>
              </a:rPr>
              <a:t>sinostosi</a:t>
            </a:r>
            <a:r>
              <a:rPr lang="it-IT" altLang="it-IT"/>
              <a:t>, sussistono tuttavia alcune eccezioni.</a:t>
            </a:r>
          </a:p>
          <a:p>
            <a:endParaRPr lang="it-IT" altLang="it-IT"/>
          </a:p>
          <a:p>
            <a:r>
              <a:rPr lang="it-IT" altLang="it-IT"/>
              <a:t>Le </a:t>
            </a:r>
            <a:r>
              <a:rPr lang="it-IT" altLang="it-IT" u="sng">
                <a:hlinkClick r:id="rId9"/>
              </a:rPr>
              <a:t>anfiartrosi</a:t>
            </a:r>
            <a:r>
              <a:rPr lang="it-IT" altLang="it-IT" u="sng"/>
              <a:t> </a:t>
            </a:r>
            <a:r>
              <a:rPr lang="it-IT" altLang="it-IT"/>
              <a:t>includono le </a:t>
            </a:r>
            <a:r>
              <a:rPr lang="it-IT" altLang="it-IT" i="1"/>
              <a:t>sinfisi</a:t>
            </a:r>
            <a:r>
              <a:rPr lang="it-IT" altLang="it-IT"/>
              <a:t>, e sono articolazioni ipomobili, ossia con limitate possibilità di movimento.</a:t>
            </a:r>
          </a:p>
        </p:txBody>
      </p:sp>
      <p:sp>
        <p:nvSpPr>
          <p:cNvPr id="20484" name="Segnaposto numero diapositiva 3">
            <a:extLst>
              <a:ext uri="{FF2B5EF4-FFF2-40B4-BE49-F238E27FC236}">
                <a16:creationId xmlns:a16="http://schemas.microsoft.com/office/drawing/2014/main" id="{CE6800AD-EFBC-CBC8-1CE0-2E8F28812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804863" indent="-3095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238250" indent="-2476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733550" indent="-2476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228850" indent="-2476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86050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143250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600450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57650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043BDC2-8D35-4984-B99F-7ECC42C05EF6}" type="slidenum">
              <a:rPr lang="it-IT" altLang="it-IT" smtClean="0"/>
              <a:pPr/>
              <a:t>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6763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3C3168-F469-4C64-B19C-26A74433CC7B}" type="slidenum">
              <a:rPr lang="en-GB" altLang="it-IT" sz="13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GB" altLang="it-IT" sz="1300">
              <a:latin typeface="Arial" panose="020B0604020202020204" pitchFamily="3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it-IT" altLang="it-IT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307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2DEC0-1F3E-A056-E7B6-F7C69FF0D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D6241C0F-6CA6-D14D-6EF0-011D8A4F45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3C3168-F469-4C64-B19C-26A74433CC7B}" type="slidenum">
              <a:rPr lang="en-GB" altLang="it-IT" sz="13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GB" altLang="it-IT" sz="1300">
              <a:latin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1E74CD6B-DAB1-45FD-FBC8-B345C66CA2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A91515E6-DA67-8677-9AF4-3A1611AEE9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it-IT" altLang="it-IT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745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C5528-0DC8-CFC5-C2D7-3EE848DA0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278267B9-B2E7-12AF-A589-050D0F4AED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3C3168-F469-4C64-B19C-26A74433CC7B}" type="slidenum">
              <a:rPr lang="en-GB" altLang="it-IT" sz="13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GB" altLang="it-IT" sz="1300">
              <a:latin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C324D14-4106-0322-BCDE-7D773514ED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0692BB09-522F-0BE6-9BD9-090DD1B953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it-IT" altLang="it-IT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160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26463-6B0A-9183-5611-32AE5ED0C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egnaposto immagine diapositiva 1">
            <a:extLst>
              <a:ext uri="{FF2B5EF4-FFF2-40B4-BE49-F238E27FC236}">
                <a16:creationId xmlns:a16="http://schemas.microsoft.com/office/drawing/2014/main" id="{6DE39403-9AAE-E3F4-485D-9ACD7D2EC0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Segnaposto note 2">
            <a:extLst>
              <a:ext uri="{FF2B5EF4-FFF2-40B4-BE49-F238E27FC236}">
                <a16:creationId xmlns:a16="http://schemas.microsoft.com/office/drawing/2014/main" id="{4D4B3B9C-33FE-3A67-9F5C-5205A16593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t-IT" altLang="it-IT" dirty="0"/>
          </a:p>
        </p:txBody>
      </p:sp>
      <p:sp>
        <p:nvSpPr>
          <p:cNvPr id="44036" name="Segnaposto numero diapositiva 3">
            <a:extLst>
              <a:ext uri="{FF2B5EF4-FFF2-40B4-BE49-F238E27FC236}">
                <a16:creationId xmlns:a16="http://schemas.microsoft.com/office/drawing/2014/main" id="{A4B754DA-939E-0F26-1F94-8F67404F1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pitchFamily="34" charset="0"/>
              </a:defRPr>
            </a:lvl1pPr>
            <a:lvl2pPr marL="804763" indent="-309524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pitchFamily="34" charset="0"/>
              </a:defRPr>
            </a:lvl2pPr>
            <a:lvl3pPr marL="1238098" indent="-24762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pitchFamily="34" charset="0"/>
              </a:defRPr>
            </a:lvl3pPr>
            <a:lvl4pPr marL="1733337" indent="-24762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pitchFamily="34" charset="0"/>
              </a:defRPr>
            </a:lvl4pPr>
            <a:lvl5pPr marL="2228576" indent="-24762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pitchFamily="34" charset="0"/>
              </a:defRPr>
            </a:lvl5pPr>
            <a:lvl6pPr marL="2723815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itchFamily="34" charset="0"/>
              </a:defRPr>
            </a:lvl6pPr>
            <a:lvl7pPr marL="3219054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itchFamily="34" charset="0"/>
              </a:defRPr>
            </a:lvl7pPr>
            <a:lvl8pPr marL="3714293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itchFamily="34" charset="0"/>
              </a:defRPr>
            </a:lvl8pPr>
            <a:lvl9pPr marL="4209532" indent="-24762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29A1658-A065-40A7-898B-B718357F3265}" type="slidenum">
              <a:rPr lang="it-IT" altLang="it-IT" smtClean="0">
                <a:latin typeface="Tahoma" charset="0"/>
              </a:rPr>
              <a:pPr eaLnBrk="1" hangingPunct="1">
                <a:spcBef>
                  <a:spcPct val="0"/>
                </a:spcBef>
              </a:pPr>
              <a:t>36</a:t>
            </a:fld>
            <a:endParaRPr lang="it-IT" altLang="it-IT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302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t-IT" altLang="it-IT" dirty="0"/>
          </a:p>
        </p:txBody>
      </p:sp>
      <p:sp>
        <p:nvSpPr>
          <p:cNvPr id="44036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29A1658-A065-40A7-898B-B718357F3265}" type="slidenum">
              <a:rPr lang="it-IT" altLang="it-IT" smtClean="0">
                <a:latin typeface="Tahoma" charset="0"/>
              </a:rPr>
              <a:pPr eaLnBrk="1" hangingPunct="1">
                <a:spcBef>
                  <a:spcPct val="0"/>
                </a:spcBef>
              </a:pPr>
              <a:t>37</a:t>
            </a:fld>
            <a:endParaRPr lang="it-IT" altLang="it-IT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75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0700" y="5949950"/>
            <a:ext cx="8953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567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3156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2799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68313" y="1989138"/>
            <a:ext cx="4038600" cy="367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59313" y="1989138"/>
            <a:ext cx="4038600" cy="367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0107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90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1464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1108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896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7022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608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38925" y="274638"/>
            <a:ext cx="2058988" cy="5394325"/>
          </a:xfrm>
          <a:prstGeom prst="rect">
            <a:avLst/>
          </a:prstGeom>
        </p:spPr>
        <p:txBody>
          <a:bodyPr vert="eaVert"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535005"/>
            <a:ext cx="6029325" cy="5394325"/>
          </a:xfrm>
        </p:spPr>
        <p:txBody>
          <a:bodyPr vert="eaVert"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2014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457200" y="785794"/>
            <a:ext cx="8240713" cy="5394325"/>
          </a:xfrm>
        </p:spPr>
        <p:txBody>
          <a:bodyPr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1661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1_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457200" y="677881"/>
            <a:ext cx="8240713" cy="5394325"/>
          </a:xfrm>
        </p:spPr>
        <p:txBody>
          <a:bodyPr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7270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AndTx">
  <p:cSld name="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it-IT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it-IT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25032A0-F103-458B-981B-84BE22204670}" type="slidenum">
              <a:rPr lang="en-GB" altLang="it-IT"/>
              <a:pPr>
                <a:defRPr/>
              </a:pPr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4114680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6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989138"/>
            <a:ext cx="8229600" cy="367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Text Box 6"/>
          <p:cNvSpPr txBox="1">
            <a:spLocks noChangeArrowheads="1"/>
          </p:cNvSpPr>
          <p:nvPr userDrawn="1"/>
        </p:nvSpPr>
        <p:spPr bwMode="auto">
          <a:xfrm>
            <a:off x="323850" y="115888"/>
            <a:ext cx="849630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de-DE" altLang="it-IT" sz="1400" i="1"/>
              <a:t>Michael Schüenke, Erik Schulte, Udo Schumacher </a:t>
            </a:r>
            <a:r>
              <a:rPr lang="it-IT" altLang="it-IT" sz="1400" i="1"/>
              <a:t>– Prometheus - Testo Atlante di Anatomia  - 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it-IT" altLang="it-IT" sz="1400" i="1"/>
              <a:t>Anatomia Generale e Apparato Locomotore – Capitolo 2.1</a:t>
            </a:r>
          </a:p>
        </p:txBody>
      </p:sp>
      <p:pic>
        <p:nvPicPr>
          <p:cNvPr id="1030" name="Picture 8" descr="logo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0700" y="5949950"/>
            <a:ext cx="8953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6212" r:id="rId1"/>
    <p:sldLayoutId id="2147486213" r:id="rId2"/>
    <p:sldLayoutId id="2147486214" r:id="rId3"/>
    <p:sldLayoutId id="2147486215" r:id="rId4"/>
    <p:sldLayoutId id="2147486216" r:id="rId5"/>
    <p:sldLayoutId id="2147486217" r:id="rId6"/>
    <p:sldLayoutId id="2147486218" r:id="rId7"/>
    <p:sldLayoutId id="2147486219" r:id="rId8"/>
    <p:sldLayoutId id="2147486220" r:id="rId9"/>
    <p:sldLayoutId id="2147486221" r:id="rId10"/>
    <p:sldLayoutId id="2147486222" r:id="rId11"/>
    <p:sldLayoutId id="2147486223" r:id="rId12"/>
    <p:sldLayoutId id="2147486224" r:id="rId13"/>
    <p:sldLayoutId id="2147486225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10" Type="http://schemas.openxmlformats.org/officeDocument/2006/relationships/image" Target="../media/image20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10" Type="http://schemas.openxmlformats.org/officeDocument/2006/relationships/image" Target="../media/image20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10" Type="http://schemas.openxmlformats.org/officeDocument/2006/relationships/image" Target="../media/image20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it/url?sa=i&amp;rct=j&amp;q=&amp;esrc=s&amp;source=images&amp;cd=&amp;cad=rja&amp;uact=8&amp;ved=0ahUKEwj_7KPo48vPAhUBlBQKHWvgAc0QjRwIBw&amp;url=http://www.pmi.it/impresa/contabilita-e-fisco/news/129179/controlli-fiscali-in-pausa-estiva.html&amp;psig=AFQjCNE7_fGoO2bDGxWdTV3QiMozwwjz6g&amp;ust=147603445344318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eg"/><Relationship Id="rId13" Type="http://schemas.openxmlformats.org/officeDocument/2006/relationships/hyperlink" Target="http://www.google.it/url?sa=i&amp;rct=j&amp;q=&amp;esrc=s&amp;source=images&amp;cd=&amp;cad=rja&amp;uact=8&amp;ved=0ahUKEwj_7KPo48vPAhUBlBQKHWvgAc0QjRwIBw&amp;url=http://www.pmi.it/impresa/contabilita-e-fisco/news/129179/controlli-fiscali-in-pausa-estiva.html&amp;psig=AFQjCNE7_fGoO2bDGxWdTV3QiMozwwjz6g&amp;ust=1476034453443183" TargetMode="External"/><Relationship Id="rId3" Type="http://schemas.openxmlformats.org/officeDocument/2006/relationships/hyperlink" Target="http://www.google.it/url?sa=i&amp;rct=j&amp;q=&amp;esrc=s&amp;source=images&amp;cd=&amp;cad=rja&amp;uact=8&amp;ved=0ahUKEwivk_Tj4svPAhWDtBQKHaAaCT4QjRwIBw&amp;url=http://nonsolomusicaericette.it/pausa-caffe-immagini-bellissime-frasi/&amp;psig=AFQjCNE7_fGoO2bDGxWdTV3QiMozwwjz6g&amp;ust=1476034453443183" TargetMode="External"/><Relationship Id="rId7" Type="http://schemas.openxmlformats.org/officeDocument/2006/relationships/hyperlink" Target="http://www.google.it/url?sa=i&amp;rct=j&amp;q=&amp;esrc=s&amp;source=images&amp;cd=&amp;cad=rja&amp;uact=8&amp;ved=0ahUKEwjW_smd48vPAhVEQBQKHaR0BjQQjRwIBw&amp;url=http://it.123rf.com/clipart-vettori/pausa_caffe.html&amp;psig=AFQjCNE7_fGoO2bDGxWdTV3QiMozwwjz6g&amp;ust=1476034453443183" TargetMode="External"/><Relationship Id="rId12" Type="http://schemas.openxmlformats.org/officeDocument/2006/relationships/image" Target="../media/image5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jpeg"/><Relationship Id="rId11" Type="http://schemas.openxmlformats.org/officeDocument/2006/relationships/hyperlink" Target="http://www.google.it/url?sa=i&amp;rct=j&amp;q=&amp;esrc=s&amp;source=images&amp;cd=&amp;cad=rja&amp;uact=8&amp;ved=0ahUKEwjfldzN48vPAhVJuhQKHWYdC9UQjRwIBw&amp;url=http://scienzaesalute.blogosfere.it/post/500548/lavoro-la-pausa-caffe-aiuta-la-produttivita&amp;psig=AFQjCNE7_fGoO2bDGxWdTV3QiMozwwjz6g&amp;ust=1476034453443183" TargetMode="External"/><Relationship Id="rId5" Type="http://schemas.openxmlformats.org/officeDocument/2006/relationships/hyperlink" Target="http://www.google.it/url?sa=i&amp;rct=j&amp;q=&amp;esrc=s&amp;source=images&amp;cd=&amp;cad=rja&amp;uact=8&amp;ved=0ahUKEwivk_Tj4svPAhWDtBQKHaAaCT4QjRwIBw&amp;url=http://scelteperamore.myblog.it/&amp;psig=AFQjCNE7_fGoO2bDGxWdTV3QiMozwwjz6g&amp;ust=1476034453443183" TargetMode="External"/><Relationship Id="rId10" Type="http://schemas.openxmlformats.org/officeDocument/2006/relationships/image" Target="../media/image58.jpeg"/><Relationship Id="rId4" Type="http://schemas.openxmlformats.org/officeDocument/2006/relationships/image" Target="../media/image55.jpeg"/><Relationship Id="rId9" Type="http://schemas.openxmlformats.org/officeDocument/2006/relationships/hyperlink" Target="http://www.google.it/url?sa=i&amp;rct=j&amp;q=&amp;esrc=s&amp;source=images&amp;cd=&amp;cad=rja&amp;uact=8&amp;ved=0ahUKEwjqoK6u48vPAhXF6RQKHUemD0gQjRwIBw&amp;url=http://it.123rf.com/archivio-fotografico/pausa_caffe.html&amp;psig=AFQjCNE7_fGoO2bDGxWdTV3QiMozwwjz6g&amp;ust=1476034453443183" TargetMode="External"/><Relationship Id="rId14" Type="http://schemas.openxmlformats.org/officeDocument/2006/relationships/image" Target="../media/image54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3.png"/><Relationship Id="rId4" Type="http://schemas.openxmlformats.org/officeDocument/2006/relationships/oleObject" Target="../embeddings/oleObject8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3U6aKcSnHw" TargetMode="External"/><Relationship Id="rId2" Type="http://schemas.openxmlformats.org/officeDocument/2006/relationships/hyperlink" Target="https://www.youtube.com/watch?v=4K2TMs5ff-w" TargetMode="Externa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Z93F03p5OY" TargetMode="External"/><Relationship Id="rId2" Type="http://schemas.openxmlformats.org/officeDocument/2006/relationships/hyperlink" Target="https://www.youtube.com/watch?v=z3QkdfOuASI&amp;feature=emb_rel_en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kcPq81KMIQ" TargetMode="External"/><Relationship Id="rId2" Type="http://schemas.openxmlformats.org/officeDocument/2006/relationships/hyperlink" Target="https://www.youtube.com/watch?v=NEaxyqKuOUU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ottotito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Biomeccanica della Pelvi</a:t>
            </a:r>
          </a:p>
        </p:txBody>
      </p:sp>
      <p:sp>
        <p:nvSpPr>
          <p:cNvPr id="4" name="Titolo 3"/>
          <p:cNvSpPr>
            <a:spLocks noGrp="1"/>
          </p:cNvSpPr>
          <p:nvPr>
            <p:ph type="title" idx="4294967295"/>
          </p:nvPr>
        </p:nvSpPr>
        <p:spPr>
          <a:xfrm>
            <a:off x="395288" y="1844675"/>
            <a:ext cx="8229600" cy="16478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it-IT" dirty="0"/>
              <a:t>PARTE «FISSA» DELLA CV:</a:t>
            </a:r>
            <a:br>
              <a:rPr lang="it-IT" dirty="0"/>
            </a:br>
            <a:r>
              <a:rPr lang="it-IT" dirty="0"/>
              <a:t>OSSO SACRO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Segnaposto contenuto 3" descr="pg114_a.gif"/>
          <p:cNvPicPr>
            <a:picLocks noGrp="1" noChangeAspect="1"/>
          </p:cNvPicPr>
          <p:nvPr>
            <p:ph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1" t="3969" r="14149" b="22578"/>
          <a:stretch/>
        </p:blipFill>
        <p:spPr>
          <a:xfrm>
            <a:off x="230837" y="181349"/>
            <a:ext cx="6334925" cy="6495302"/>
          </a:xfrm>
        </p:spPr>
      </p:pic>
      <p:sp>
        <p:nvSpPr>
          <p:cNvPr id="3" name="Rettangolo 1"/>
          <p:cNvSpPr>
            <a:spLocks noChangeArrowheads="1"/>
          </p:cNvSpPr>
          <p:nvPr/>
        </p:nvSpPr>
        <p:spPr bwMode="auto">
          <a:xfrm>
            <a:off x="5916474" y="183236"/>
            <a:ext cx="649288" cy="338137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it-IT" altLang="it-IT" sz="1600" dirty="0">
                <a:solidFill>
                  <a:srgbClr val="0070C0"/>
                </a:solidFill>
              </a:rPr>
              <a:t>114</a:t>
            </a:r>
          </a:p>
        </p:txBody>
      </p:sp>
      <p:pic>
        <p:nvPicPr>
          <p:cNvPr id="4" name="Segnaposto contenuto 3" descr="pg115_e.gif">
            <a:extLst>
              <a:ext uri="{FF2B5EF4-FFF2-40B4-BE49-F238E27FC236}">
                <a16:creationId xmlns:a16="http://schemas.microsoft.com/office/drawing/2014/main" id="{5EC7EE6C-1200-4EB6-8DDE-5A24DBD6DC2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9" t="2658" r="7344" b="31933"/>
          <a:stretch/>
        </p:blipFill>
        <p:spPr bwMode="auto">
          <a:xfrm>
            <a:off x="5436096" y="4131709"/>
            <a:ext cx="3569539" cy="2534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tangolo 1">
            <a:extLst>
              <a:ext uri="{FF2B5EF4-FFF2-40B4-BE49-F238E27FC236}">
                <a16:creationId xmlns:a16="http://schemas.microsoft.com/office/drawing/2014/main" id="{0A06CE4D-B5D0-4EB7-620B-6D9D5EADE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079" y="4137140"/>
            <a:ext cx="3713555" cy="252946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it-IT" altLang="it-IT" sz="1600">
              <a:solidFill>
                <a:srgbClr val="FF0000"/>
              </a:solidFill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7286" y="292893"/>
            <a:ext cx="6662738" cy="629564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ttangolo 1"/>
          <p:cNvSpPr>
            <a:spLocks noChangeArrowheads="1"/>
          </p:cNvSpPr>
          <p:nvPr/>
        </p:nvSpPr>
        <p:spPr bwMode="auto">
          <a:xfrm>
            <a:off x="8200737" y="309582"/>
            <a:ext cx="649287" cy="338138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>
                <a:solidFill>
                  <a:srgbClr val="0070C0"/>
                </a:solidFill>
              </a:rPr>
              <a:t>114</a:t>
            </a:r>
          </a:p>
        </p:txBody>
      </p:sp>
      <p:pic>
        <p:nvPicPr>
          <p:cNvPr id="3" name="Segnaposto contenuto 3" descr="pg106_a.gif">
            <a:extLst>
              <a:ext uri="{FF2B5EF4-FFF2-40B4-BE49-F238E27FC236}">
                <a16:creationId xmlns:a16="http://schemas.microsoft.com/office/drawing/2014/main" id="{FD162957-CE96-02CF-0EAA-3C51D26CBB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9" t="7582" r="9257" b="27892"/>
          <a:stretch>
            <a:fillRect/>
          </a:stretch>
        </p:blipFill>
        <p:spPr bwMode="auto">
          <a:xfrm>
            <a:off x="199368" y="4445899"/>
            <a:ext cx="3466271" cy="2142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ttangolo 1">
            <a:extLst>
              <a:ext uri="{FF2B5EF4-FFF2-40B4-BE49-F238E27FC236}">
                <a16:creationId xmlns:a16="http://schemas.microsoft.com/office/drawing/2014/main" id="{23B70AC4-94D4-C88E-DF57-7F1D9EF20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804" y="4445897"/>
            <a:ext cx="3647115" cy="214264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it-IT" altLang="it-IT" sz="1600">
              <a:solidFill>
                <a:srgbClr val="FF0000"/>
              </a:solidFill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Segnaposto contenuto 3" descr="pg138_b.gif"/>
          <p:cNvPicPr>
            <a:picLocks noGrp="1" noChangeAspect="1"/>
          </p:cNvPicPr>
          <p:nvPr>
            <p:ph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4" t="754" r="36512" b="24613"/>
          <a:stretch>
            <a:fillRect/>
          </a:stretch>
        </p:blipFill>
        <p:spPr>
          <a:xfrm>
            <a:off x="1691679" y="44623"/>
            <a:ext cx="5760641" cy="6768753"/>
          </a:xfrm>
        </p:spPr>
      </p:pic>
      <p:sp>
        <p:nvSpPr>
          <p:cNvPr id="3" name="Rettangolo 1"/>
          <p:cNvSpPr>
            <a:spLocks noChangeArrowheads="1"/>
          </p:cNvSpPr>
          <p:nvPr/>
        </p:nvSpPr>
        <p:spPr bwMode="auto">
          <a:xfrm>
            <a:off x="6799341" y="47442"/>
            <a:ext cx="649287" cy="338138"/>
          </a:xfrm>
          <a:prstGeom prst="rect">
            <a:avLst/>
          </a:prstGeom>
          <a:solidFill>
            <a:schemeClr val="tx1"/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it-IT" altLang="it-IT" sz="1600" dirty="0">
                <a:solidFill>
                  <a:schemeClr val="accent4">
                    <a:lumMod val="10000"/>
                  </a:schemeClr>
                </a:solidFill>
              </a:rPr>
              <a:t>138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Segnaposto contenuto 3" descr="pg143_c.gif"/>
          <p:cNvPicPr>
            <a:picLocks noGrp="1" noChangeAspect="1"/>
          </p:cNvPicPr>
          <p:nvPr>
            <p:ph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6" t="7158" r="14485" b="59127"/>
          <a:stretch/>
        </p:blipFill>
        <p:spPr>
          <a:xfrm>
            <a:off x="1187624" y="764704"/>
            <a:ext cx="6840761" cy="5760640"/>
          </a:xfrm>
        </p:spPr>
      </p:pic>
      <p:sp>
        <p:nvSpPr>
          <p:cNvPr id="3" name="Rettangolo 1"/>
          <p:cNvSpPr>
            <a:spLocks noChangeArrowheads="1"/>
          </p:cNvSpPr>
          <p:nvPr/>
        </p:nvSpPr>
        <p:spPr bwMode="auto">
          <a:xfrm>
            <a:off x="8316416" y="188640"/>
            <a:ext cx="649287" cy="338554"/>
          </a:xfrm>
          <a:prstGeom prst="rect">
            <a:avLst/>
          </a:prstGeom>
          <a:solidFill>
            <a:schemeClr val="tx1"/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it-IT" altLang="it-IT" sz="1600" dirty="0">
                <a:solidFill>
                  <a:schemeClr val="accent4">
                    <a:lumMod val="10000"/>
                  </a:schemeClr>
                </a:solidFill>
              </a:rPr>
              <a:t>535</a:t>
            </a:r>
          </a:p>
        </p:txBody>
      </p:sp>
      <p:sp>
        <p:nvSpPr>
          <p:cNvPr id="4" name="Rettangolo 1">
            <a:extLst>
              <a:ext uri="{FF2B5EF4-FFF2-40B4-BE49-F238E27FC236}">
                <a16:creationId xmlns:a16="http://schemas.microsoft.com/office/drawing/2014/main" id="{10AAEC79-34BD-9682-EC79-7132D436F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170773"/>
            <a:ext cx="2228850" cy="46166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2400" dirty="0">
                <a:solidFill>
                  <a:srgbClr val="FF0000"/>
                </a:solidFill>
                <a:latin typeface="Tahoma" pitchFamily="34" charset="0"/>
              </a:rPr>
              <a:t>ANFIARTROSI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F8B1F5-E43E-BCEB-DFC6-986897C0F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Segnaposto contenuto 3" descr="pg138_b.gif">
            <a:extLst>
              <a:ext uri="{FF2B5EF4-FFF2-40B4-BE49-F238E27FC236}">
                <a16:creationId xmlns:a16="http://schemas.microsoft.com/office/drawing/2014/main" id="{424C6FDB-BC9C-4D51-13F9-A2BB08A40DDE}"/>
              </a:ext>
            </a:extLst>
          </p:cNvPr>
          <p:cNvPicPr>
            <a:picLocks noGrp="1" noChangeAspect="1"/>
          </p:cNvPicPr>
          <p:nvPr>
            <p:ph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09" t="20604" r="3048" b="47638"/>
          <a:stretch>
            <a:fillRect/>
          </a:stretch>
        </p:blipFill>
        <p:spPr>
          <a:xfrm>
            <a:off x="1698881" y="692696"/>
            <a:ext cx="5746238" cy="5472608"/>
          </a:xfrm>
        </p:spPr>
      </p:pic>
      <p:sp>
        <p:nvSpPr>
          <p:cNvPr id="3" name="Rettangolo 1">
            <a:extLst>
              <a:ext uri="{FF2B5EF4-FFF2-40B4-BE49-F238E27FC236}">
                <a16:creationId xmlns:a16="http://schemas.microsoft.com/office/drawing/2014/main" id="{0DFCB228-9F3F-5D4E-3211-678066B00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5832" y="692696"/>
            <a:ext cx="649287" cy="338138"/>
          </a:xfrm>
          <a:prstGeom prst="rect">
            <a:avLst/>
          </a:prstGeom>
          <a:solidFill>
            <a:schemeClr val="tx1"/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it-IT" altLang="it-IT" sz="1600" dirty="0">
                <a:solidFill>
                  <a:schemeClr val="accent4">
                    <a:lumMod val="10000"/>
                  </a:schemeClr>
                </a:solidFill>
              </a:rPr>
              <a:t>138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0CBA47C3-82AC-B0D9-AC40-D19942903B26}"/>
              </a:ext>
            </a:extLst>
          </p:cNvPr>
          <p:cNvSpPr/>
          <p:nvPr/>
        </p:nvSpPr>
        <p:spPr>
          <a:xfrm>
            <a:off x="2843808" y="3356992"/>
            <a:ext cx="1512168" cy="108012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03A666A3-20AF-83AD-2931-8107D67AFE36}"/>
              </a:ext>
            </a:extLst>
          </p:cNvPr>
          <p:cNvSpPr/>
          <p:nvPr/>
        </p:nvSpPr>
        <p:spPr>
          <a:xfrm>
            <a:off x="3203848" y="1772816"/>
            <a:ext cx="2808312" cy="1584176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9050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Segnaposto contenuto 3" descr="pg142_a.gif"/>
          <p:cNvPicPr>
            <a:picLocks noGrp="1" noChangeAspect="1"/>
          </p:cNvPicPr>
          <p:nvPr>
            <p:ph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1" t="10731" r="3308" b="28243"/>
          <a:stretch/>
        </p:blipFill>
        <p:spPr>
          <a:xfrm>
            <a:off x="0" y="908719"/>
            <a:ext cx="9144000" cy="4940710"/>
          </a:xfrm>
        </p:spPr>
      </p:pic>
      <p:sp>
        <p:nvSpPr>
          <p:cNvPr id="3" name="Rettangolo 1"/>
          <p:cNvSpPr>
            <a:spLocks noChangeArrowheads="1"/>
          </p:cNvSpPr>
          <p:nvPr/>
        </p:nvSpPr>
        <p:spPr bwMode="auto">
          <a:xfrm>
            <a:off x="8363932" y="188640"/>
            <a:ext cx="649287" cy="338138"/>
          </a:xfrm>
          <a:prstGeom prst="rect">
            <a:avLst/>
          </a:prstGeom>
          <a:solidFill>
            <a:schemeClr val="tx1"/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it-IT" altLang="it-IT" sz="1600" dirty="0">
                <a:solidFill>
                  <a:schemeClr val="accent4">
                    <a:lumMod val="10000"/>
                  </a:schemeClr>
                </a:solidFill>
              </a:rPr>
              <a:t>142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19737B63-3D34-1185-FC65-3B483BD3259D}"/>
              </a:ext>
            </a:extLst>
          </p:cNvPr>
          <p:cNvSpPr/>
          <p:nvPr/>
        </p:nvSpPr>
        <p:spPr>
          <a:xfrm>
            <a:off x="8244408" y="2780928"/>
            <a:ext cx="803090" cy="648072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4E639845-1558-3064-B460-D7E72D8F4E8D}"/>
              </a:ext>
            </a:extLst>
          </p:cNvPr>
          <p:cNvSpPr/>
          <p:nvPr/>
        </p:nvSpPr>
        <p:spPr>
          <a:xfrm>
            <a:off x="4716016" y="2852936"/>
            <a:ext cx="720080" cy="504056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Segnaposto contenuto 3" descr="pg142_b.gif"/>
          <p:cNvPicPr>
            <a:picLocks noGrp="1" noChangeAspect="1"/>
          </p:cNvPicPr>
          <p:nvPr>
            <p:ph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1" b="26573"/>
          <a:stretch/>
        </p:blipFill>
        <p:spPr>
          <a:xfrm>
            <a:off x="1043781" y="188640"/>
            <a:ext cx="7056438" cy="6480720"/>
          </a:xfrm>
        </p:spPr>
      </p:pic>
      <p:sp>
        <p:nvSpPr>
          <p:cNvPr id="26627" name="Rettangolo 1"/>
          <p:cNvSpPr>
            <a:spLocks noChangeArrowheads="1"/>
          </p:cNvSpPr>
          <p:nvPr/>
        </p:nvSpPr>
        <p:spPr bwMode="auto">
          <a:xfrm>
            <a:off x="1042987" y="910911"/>
            <a:ext cx="1800821" cy="58477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b="1" dirty="0">
                <a:solidFill>
                  <a:srgbClr val="FF0000"/>
                </a:solidFill>
              </a:rPr>
              <a:t>NUTAZIONE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b="1" dirty="0">
                <a:solidFill>
                  <a:srgbClr val="FF0000"/>
                </a:solidFill>
              </a:rPr>
              <a:t>ANTI</a:t>
            </a:r>
            <a:r>
              <a:rPr lang="it-IT" altLang="it-IT" sz="1600" dirty="0">
                <a:solidFill>
                  <a:srgbClr val="FF0000"/>
                </a:solidFill>
              </a:rPr>
              <a:t>-VERSIONE</a:t>
            </a:r>
          </a:p>
        </p:txBody>
      </p:sp>
      <p:sp>
        <p:nvSpPr>
          <p:cNvPr id="26628" name="Rettangolo 1"/>
          <p:cNvSpPr>
            <a:spLocks noChangeArrowheads="1"/>
          </p:cNvSpPr>
          <p:nvPr/>
        </p:nvSpPr>
        <p:spPr bwMode="auto">
          <a:xfrm>
            <a:off x="5655295" y="911923"/>
            <a:ext cx="2444130" cy="58477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b="1" dirty="0">
                <a:solidFill>
                  <a:srgbClr val="FF0000"/>
                </a:solidFill>
              </a:rPr>
              <a:t>CONTRO-NUTAZIONE</a:t>
            </a:r>
            <a:r>
              <a:rPr lang="it-IT" altLang="it-IT" sz="1600" dirty="0">
                <a:solidFill>
                  <a:srgbClr val="FF0000"/>
                </a:solidFill>
              </a:rPr>
              <a:t> </a:t>
            </a:r>
            <a:r>
              <a:rPr lang="it-IT" altLang="it-IT" sz="1600" b="1" dirty="0">
                <a:solidFill>
                  <a:srgbClr val="FF0000"/>
                </a:solidFill>
              </a:rPr>
              <a:t>RETRO</a:t>
            </a:r>
            <a:r>
              <a:rPr lang="it-IT" altLang="it-IT" sz="1600" dirty="0">
                <a:solidFill>
                  <a:srgbClr val="FF0000"/>
                </a:solidFill>
              </a:rPr>
              <a:t>-VERSIONE</a:t>
            </a:r>
          </a:p>
        </p:txBody>
      </p:sp>
      <p:sp>
        <p:nvSpPr>
          <p:cNvPr id="5" name="Rettangolo 1"/>
          <p:cNvSpPr>
            <a:spLocks noChangeArrowheads="1"/>
          </p:cNvSpPr>
          <p:nvPr/>
        </p:nvSpPr>
        <p:spPr bwMode="auto">
          <a:xfrm>
            <a:off x="7450138" y="212144"/>
            <a:ext cx="649287" cy="338137"/>
          </a:xfrm>
          <a:prstGeom prst="rect">
            <a:avLst/>
          </a:prstGeom>
          <a:solidFill>
            <a:schemeClr val="tx1"/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it-IT" altLang="it-IT" sz="1600" dirty="0">
                <a:solidFill>
                  <a:schemeClr val="accent4">
                    <a:lumMod val="10000"/>
                  </a:schemeClr>
                </a:solidFill>
              </a:rPr>
              <a:t>138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3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950" y="1484313"/>
            <a:ext cx="8974138" cy="5329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vale 3"/>
          <p:cNvSpPr/>
          <p:nvPr/>
        </p:nvSpPr>
        <p:spPr>
          <a:xfrm>
            <a:off x="6804025" y="1700411"/>
            <a:ext cx="2254250" cy="1152525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07950" y="115888"/>
            <a:ext cx="8950325" cy="151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buFont typeface="Wingdings" panose="05000000000000000000" pitchFamily="2" charset="2"/>
              <a:buNone/>
              <a:defRPr/>
            </a:pPr>
            <a:r>
              <a:rPr lang="en-GB" altLang="it-IT" kern="0" dirty="0" err="1"/>
              <a:t>Antiversione</a:t>
            </a:r>
            <a:r>
              <a:rPr lang="en-GB" altLang="it-IT" kern="0" dirty="0"/>
              <a:t>         </a:t>
            </a:r>
            <a:r>
              <a:rPr lang="en-GB" altLang="it-IT" kern="0" dirty="0">
                <a:solidFill>
                  <a:srgbClr val="FFFF00"/>
                </a:solidFill>
              </a:rPr>
              <a:t>ANGOLO      </a:t>
            </a:r>
            <a:r>
              <a:rPr lang="en-GB" altLang="it-IT" kern="0" dirty="0"/>
              <a:t>  </a:t>
            </a:r>
            <a:r>
              <a:rPr lang="en-GB" altLang="it-IT" kern="0" dirty="0" err="1"/>
              <a:t>Retroversione</a:t>
            </a:r>
            <a:endParaRPr lang="en-GB" altLang="it-IT" kern="0" dirty="0"/>
          </a:p>
          <a:p>
            <a:pPr marL="0" indent="0" algn="ctr" eaLnBrk="1" hangingPunct="1">
              <a:buFont typeface="Wingdings" panose="05000000000000000000" pitchFamily="2" charset="2"/>
              <a:buNone/>
              <a:defRPr/>
            </a:pPr>
            <a:r>
              <a:rPr lang="en-GB" altLang="it-IT" kern="0" dirty="0" err="1"/>
              <a:t>diminuisce</a:t>
            </a:r>
            <a:r>
              <a:rPr lang="en-GB" altLang="it-IT" kern="0" dirty="0"/>
              <a:t>    </a:t>
            </a:r>
            <a:r>
              <a:rPr lang="en-GB" altLang="it-IT" kern="0" dirty="0">
                <a:solidFill>
                  <a:srgbClr val="FFFF00"/>
                </a:solidFill>
              </a:rPr>
              <a:t>LOMBOSACRALE</a:t>
            </a:r>
            <a:r>
              <a:rPr lang="en-GB" altLang="it-IT" kern="0" dirty="0"/>
              <a:t>        </a:t>
            </a:r>
            <a:r>
              <a:rPr lang="en-GB" altLang="it-IT" kern="0" dirty="0" err="1"/>
              <a:t>aumenta</a:t>
            </a:r>
            <a:endParaRPr lang="en-GB" altLang="it-IT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6" descr="Dinamicostatic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125538"/>
            <a:ext cx="8856662" cy="534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sz="3600" dirty="0"/>
              <a:t>Fenotipo STATICO / DINAMICO</a:t>
            </a:r>
          </a:p>
        </p:txBody>
      </p:sp>
      <p:cxnSp>
        <p:nvCxnSpPr>
          <p:cNvPr id="4" name="Connettore 1 3"/>
          <p:cNvCxnSpPr/>
          <p:nvPr/>
        </p:nvCxnSpPr>
        <p:spPr>
          <a:xfrm>
            <a:off x="7308850" y="4365625"/>
            <a:ext cx="1727200" cy="2109788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/>
          <p:cNvCxnSpPr/>
          <p:nvPr/>
        </p:nvCxnSpPr>
        <p:spPr>
          <a:xfrm>
            <a:off x="323850" y="4868863"/>
            <a:ext cx="2087563" cy="1223962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e 5"/>
          <p:cNvSpPr/>
          <p:nvPr/>
        </p:nvSpPr>
        <p:spPr>
          <a:xfrm>
            <a:off x="4211638" y="5240338"/>
            <a:ext cx="1728787" cy="1235075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5950" y="260350"/>
            <a:ext cx="7958138" cy="984250"/>
          </a:xfrm>
        </p:spPr>
        <p:txBody>
          <a:bodyPr/>
          <a:lstStyle/>
          <a:p>
            <a:pPr eaLnBrk="1" hangingPunct="1">
              <a:defRPr/>
            </a:pPr>
            <a:r>
              <a:rPr lang="it-IT" altLang="it-IT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INFLUENZA DELLA MUSCOLATURA</a:t>
            </a:r>
            <a:br>
              <a:rPr lang="it-IT" altLang="it-IT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it-IT" altLang="it-IT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SULLA LORDOSI LOMBARE</a:t>
            </a:r>
          </a:p>
        </p:txBody>
      </p:sp>
      <p:pic>
        <p:nvPicPr>
          <p:cNvPr id="91139" name="Picture 3" descr="antero-retro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238250"/>
            <a:ext cx="6985000" cy="550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0" name="Picture 4" descr="mm l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171700"/>
            <a:ext cx="10334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1" name="Picture 5" descr="m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063" y="5297488"/>
            <a:ext cx="785812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2" name="Picture 6" descr="m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5516563"/>
            <a:ext cx="13081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3" name="Picture 7" descr="m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5961063"/>
            <a:ext cx="1527175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4" name="Picture 8" descr="mm ad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2420938"/>
            <a:ext cx="1581150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5" name="Picture 9" descr="mm ileop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508500"/>
            <a:ext cx="2016125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6" name="Picture 10" descr="glu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6092825"/>
            <a:ext cx="836613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7" name="AutoShape 11"/>
          <p:cNvSpPr>
            <a:spLocks noChangeArrowheads="1"/>
          </p:cNvSpPr>
          <p:nvPr/>
        </p:nvSpPr>
        <p:spPr bwMode="auto">
          <a:xfrm>
            <a:off x="4284663" y="4005263"/>
            <a:ext cx="358775" cy="360362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>
              <a:alpha val="30196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91148" name="Line 12"/>
          <p:cNvSpPr>
            <a:spLocks noChangeShapeType="1"/>
          </p:cNvSpPr>
          <p:nvPr/>
        </p:nvSpPr>
        <p:spPr bwMode="auto">
          <a:xfrm flipV="1">
            <a:off x="3348038" y="3357563"/>
            <a:ext cx="534987" cy="647700"/>
          </a:xfrm>
          <a:prstGeom prst="line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1149" name="Rectangle 13"/>
          <p:cNvSpPr>
            <a:spLocks noChangeArrowheads="1"/>
          </p:cNvSpPr>
          <p:nvPr/>
        </p:nvSpPr>
        <p:spPr bwMode="auto">
          <a:xfrm>
            <a:off x="1187450" y="1230312"/>
            <a:ext cx="1296988" cy="6064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 dirty="0">
                <a:latin typeface="Arial" panose="020B0604020202020204" pitchFamily="34" charset="0"/>
              </a:rPr>
              <a:t>ANTI-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 dirty="0">
                <a:latin typeface="Arial" panose="020B0604020202020204" pitchFamily="34" charset="0"/>
              </a:rPr>
              <a:t>VERSIONE</a:t>
            </a:r>
          </a:p>
        </p:txBody>
      </p:sp>
      <p:sp>
        <p:nvSpPr>
          <p:cNvPr id="91151" name="Rectangle 15"/>
          <p:cNvSpPr>
            <a:spLocks noChangeArrowheads="1"/>
          </p:cNvSpPr>
          <p:nvPr/>
        </p:nvSpPr>
        <p:spPr bwMode="auto">
          <a:xfrm>
            <a:off x="6443663" y="1230312"/>
            <a:ext cx="1727200" cy="6064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it-IT" sz="1800" dirty="0">
                <a:latin typeface="Arial" charset="0"/>
              </a:rPr>
              <a:t>RETRO-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it-IT" sz="1800" dirty="0">
                <a:latin typeface="Arial" charset="0"/>
              </a:rPr>
              <a:t>VERSIONE</a:t>
            </a:r>
          </a:p>
        </p:txBody>
      </p:sp>
      <p:sp>
        <p:nvSpPr>
          <p:cNvPr id="91152" name="Rectangle 16"/>
          <p:cNvSpPr>
            <a:spLocks noChangeArrowheads="1"/>
          </p:cNvSpPr>
          <p:nvPr/>
        </p:nvSpPr>
        <p:spPr bwMode="auto">
          <a:xfrm>
            <a:off x="1187450" y="6381750"/>
            <a:ext cx="2160588" cy="3603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it-IT" sz="1800" dirty="0">
                <a:latin typeface="Arial" charset="0"/>
              </a:rPr>
              <a:t>RETRO-VERSIONE</a:t>
            </a:r>
          </a:p>
        </p:txBody>
      </p:sp>
      <p:sp>
        <p:nvSpPr>
          <p:cNvPr id="2" name="Rectangle 13">
            <a:extLst>
              <a:ext uri="{FF2B5EF4-FFF2-40B4-BE49-F238E27FC236}">
                <a16:creationId xmlns:a16="http://schemas.microsoft.com/office/drawing/2014/main" id="{0085826C-4427-4400-FC0F-71B37528B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737" y="6381750"/>
            <a:ext cx="2016126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 dirty="0">
                <a:latin typeface="Arial" panose="020B0604020202020204" pitchFamily="34" charset="0"/>
              </a:rPr>
              <a:t>ANTI-VERSIONE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1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1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1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1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1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9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1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1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1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1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1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1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1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1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1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1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9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9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7" grpId="0" animBg="1"/>
      <p:bldP spid="91149" grpId="0" animBg="1"/>
      <p:bldP spid="91151" grpId="0" animBg="1"/>
      <p:bldP spid="91152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797AC70-C1E7-EC0F-E076-A0901DDDB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865D867-8B7E-A594-CB64-13D6402C6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5950" y="260350"/>
            <a:ext cx="7958138" cy="984250"/>
          </a:xfrm>
        </p:spPr>
        <p:txBody>
          <a:bodyPr/>
          <a:lstStyle/>
          <a:p>
            <a:pPr eaLnBrk="1" hangingPunct="1">
              <a:defRPr/>
            </a:pPr>
            <a:r>
              <a:rPr lang="it-IT" altLang="it-IT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INFLUENZA DELLA MUSCOLATURA</a:t>
            </a:r>
            <a:br>
              <a:rPr lang="it-IT" altLang="it-IT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it-IT" altLang="it-IT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SULLA LORDOSI LOMBARE</a:t>
            </a:r>
          </a:p>
        </p:txBody>
      </p:sp>
      <p:pic>
        <p:nvPicPr>
          <p:cNvPr id="91139" name="Picture 3" descr="antero-retrov">
            <a:extLst>
              <a:ext uri="{FF2B5EF4-FFF2-40B4-BE49-F238E27FC236}">
                <a16:creationId xmlns:a16="http://schemas.microsoft.com/office/drawing/2014/main" id="{F71DE761-AFA0-46A2-93C8-F4B0CB7D7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238250"/>
            <a:ext cx="6985000" cy="550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0" name="Picture 4" descr="mm lom">
            <a:extLst>
              <a:ext uri="{FF2B5EF4-FFF2-40B4-BE49-F238E27FC236}">
                <a16:creationId xmlns:a16="http://schemas.microsoft.com/office/drawing/2014/main" id="{C201E2C1-2AE6-98A5-7759-A5A7B1AE7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171700"/>
            <a:ext cx="10334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1" name="Picture 5" descr="m 1">
            <a:extLst>
              <a:ext uri="{FF2B5EF4-FFF2-40B4-BE49-F238E27FC236}">
                <a16:creationId xmlns:a16="http://schemas.microsoft.com/office/drawing/2014/main" id="{677095AE-28FD-0A93-D4CB-A4703C1C3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063" y="5297488"/>
            <a:ext cx="785812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2" name="Picture 6" descr="m2">
            <a:extLst>
              <a:ext uri="{FF2B5EF4-FFF2-40B4-BE49-F238E27FC236}">
                <a16:creationId xmlns:a16="http://schemas.microsoft.com/office/drawing/2014/main" id="{F56B153E-D97A-084F-0E33-50B12B6F5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5516563"/>
            <a:ext cx="13081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3" name="Picture 7" descr="m3">
            <a:extLst>
              <a:ext uri="{FF2B5EF4-FFF2-40B4-BE49-F238E27FC236}">
                <a16:creationId xmlns:a16="http://schemas.microsoft.com/office/drawing/2014/main" id="{51ED9554-95E8-1FFB-8934-A6A33D40D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5961063"/>
            <a:ext cx="1527175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4" name="Picture 8" descr="mm add">
            <a:extLst>
              <a:ext uri="{FF2B5EF4-FFF2-40B4-BE49-F238E27FC236}">
                <a16:creationId xmlns:a16="http://schemas.microsoft.com/office/drawing/2014/main" id="{59E25AB9-42BA-0AB2-FA3D-3D7DEE000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2420938"/>
            <a:ext cx="1581150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5" name="Picture 9" descr="mm ileop">
            <a:extLst>
              <a:ext uri="{FF2B5EF4-FFF2-40B4-BE49-F238E27FC236}">
                <a16:creationId xmlns:a16="http://schemas.microsoft.com/office/drawing/2014/main" id="{CA3099FF-5342-E002-CB7D-BFAB533C8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508500"/>
            <a:ext cx="2016125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6" name="Picture 10" descr="glu">
            <a:extLst>
              <a:ext uri="{FF2B5EF4-FFF2-40B4-BE49-F238E27FC236}">
                <a16:creationId xmlns:a16="http://schemas.microsoft.com/office/drawing/2014/main" id="{9ADCC8AD-DFC2-FC4B-2E5F-3C7479ED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6092825"/>
            <a:ext cx="836613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7" name="AutoShape 11">
            <a:extLst>
              <a:ext uri="{FF2B5EF4-FFF2-40B4-BE49-F238E27FC236}">
                <a16:creationId xmlns:a16="http://schemas.microsoft.com/office/drawing/2014/main" id="{D7D3016D-F38C-4A0A-5B92-F1325E992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4005263"/>
            <a:ext cx="358775" cy="360362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>
              <a:alpha val="30196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91148" name="Line 12">
            <a:extLst>
              <a:ext uri="{FF2B5EF4-FFF2-40B4-BE49-F238E27FC236}">
                <a16:creationId xmlns:a16="http://schemas.microsoft.com/office/drawing/2014/main" id="{F5F6F96A-9FD9-FAA0-98E9-AD29491770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8038" y="3357563"/>
            <a:ext cx="534987" cy="647700"/>
          </a:xfrm>
          <a:prstGeom prst="line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1149" name="Rectangle 13">
            <a:extLst>
              <a:ext uri="{FF2B5EF4-FFF2-40B4-BE49-F238E27FC236}">
                <a16:creationId xmlns:a16="http://schemas.microsoft.com/office/drawing/2014/main" id="{030F9711-27C4-AC6B-76F9-406BC48AE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230312"/>
            <a:ext cx="1296988" cy="6064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 dirty="0">
                <a:latin typeface="Arial" panose="020B0604020202020204" pitchFamily="34" charset="0"/>
              </a:rPr>
              <a:t>ANTI-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 dirty="0">
                <a:latin typeface="Arial" panose="020B0604020202020204" pitchFamily="34" charset="0"/>
              </a:rPr>
              <a:t>VERSIONE</a:t>
            </a:r>
          </a:p>
        </p:txBody>
      </p:sp>
      <p:sp>
        <p:nvSpPr>
          <p:cNvPr id="91151" name="Rectangle 15">
            <a:extLst>
              <a:ext uri="{FF2B5EF4-FFF2-40B4-BE49-F238E27FC236}">
                <a16:creationId xmlns:a16="http://schemas.microsoft.com/office/drawing/2014/main" id="{44ED9969-8759-D194-2B49-510C8DC29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1230312"/>
            <a:ext cx="1727200" cy="6064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it-IT" sz="1800" dirty="0">
                <a:latin typeface="Arial" charset="0"/>
              </a:rPr>
              <a:t>RETRO-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it-IT" sz="1800" dirty="0">
                <a:latin typeface="Arial" charset="0"/>
              </a:rPr>
              <a:t>VERSIONE</a:t>
            </a:r>
          </a:p>
        </p:txBody>
      </p:sp>
      <p:sp>
        <p:nvSpPr>
          <p:cNvPr id="91152" name="Rectangle 16">
            <a:extLst>
              <a:ext uri="{FF2B5EF4-FFF2-40B4-BE49-F238E27FC236}">
                <a16:creationId xmlns:a16="http://schemas.microsoft.com/office/drawing/2014/main" id="{2C62B710-69B2-0660-2E20-A463CA661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6381750"/>
            <a:ext cx="2160588" cy="3603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it-IT" sz="1800" dirty="0">
                <a:latin typeface="Arial" charset="0"/>
              </a:rPr>
              <a:t>RETRO-VERSIONE</a:t>
            </a:r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673820B2-1E03-5DCA-7343-57C120EF6B2C}"/>
              </a:ext>
            </a:extLst>
          </p:cNvPr>
          <p:cNvSpPr/>
          <p:nvPr/>
        </p:nvSpPr>
        <p:spPr>
          <a:xfrm>
            <a:off x="5435600" y="2271713"/>
            <a:ext cx="2089150" cy="1446212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09F79A7F-FF4E-10CB-C245-B59A0C5B7A87}"/>
              </a:ext>
            </a:extLst>
          </p:cNvPr>
          <p:cNvSpPr/>
          <p:nvPr/>
        </p:nvSpPr>
        <p:spPr>
          <a:xfrm>
            <a:off x="5320506" y="4308475"/>
            <a:ext cx="2530593" cy="1673225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19" name="Rettangolo 1">
            <a:extLst>
              <a:ext uri="{FF2B5EF4-FFF2-40B4-BE49-F238E27FC236}">
                <a16:creationId xmlns:a16="http://schemas.microsoft.com/office/drawing/2014/main" id="{7FCA2589-410A-683A-4256-11B85795B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3924" y="3794919"/>
            <a:ext cx="17811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b="1" dirty="0">
                <a:solidFill>
                  <a:srgbClr val="FF0000"/>
                </a:solidFill>
              </a:rPr>
              <a:t>ANTAGONISTI</a:t>
            </a:r>
          </a:p>
        </p:txBody>
      </p:sp>
      <p:sp>
        <p:nvSpPr>
          <p:cNvPr id="20" name="Rettangolo 1">
            <a:extLst>
              <a:ext uri="{FF2B5EF4-FFF2-40B4-BE49-F238E27FC236}">
                <a16:creationId xmlns:a16="http://schemas.microsoft.com/office/drawing/2014/main" id="{09776BCF-885E-D26D-BF8C-38AE01920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4875" y="3796506"/>
            <a:ext cx="14017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b="1" dirty="0">
                <a:solidFill>
                  <a:srgbClr val="00B050"/>
                </a:solidFill>
              </a:rPr>
              <a:t>AGONISTI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1A4EF41B-17A2-A86D-D1A1-5B72101DF0CA}"/>
              </a:ext>
            </a:extLst>
          </p:cNvPr>
          <p:cNvSpPr/>
          <p:nvPr/>
        </p:nvSpPr>
        <p:spPr>
          <a:xfrm>
            <a:off x="1444625" y="2060575"/>
            <a:ext cx="2438400" cy="1152525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080E4316-5757-BA5D-9E2E-CBBCB428F3FD}"/>
              </a:ext>
            </a:extLst>
          </p:cNvPr>
          <p:cNvSpPr/>
          <p:nvPr/>
        </p:nvSpPr>
        <p:spPr>
          <a:xfrm>
            <a:off x="1292901" y="4365625"/>
            <a:ext cx="3139281" cy="2232025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2" name="Rectangle 13">
            <a:extLst>
              <a:ext uri="{FF2B5EF4-FFF2-40B4-BE49-F238E27FC236}">
                <a16:creationId xmlns:a16="http://schemas.microsoft.com/office/drawing/2014/main" id="{164D0150-A3BF-3BCA-BF87-9AEA3E85D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737" y="6381750"/>
            <a:ext cx="2016126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 dirty="0">
                <a:latin typeface="Arial" panose="020B0604020202020204" pitchFamily="34" charset="0"/>
              </a:rPr>
              <a:t>ANTI-VERSIONE</a:t>
            </a:r>
          </a:p>
        </p:txBody>
      </p:sp>
    </p:spTree>
    <p:extLst>
      <p:ext uri="{BB962C8B-B14F-4D97-AF65-F5344CB8AC3E}">
        <p14:creationId xmlns:p14="http://schemas.microsoft.com/office/powerpoint/2010/main" val="7643116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  <p:bldP spid="20" grpId="0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CD4759A-3D16-D9AE-ABC5-53FB8B4DA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C5D7236-1948-A6A9-1E15-0533FF3A2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5950" y="260350"/>
            <a:ext cx="7958138" cy="984250"/>
          </a:xfrm>
        </p:spPr>
        <p:txBody>
          <a:bodyPr/>
          <a:lstStyle/>
          <a:p>
            <a:pPr eaLnBrk="1" hangingPunct="1">
              <a:defRPr/>
            </a:pPr>
            <a:r>
              <a:rPr lang="it-IT" altLang="it-IT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INFLUENZA DELLA MUSCOLATURA</a:t>
            </a:r>
            <a:br>
              <a:rPr lang="it-IT" altLang="it-IT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it-IT" altLang="it-IT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SULLA LORDOSI LOMBARE</a:t>
            </a:r>
          </a:p>
        </p:txBody>
      </p:sp>
      <p:pic>
        <p:nvPicPr>
          <p:cNvPr id="91139" name="Picture 3" descr="antero-retrov">
            <a:extLst>
              <a:ext uri="{FF2B5EF4-FFF2-40B4-BE49-F238E27FC236}">
                <a16:creationId xmlns:a16="http://schemas.microsoft.com/office/drawing/2014/main" id="{17A6DE35-0E0F-C189-C735-531870C7E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238250"/>
            <a:ext cx="6985000" cy="550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0" name="Picture 4" descr="mm lom">
            <a:extLst>
              <a:ext uri="{FF2B5EF4-FFF2-40B4-BE49-F238E27FC236}">
                <a16:creationId xmlns:a16="http://schemas.microsoft.com/office/drawing/2014/main" id="{E6E802CC-D154-27A8-A95F-8471D2075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171700"/>
            <a:ext cx="10334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1" name="Picture 5" descr="m 1">
            <a:extLst>
              <a:ext uri="{FF2B5EF4-FFF2-40B4-BE49-F238E27FC236}">
                <a16:creationId xmlns:a16="http://schemas.microsoft.com/office/drawing/2014/main" id="{C87C9EB0-3964-6481-AA95-B21702E08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063" y="5297488"/>
            <a:ext cx="785812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2" name="Picture 6" descr="m2">
            <a:extLst>
              <a:ext uri="{FF2B5EF4-FFF2-40B4-BE49-F238E27FC236}">
                <a16:creationId xmlns:a16="http://schemas.microsoft.com/office/drawing/2014/main" id="{7C158370-B0BC-5A34-08C7-B62E0503D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5516563"/>
            <a:ext cx="13081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3" name="Picture 7" descr="m3">
            <a:extLst>
              <a:ext uri="{FF2B5EF4-FFF2-40B4-BE49-F238E27FC236}">
                <a16:creationId xmlns:a16="http://schemas.microsoft.com/office/drawing/2014/main" id="{CE206574-9160-0A9C-98EC-653B2AE69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5961063"/>
            <a:ext cx="1527175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4" name="Picture 8" descr="mm add">
            <a:extLst>
              <a:ext uri="{FF2B5EF4-FFF2-40B4-BE49-F238E27FC236}">
                <a16:creationId xmlns:a16="http://schemas.microsoft.com/office/drawing/2014/main" id="{32559F3E-530B-C7C1-4127-96106A9E1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2420938"/>
            <a:ext cx="1581150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5" name="Picture 9" descr="mm ileop">
            <a:extLst>
              <a:ext uri="{FF2B5EF4-FFF2-40B4-BE49-F238E27FC236}">
                <a16:creationId xmlns:a16="http://schemas.microsoft.com/office/drawing/2014/main" id="{6371B70C-22BD-CFD6-316C-79A754831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508500"/>
            <a:ext cx="2016125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6" name="Picture 10" descr="glu">
            <a:extLst>
              <a:ext uri="{FF2B5EF4-FFF2-40B4-BE49-F238E27FC236}">
                <a16:creationId xmlns:a16="http://schemas.microsoft.com/office/drawing/2014/main" id="{360E60C5-23D3-3E9F-1593-A9D4A812D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6092825"/>
            <a:ext cx="836613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7" name="AutoShape 11">
            <a:extLst>
              <a:ext uri="{FF2B5EF4-FFF2-40B4-BE49-F238E27FC236}">
                <a16:creationId xmlns:a16="http://schemas.microsoft.com/office/drawing/2014/main" id="{97D800E0-0289-2049-88F2-CEFF1725D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4005263"/>
            <a:ext cx="358775" cy="360362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>
              <a:alpha val="30196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91148" name="Line 12">
            <a:extLst>
              <a:ext uri="{FF2B5EF4-FFF2-40B4-BE49-F238E27FC236}">
                <a16:creationId xmlns:a16="http://schemas.microsoft.com/office/drawing/2014/main" id="{1530A8F5-9088-18FB-445C-14802CAA4D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8038" y="3357563"/>
            <a:ext cx="534987" cy="647700"/>
          </a:xfrm>
          <a:prstGeom prst="line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1149" name="Rectangle 13">
            <a:extLst>
              <a:ext uri="{FF2B5EF4-FFF2-40B4-BE49-F238E27FC236}">
                <a16:creationId xmlns:a16="http://schemas.microsoft.com/office/drawing/2014/main" id="{93E0972A-A2D2-9AE5-2F37-B5D001EA5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230312"/>
            <a:ext cx="1296988" cy="6064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 dirty="0">
                <a:latin typeface="Arial" panose="020B0604020202020204" pitchFamily="34" charset="0"/>
              </a:rPr>
              <a:t>ANTI-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 dirty="0">
                <a:latin typeface="Arial" panose="020B0604020202020204" pitchFamily="34" charset="0"/>
              </a:rPr>
              <a:t>VERSIONE</a:t>
            </a:r>
          </a:p>
        </p:txBody>
      </p:sp>
      <p:sp>
        <p:nvSpPr>
          <p:cNvPr id="91151" name="Rectangle 15">
            <a:extLst>
              <a:ext uri="{FF2B5EF4-FFF2-40B4-BE49-F238E27FC236}">
                <a16:creationId xmlns:a16="http://schemas.microsoft.com/office/drawing/2014/main" id="{97293675-C4AE-B8AE-7C64-F98B09A8A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1230312"/>
            <a:ext cx="1727200" cy="6064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it-IT" sz="1800" dirty="0">
                <a:latin typeface="Arial" charset="0"/>
              </a:rPr>
              <a:t>RETRO-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it-IT" sz="1800" dirty="0">
                <a:latin typeface="Arial" charset="0"/>
              </a:rPr>
              <a:t>VERSIONE</a:t>
            </a:r>
          </a:p>
        </p:txBody>
      </p:sp>
      <p:sp>
        <p:nvSpPr>
          <p:cNvPr id="3" name="Rettangolo 1">
            <a:extLst>
              <a:ext uri="{FF2B5EF4-FFF2-40B4-BE49-F238E27FC236}">
                <a16:creationId xmlns:a16="http://schemas.microsoft.com/office/drawing/2014/main" id="{5EC52F95-0108-6D5D-463D-A4C8B7E5F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412" y="5237956"/>
            <a:ext cx="1107851" cy="33813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it-IT" altLang="it-IT" sz="1600">
              <a:solidFill>
                <a:srgbClr val="FF0000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47072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Immagin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5" b="1603"/>
          <a:stretch/>
        </p:blipFill>
        <p:spPr bwMode="auto">
          <a:xfrm>
            <a:off x="4427984" y="112846"/>
            <a:ext cx="3672978" cy="6650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Immagin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613" y="112846"/>
            <a:ext cx="2964191" cy="6650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C11C-45AE-899C-0CD1-239B4A09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3" name="Object 3">
            <a:extLst>
              <a:ext uri="{FF2B5EF4-FFF2-40B4-BE49-F238E27FC236}">
                <a16:creationId xmlns:a16="http://schemas.microsoft.com/office/drawing/2014/main" id="{89012436-8574-E63C-DE14-A941BB772FA9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4356100" y="3895725"/>
          <a:ext cx="4248150" cy="276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1943371" imgH="1685714" progId="MSPhotoEd.3">
                  <p:embed/>
                </p:oleObj>
              </mc:Choice>
              <mc:Fallback>
                <p:oleObj name="Fotografia di Photo Editor" r:id="rId2" imgW="1943371" imgH="1685714" progId="MSPhotoEd.3">
                  <p:embed/>
                  <p:pic>
                    <p:nvPicPr>
                      <p:cNvPr id="92163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3895725"/>
                        <a:ext cx="4248150" cy="276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4" name="Object 7">
            <a:extLst>
              <a:ext uri="{FF2B5EF4-FFF2-40B4-BE49-F238E27FC236}">
                <a16:creationId xmlns:a16="http://schemas.microsoft.com/office/drawing/2014/main" id="{5922434D-2C46-93E0-C03B-7C1471F462F5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371975" y="620713"/>
          <a:ext cx="4160838" cy="280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4" imgW="1905266" imgH="1286055" progId="MSPhotoEd.3">
                  <p:embed/>
                </p:oleObj>
              </mc:Choice>
              <mc:Fallback>
                <p:oleObj name="Fotografia di Photo Editor" r:id="rId4" imgW="1905266" imgH="1286055" progId="MSPhotoEd.3">
                  <p:embed/>
                  <p:pic>
                    <p:nvPicPr>
                      <p:cNvPr id="92164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1975" y="620713"/>
                        <a:ext cx="4160838" cy="280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48" name="Immagine 2">
            <a:extLst>
              <a:ext uri="{FF2B5EF4-FFF2-40B4-BE49-F238E27FC236}">
                <a16:creationId xmlns:a16="http://schemas.microsoft.com/office/drawing/2014/main" id="{A28B9FDE-9B5C-D2CB-7CE8-0C971AD3DB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00013"/>
            <a:ext cx="2952750" cy="662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olo 1">
            <a:extLst>
              <a:ext uri="{FF2B5EF4-FFF2-40B4-BE49-F238E27FC236}">
                <a16:creationId xmlns:a16="http://schemas.microsoft.com/office/drawing/2014/main" id="{873D29EB-57C6-1EFC-8EBD-EC1C397452FC}"/>
              </a:ext>
            </a:extLst>
          </p:cNvPr>
          <p:cNvSpPr txBox="1">
            <a:spLocks/>
          </p:cNvSpPr>
          <p:nvPr/>
        </p:nvSpPr>
        <p:spPr bwMode="auto">
          <a:xfrm>
            <a:off x="4716463" y="260350"/>
            <a:ext cx="360045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1400" b="1" kern="0" dirty="0">
                <a:effectLst/>
              </a:rPr>
              <a:t>NUTAZIONE</a:t>
            </a:r>
            <a:r>
              <a:rPr lang="it-IT" sz="1400" kern="0" dirty="0">
                <a:effectLst/>
              </a:rPr>
              <a:t> = </a:t>
            </a:r>
            <a:r>
              <a:rPr lang="it-IT" sz="1400" b="1" kern="0" dirty="0">
                <a:effectLst/>
              </a:rPr>
              <a:t>ANTI</a:t>
            </a:r>
            <a:r>
              <a:rPr lang="it-IT" sz="1400" kern="0" dirty="0">
                <a:effectLst/>
              </a:rPr>
              <a:t>-VERSIONE</a:t>
            </a:r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D15C2E39-2491-C7CD-4930-8C231AD44705}"/>
              </a:ext>
            </a:extLst>
          </p:cNvPr>
          <p:cNvSpPr txBox="1">
            <a:spLocks/>
          </p:cNvSpPr>
          <p:nvPr/>
        </p:nvSpPr>
        <p:spPr bwMode="auto">
          <a:xfrm>
            <a:off x="4572000" y="3573463"/>
            <a:ext cx="3887788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1400" b="1" kern="0" dirty="0">
                <a:effectLst/>
              </a:rPr>
              <a:t>CONTRONUTAZIONE</a:t>
            </a:r>
            <a:r>
              <a:rPr lang="it-IT" sz="1400" kern="0" dirty="0">
                <a:effectLst/>
              </a:rPr>
              <a:t>  = </a:t>
            </a:r>
            <a:r>
              <a:rPr lang="it-IT" sz="1400" b="1" kern="0" dirty="0">
                <a:effectLst/>
              </a:rPr>
              <a:t>RETRO-</a:t>
            </a:r>
            <a:r>
              <a:rPr lang="it-IT" sz="1400" kern="0" dirty="0">
                <a:effectLst/>
              </a:rPr>
              <a:t>VERSIONE</a:t>
            </a:r>
          </a:p>
        </p:txBody>
      </p:sp>
    </p:spTree>
    <p:extLst>
      <p:ext uri="{BB962C8B-B14F-4D97-AF65-F5344CB8AC3E}">
        <p14:creationId xmlns:p14="http://schemas.microsoft.com/office/powerpoint/2010/main" val="189435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69416" y="391179"/>
            <a:ext cx="8323064" cy="2845736"/>
          </a:xfrm>
        </p:spPr>
        <p:txBody>
          <a:bodyPr>
            <a:normAutofit/>
          </a:bodyPr>
          <a:lstStyle/>
          <a:p>
            <a:pPr algn="l"/>
            <a:r>
              <a:rPr lang="it-IT" sz="2100" dirty="0"/>
              <a:t>ORTOSTATISMO e in </a:t>
            </a:r>
            <a:r>
              <a:rPr lang="it-IT" sz="2100" b="1" dirty="0"/>
              <a:t>CLINOSTATISMO</a:t>
            </a:r>
            <a:r>
              <a:rPr lang="it-IT" sz="2100" dirty="0"/>
              <a:t>: </a:t>
            </a:r>
            <a:br>
              <a:rPr lang="it-IT" sz="2100" dirty="0"/>
            </a:br>
            <a:br>
              <a:rPr lang="it-IT" sz="2100" dirty="0"/>
            </a:br>
            <a:r>
              <a:rPr lang="it-IT" sz="2100" dirty="0"/>
              <a:t>Stessa immagine RUOTATA di 90°</a:t>
            </a:r>
            <a:br>
              <a:rPr lang="it-IT" sz="2100" dirty="0"/>
            </a:br>
            <a:br>
              <a:rPr lang="it-IT" sz="2100" dirty="0"/>
            </a:br>
            <a:r>
              <a:rPr lang="it-IT" sz="2100" dirty="0"/>
              <a:t>                                                  Il muscolo </a:t>
            </a:r>
            <a:r>
              <a:rPr lang="it-IT" sz="2100" b="1" dirty="0"/>
              <a:t>PSOAS</a:t>
            </a:r>
            <a:r>
              <a:rPr lang="it-IT" sz="2100" dirty="0"/>
              <a:t>           </a:t>
            </a:r>
            <a:br>
              <a:rPr lang="it-IT" sz="2100" dirty="0"/>
            </a:br>
            <a:r>
              <a:rPr lang="it-IT" sz="2100" dirty="0"/>
              <a:t>                                     trascina le vertebre lombari verso la coscia </a:t>
            </a:r>
            <a:br>
              <a:rPr lang="it-IT" sz="2100" dirty="0"/>
            </a:br>
            <a:r>
              <a:rPr lang="it-IT" sz="2100" dirty="0"/>
              <a:t>                                     causando l’antiversione del bacino</a:t>
            </a:r>
            <a:br>
              <a:rPr lang="it-IT" sz="2100" dirty="0"/>
            </a:br>
            <a:r>
              <a:rPr lang="it-IT" sz="2100" dirty="0"/>
              <a:t>                                      con </a:t>
            </a:r>
            <a:r>
              <a:rPr lang="it-IT" sz="2100" b="1" dirty="0"/>
              <a:t>iper</a:t>
            </a:r>
            <a:r>
              <a:rPr lang="it-IT" sz="2100" dirty="0"/>
              <a:t>-lordosi.</a:t>
            </a:r>
          </a:p>
        </p:txBody>
      </p:sp>
      <p:graphicFrame>
        <p:nvGraphicFramePr>
          <p:cNvPr id="5" name="Object 7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30106565"/>
              </p:ext>
            </p:extLst>
          </p:nvPr>
        </p:nvGraphicFramePr>
        <p:xfrm>
          <a:off x="4067944" y="3140968"/>
          <a:ext cx="4608512" cy="316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1905266" imgH="1286055" progId="MSPhotoEd.3">
                  <p:embed/>
                </p:oleObj>
              </mc:Choice>
              <mc:Fallback>
                <p:oleObj name="Fotografia di Photo Editor" r:id="rId2" imgW="1905266" imgH="1286055" progId="MSPhotoEd.3">
                  <p:embed/>
                  <p:pic>
                    <p:nvPicPr>
                      <p:cNvPr id="5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3140968"/>
                        <a:ext cx="4608512" cy="3168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magin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616426"/>
            <a:ext cx="3168351" cy="469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7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4685"/>
            <a:ext cx="8229600" cy="854075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it-IT" sz="4000" dirty="0"/>
              <a:t>TENDENZA ALL’ANTIVERSIONE</a:t>
            </a:r>
            <a:endParaRPr lang="en-GB" altLang="it-IT" sz="4000" dirty="0">
              <a:solidFill>
                <a:srgbClr val="FFFF00"/>
              </a:solidFill>
            </a:endParaRPr>
          </a:p>
        </p:txBody>
      </p:sp>
      <p:graphicFrame>
        <p:nvGraphicFramePr>
          <p:cNvPr id="38915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411413" y="1270000"/>
          <a:ext cx="4378325" cy="554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2219635" imgH="2809524" progId="MSPhotoEd.3">
                  <p:embed/>
                </p:oleObj>
              </mc:Choice>
              <mc:Fallback>
                <p:oleObj name="Fotografia di Photo Editor" r:id="rId2" imgW="2219635" imgH="2809524" progId="MSPhotoEd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270000"/>
                        <a:ext cx="4378325" cy="554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251520" y="4507706"/>
            <a:ext cx="2520950" cy="21605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 b="1" dirty="0">
                <a:latin typeface="Arial" panose="020B0604020202020204" pitchFamily="34" charset="0"/>
              </a:rPr>
              <a:t>RETROVERSIONE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 dirty="0">
                <a:latin typeface="Arial" panose="020B0604020202020204" pitchFamily="34" charset="0"/>
              </a:rPr>
              <a:t>Glutei,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 dirty="0" err="1">
                <a:latin typeface="Arial" panose="020B0604020202020204" pitchFamily="34" charset="0"/>
              </a:rPr>
              <a:t>Bicipite</a:t>
            </a:r>
            <a:r>
              <a:rPr lang="en-GB" altLang="it-IT" sz="1800" dirty="0">
                <a:latin typeface="Arial" panose="020B0604020202020204" pitchFamily="34" charset="0"/>
              </a:rPr>
              <a:t> </a:t>
            </a:r>
            <a:r>
              <a:rPr lang="en-GB" altLang="it-IT" sz="1800" dirty="0" err="1">
                <a:latin typeface="Arial" panose="020B0604020202020204" pitchFamily="34" charset="0"/>
              </a:rPr>
              <a:t>femorale</a:t>
            </a:r>
            <a:endParaRPr lang="en-GB" altLang="it-IT" sz="1800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 dirty="0" err="1">
                <a:latin typeface="Arial" panose="020B0604020202020204" pitchFamily="34" charset="0"/>
              </a:rPr>
              <a:t>Semitendinoso</a:t>
            </a:r>
            <a:r>
              <a:rPr lang="en-GB" altLang="it-IT" sz="1800" dirty="0">
                <a:latin typeface="Arial" panose="020B0604020202020204" pitchFamily="34" charset="0"/>
              </a:rPr>
              <a:t>,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 dirty="0" err="1">
                <a:latin typeface="Arial" panose="020B0604020202020204" pitchFamily="34" charset="0"/>
              </a:rPr>
              <a:t>Semimembranoso</a:t>
            </a:r>
            <a:r>
              <a:rPr lang="en-GB" altLang="it-IT" sz="1800" dirty="0">
                <a:latin typeface="Arial" panose="020B0604020202020204" pitchFamily="34" charset="0"/>
              </a:rPr>
              <a:t>,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 dirty="0">
                <a:latin typeface="Arial" panose="020B0604020202020204" pitchFamily="34" charset="0"/>
              </a:rPr>
              <a:t>Grande </a:t>
            </a:r>
            <a:r>
              <a:rPr lang="en-GB" altLang="it-IT" sz="1800" dirty="0" err="1">
                <a:latin typeface="Arial" panose="020B0604020202020204" pitchFamily="34" charset="0"/>
              </a:rPr>
              <a:t>Adduttore</a:t>
            </a:r>
            <a:endParaRPr lang="en-GB" altLang="it-IT" sz="1800" dirty="0">
              <a:latin typeface="Arial" panose="020B0604020202020204" pitchFamily="34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6156325" y="2276872"/>
            <a:ext cx="2305050" cy="1222375"/>
          </a:xfrm>
          <a:prstGeom prst="rect">
            <a:avLst/>
          </a:prstGeom>
          <a:solidFill>
            <a:schemeClr val="tx1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2400" b="1" dirty="0">
                <a:solidFill>
                  <a:srgbClr val="FF0000"/>
                </a:solidFill>
                <a:latin typeface="Arial" panose="020B0604020202020204" pitchFamily="34" charset="0"/>
              </a:rPr>
              <a:t>DEBOLEZZA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2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dei</a:t>
            </a:r>
            <a:r>
              <a:rPr lang="en-GB" altLang="it-IT" sz="24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GB" altLang="it-IT" sz="2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muscoli</a:t>
            </a:r>
            <a:r>
              <a:rPr lang="en-GB" altLang="it-IT" sz="24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2400" b="1" dirty="0">
                <a:solidFill>
                  <a:srgbClr val="FF0000"/>
                </a:solidFill>
                <a:latin typeface="Arial" panose="020B0604020202020204" pitchFamily="34" charset="0"/>
              </a:rPr>
              <a:t>ADDOMINALI</a:t>
            </a:r>
          </a:p>
        </p:txBody>
      </p:sp>
      <p:sp>
        <p:nvSpPr>
          <p:cNvPr id="38918" name="Rettangolo 1"/>
          <p:cNvSpPr>
            <a:spLocks noChangeArrowheads="1"/>
          </p:cNvSpPr>
          <p:nvPr/>
        </p:nvSpPr>
        <p:spPr bwMode="auto">
          <a:xfrm>
            <a:off x="7885113" y="138113"/>
            <a:ext cx="1152525" cy="338137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KAPANDJI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2.wp.com/excellentstyle.it/wp-content/uploads/2020/04/Visione-laterale-del-corpo-ok.jpg?w=705&amp;is-pending-load=1#038;ssl=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8" b="4849"/>
          <a:stretch/>
        </p:blipFill>
        <p:spPr bwMode="auto">
          <a:xfrm>
            <a:off x="2686248" y="1403375"/>
            <a:ext cx="3771504" cy="4535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olo 1"/>
          <p:cNvSpPr txBox="1">
            <a:spLocks/>
          </p:cNvSpPr>
          <p:nvPr/>
        </p:nvSpPr>
        <p:spPr>
          <a:xfrm>
            <a:off x="1043608" y="260648"/>
            <a:ext cx="7776864" cy="1656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200" dirty="0"/>
              <a:t>ORTOSTATISMO:</a:t>
            </a:r>
          </a:p>
          <a:p>
            <a:pPr algn="ctr"/>
            <a:r>
              <a:rPr lang="it-IT" sz="3200" b="1" dirty="0">
                <a:solidFill>
                  <a:srgbClr val="FF0000"/>
                </a:solidFill>
              </a:rPr>
              <a:t>ATTEGGIAMENTO IN ANTIVERSIONE</a:t>
            </a:r>
            <a:r>
              <a:rPr lang="it-IT" sz="3200" b="1" dirty="0"/>
              <a:t>                                                                           </a:t>
            </a:r>
          </a:p>
        </p:txBody>
      </p:sp>
      <p:sp>
        <p:nvSpPr>
          <p:cNvPr id="5" name="Freccia circolare a destra 4"/>
          <p:cNvSpPr/>
          <p:nvPr/>
        </p:nvSpPr>
        <p:spPr>
          <a:xfrm rot="5400000" flipV="1">
            <a:off x="6516175" y="3802019"/>
            <a:ext cx="548640" cy="980606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4" name="Ovale 3"/>
          <p:cNvSpPr/>
          <p:nvPr/>
        </p:nvSpPr>
        <p:spPr>
          <a:xfrm>
            <a:off x="5004048" y="4980112"/>
            <a:ext cx="441285" cy="305972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/>
          <p:cNvSpPr/>
          <p:nvPr/>
        </p:nvSpPr>
        <p:spPr>
          <a:xfrm>
            <a:off x="3308083" y="4941169"/>
            <a:ext cx="441285" cy="334279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5046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body" sz="half" idx="3"/>
          </p:nvPr>
        </p:nvSpPr>
        <p:spPr>
          <a:xfrm>
            <a:off x="3132138" y="1268413"/>
            <a:ext cx="5483225" cy="1828800"/>
          </a:xfrm>
        </p:spPr>
        <p:txBody>
          <a:bodyPr/>
          <a:lstStyle/>
          <a:p>
            <a:pPr marL="533400" indent="-533400" eaLnBrk="1" hangingPunct="1">
              <a:buFontTx/>
              <a:buChar char="-"/>
              <a:defRPr/>
            </a:pPr>
            <a:r>
              <a:rPr lang="it-IT" altLang="it-IT" sz="1600" dirty="0">
                <a:latin typeface="Times New Roman" panose="02020603050405020304" pitchFamily="18" charset="0"/>
              </a:rPr>
              <a:t>Ipotonia: flessori del rachide, estensori della coscia</a:t>
            </a:r>
          </a:p>
          <a:p>
            <a:pPr marL="533400" indent="-533400" eaLnBrk="1" hangingPunct="1">
              <a:buFontTx/>
              <a:buChar char="-"/>
              <a:defRPr/>
            </a:pPr>
            <a:r>
              <a:rPr lang="it-IT" altLang="it-IT" sz="1600" dirty="0">
                <a:latin typeface="Times New Roman" panose="02020603050405020304" pitchFamily="18" charset="0"/>
              </a:rPr>
              <a:t>Retrazione: estensori del rachide, flessori della coscia</a:t>
            </a:r>
          </a:p>
          <a:p>
            <a:pPr marL="533400" indent="-533400" eaLnBrk="1" hangingPunct="1">
              <a:buFontTx/>
              <a:buChar char="-"/>
              <a:defRPr/>
            </a:pPr>
            <a:r>
              <a:rPr lang="it-IT" altLang="it-IT" sz="1600" dirty="0">
                <a:latin typeface="Times New Roman" panose="02020603050405020304" pitchFamily="18" charset="0"/>
              </a:rPr>
              <a:t>Rotazione delle pelvi in avanti</a:t>
            </a:r>
          </a:p>
          <a:p>
            <a:pPr marL="533400" indent="-533400" eaLnBrk="1" hangingPunct="1">
              <a:buFontTx/>
              <a:buChar char="-"/>
              <a:defRPr/>
            </a:pPr>
            <a:r>
              <a:rPr lang="it-IT" altLang="it-IT" sz="1600" dirty="0">
                <a:latin typeface="Times New Roman" panose="02020603050405020304" pitchFamily="18" charset="0"/>
              </a:rPr>
              <a:t>Avvicinamento delle ali iliache</a:t>
            </a:r>
          </a:p>
          <a:p>
            <a:pPr marL="533400" indent="-533400" eaLnBrk="1" hangingPunct="1">
              <a:buFontTx/>
              <a:buChar char="-"/>
              <a:defRPr/>
            </a:pPr>
            <a:r>
              <a:rPr lang="it-IT" altLang="it-IT" sz="1600" dirty="0">
                <a:latin typeface="Times New Roman" panose="02020603050405020304" pitchFamily="18" charset="0"/>
              </a:rPr>
              <a:t>Riduzione dell’angolo lombo-sacrale</a:t>
            </a:r>
          </a:p>
          <a:p>
            <a:pPr marL="533400" indent="-533400" eaLnBrk="1" hangingPunct="1">
              <a:buFontTx/>
              <a:buChar char="-"/>
              <a:defRPr/>
            </a:pPr>
            <a:r>
              <a:rPr lang="it-IT" altLang="it-IT" sz="1600" dirty="0">
                <a:latin typeface="Times New Roman" panose="02020603050405020304" pitchFamily="18" charset="0"/>
              </a:rPr>
              <a:t>Aumento dell’angolo sacrale</a:t>
            </a:r>
          </a:p>
          <a:p>
            <a:pPr marL="533400" indent="-533400" eaLnBrk="1" hangingPunct="1">
              <a:buFontTx/>
              <a:buChar char="-"/>
              <a:defRPr/>
            </a:pPr>
            <a:endParaRPr lang="it-IT" altLang="it-IT" sz="1600" dirty="0">
              <a:latin typeface="Times New Roman" panose="02020603050405020304" pitchFamily="18" charset="0"/>
            </a:endParaRPr>
          </a:p>
        </p:txBody>
      </p:sp>
      <p:pic>
        <p:nvPicPr>
          <p:cNvPr id="37891" name="Picture 3" descr="nutaz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078207"/>
            <a:ext cx="2879724" cy="263813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7284" name="Line 4"/>
          <p:cNvSpPr>
            <a:spLocks noChangeShapeType="1"/>
          </p:cNvSpPr>
          <p:nvPr/>
        </p:nvSpPr>
        <p:spPr bwMode="auto">
          <a:xfrm>
            <a:off x="5795963" y="3141663"/>
            <a:ext cx="0" cy="2889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7893" name="Line 5"/>
          <p:cNvSpPr>
            <a:spLocks noChangeShapeType="1"/>
          </p:cNvSpPr>
          <p:nvPr/>
        </p:nvSpPr>
        <p:spPr bwMode="auto">
          <a:xfrm>
            <a:off x="5795963" y="3933825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7286" name="Line 6"/>
          <p:cNvSpPr>
            <a:spLocks noChangeShapeType="1"/>
          </p:cNvSpPr>
          <p:nvPr/>
        </p:nvSpPr>
        <p:spPr bwMode="auto">
          <a:xfrm>
            <a:off x="3492624" y="3141663"/>
            <a:ext cx="48958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7287" name="Text Box 7"/>
          <p:cNvSpPr txBox="1">
            <a:spLocks noChangeArrowheads="1"/>
          </p:cNvSpPr>
          <p:nvPr/>
        </p:nvSpPr>
        <p:spPr bwMode="auto">
          <a:xfrm>
            <a:off x="4500563" y="3429000"/>
            <a:ext cx="2663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IPERLORDOSI</a:t>
            </a:r>
          </a:p>
        </p:txBody>
      </p:sp>
      <p:sp>
        <p:nvSpPr>
          <p:cNvPr id="43016" name="Rectangle 8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274638"/>
            <a:ext cx="8229600" cy="928688"/>
          </a:xfrm>
        </p:spPr>
        <p:txBody>
          <a:bodyPr anchorCtr="1"/>
          <a:lstStyle/>
          <a:p>
            <a:pPr eaLnBrk="1" hangingPunct="1">
              <a:defRPr/>
            </a:pPr>
            <a:r>
              <a:rPr lang="it-IT" altLang="it-IT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SQUILIBRIO MUSCOLARE</a:t>
            </a:r>
            <a:br>
              <a:rPr lang="it-IT" altLang="it-IT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it-IT" altLang="it-IT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CON ATTEGGIAMENTO IN ANTIVERSIONE</a:t>
            </a:r>
          </a:p>
        </p:txBody>
      </p:sp>
      <p:sp>
        <p:nvSpPr>
          <p:cNvPr id="97289" name="Rectangle 9"/>
          <p:cNvSpPr>
            <a:spLocks noChangeArrowheads="1"/>
          </p:cNvSpPr>
          <p:nvPr/>
        </p:nvSpPr>
        <p:spPr bwMode="auto">
          <a:xfrm>
            <a:off x="3203575" y="3860800"/>
            <a:ext cx="548322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buSzTx/>
              <a:buFontTx/>
              <a:buChar char="-"/>
            </a:pPr>
            <a:r>
              <a:rPr lang="it-IT" altLang="it-IT" sz="1600">
                <a:latin typeface="Times New Roman" panose="02020603050405020304" pitchFamily="18" charset="0"/>
              </a:rPr>
              <a:t>Slittamento anteriore del nucleo polposo</a:t>
            </a:r>
          </a:p>
          <a:p>
            <a:pPr eaLnBrk="1" hangingPunct="1">
              <a:buClrTx/>
              <a:buSzTx/>
              <a:buFontTx/>
              <a:buChar char="-"/>
            </a:pPr>
            <a:r>
              <a:rPr lang="it-IT" altLang="it-IT" sz="1600">
                <a:latin typeface="Times New Roman" panose="02020603050405020304" pitchFamily="18" charset="0"/>
              </a:rPr>
              <a:t>Trazione del leg. longitudinale anteriore</a:t>
            </a:r>
          </a:p>
          <a:p>
            <a:pPr eaLnBrk="1" hangingPunct="1">
              <a:buClrTx/>
              <a:buSzTx/>
              <a:buFontTx/>
              <a:buChar char="-"/>
            </a:pPr>
            <a:r>
              <a:rPr lang="it-IT" altLang="it-IT" sz="1600">
                <a:latin typeface="Times New Roman" panose="02020603050405020304" pitchFamily="18" charset="0"/>
              </a:rPr>
              <a:t>Detensione del leg. longitudinale posteriore</a:t>
            </a:r>
          </a:p>
          <a:p>
            <a:pPr eaLnBrk="1" hangingPunct="1">
              <a:buClrTx/>
              <a:buSzTx/>
              <a:buFontTx/>
              <a:buChar char="-"/>
            </a:pPr>
            <a:r>
              <a:rPr lang="it-IT" altLang="it-IT" sz="1600">
                <a:latin typeface="Times New Roman" panose="02020603050405020304" pitchFamily="18" charset="0"/>
              </a:rPr>
              <a:t>Profonda adesione delle faccette articolari apofisarie</a:t>
            </a:r>
          </a:p>
          <a:p>
            <a:pPr eaLnBrk="1" hangingPunct="1">
              <a:buClrTx/>
              <a:buSzTx/>
              <a:buFontTx/>
              <a:buChar char="-"/>
            </a:pPr>
            <a:r>
              <a:rPr lang="it-IT" altLang="it-IT" sz="1600">
                <a:latin typeface="Times New Roman" panose="02020603050405020304" pitchFamily="18" charset="0"/>
              </a:rPr>
              <a:t>Contatto tra le apofisi spinose</a:t>
            </a:r>
          </a:p>
          <a:p>
            <a:pPr eaLnBrk="1" hangingPunct="1">
              <a:buClrTx/>
              <a:buSzTx/>
              <a:buFontTx/>
              <a:buChar char="-"/>
            </a:pPr>
            <a:r>
              <a:rPr lang="it-IT" altLang="it-IT" sz="1600">
                <a:latin typeface="Times New Roman" panose="02020603050405020304" pitchFamily="18" charset="0"/>
              </a:rPr>
              <a:t>Cattiva distribuzione del carico con scivolamento anteriore di L5</a:t>
            </a:r>
          </a:p>
          <a:p>
            <a:pPr eaLnBrk="1" hangingPunct="1">
              <a:buClrTx/>
              <a:buSzTx/>
              <a:buFontTx/>
              <a:buChar char="-"/>
            </a:pPr>
            <a:endParaRPr lang="it-IT" altLang="it-IT" sz="1600">
              <a:latin typeface="Times New Roman" panose="02020603050405020304" pitchFamily="18" charset="0"/>
            </a:endParaRPr>
          </a:p>
          <a:p>
            <a:pPr eaLnBrk="1" hangingPunct="1">
              <a:buClrTx/>
              <a:buSzTx/>
              <a:buFontTx/>
              <a:buChar char="-"/>
            </a:pPr>
            <a:endParaRPr lang="it-IT" altLang="it-IT" sz="1600">
              <a:latin typeface="Times New Roman" panose="02020603050405020304" pitchFamily="18" charset="0"/>
            </a:endParaRPr>
          </a:p>
        </p:txBody>
      </p:sp>
      <p:sp>
        <p:nvSpPr>
          <p:cNvPr id="97290" name="Line 10"/>
          <p:cNvSpPr>
            <a:spLocks noChangeShapeType="1"/>
          </p:cNvSpPr>
          <p:nvPr/>
        </p:nvSpPr>
        <p:spPr bwMode="auto">
          <a:xfrm>
            <a:off x="3276600" y="5949950"/>
            <a:ext cx="54721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7291" name="Line 11"/>
          <p:cNvSpPr>
            <a:spLocks noChangeShapeType="1"/>
          </p:cNvSpPr>
          <p:nvPr/>
        </p:nvSpPr>
        <p:spPr bwMode="auto">
          <a:xfrm>
            <a:off x="5795963" y="5949950"/>
            <a:ext cx="0" cy="2889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7292" name="Text Box 12"/>
          <p:cNvSpPr txBox="1">
            <a:spLocks noChangeArrowheads="1"/>
          </p:cNvSpPr>
          <p:nvPr/>
        </p:nvSpPr>
        <p:spPr bwMode="auto">
          <a:xfrm>
            <a:off x="4500563" y="6237288"/>
            <a:ext cx="26638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LOMBALGIA</a:t>
            </a:r>
          </a:p>
        </p:txBody>
      </p:sp>
      <p:pic>
        <p:nvPicPr>
          <p:cNvPr id="97293" name="Picture 13" descr="pp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2" y="3789040"/>
            <a:ext cx="2879717" cy="28003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9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 animBg="1"/>
      <p:bldP spid="97286" grpId="0" animBg="1"/>
      <p:bldP spid="97287" grpId="0"/>
      <p:bldP spid="97289" grpId="0"/>
      <p:bldP spid="97290" grpId="0" animBg="1"/>
      <p:bldP spid="97291" grpId="0" animBg="1"/>
      <p:bldP spid="9729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it-IT" sz="4000" dirty="0"/>
              <a:t>SPONDILO</a:t>
            </a:r>
            <a:r>
              <a:rPr lang="en-GB" altLang="it-IT" sz="4000" dirty="0">
                <a:solidFill>
                  <a:srgbClr val="FFFF00"/>
                </a:solidFill>
              </a:rPr>
              <a:t>LISTESI</a:t>
            </a:r>
            <a:r>
              <a:rPr lang="en-GB" altLang="it-IT" sz="4000" dirty="0"/>
              <a:t> / </a:t>
            </a:r>
            <a:r>
              <a:rPr lang="en-GB" altLang="it-IT" sz="4000" dirty="0">
                <a:solidFill>
                  <a:srgbClr val="FF0000"/>
                </a:solidFill>
              </a:rPr>
              <a:t>SPONDILOLISI</a:t>
            </a:r>
          </a:p>
        </p:txBody>
      </p:sp>
      <p:graphicFrame>
        <p:nvGraphicFramePr>
          <p:cNvPr id="3993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42875" y="1362075"/>
          <a:ext cx="8893175" cy="509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4076190" imgH="2333333" progId="MSPhotoEd.3">
                  <p:embed/>
                </p:oleObj>
              </mc:Choice>
              <mc:Fallback>
                <p:oleObj name="Fotografia di Photo Editor" r:id="rId2" imgW="4076190" imgH="2333333" progId="MSPhotoEd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1362075"/>
                        <a:ext cx="8893175" cy="509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Connettore 1 3"/>
          <p:cNvCxnSpPr/>
          <p:nvPr/>
        </p:nvCxnSpPr>
        <p:spPr>
          <a:xfrm flipV="1">
            <a:off x="755650" y="3789363"/>
            <a:ext cx="2663825" cy="935037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1" name="Rettangolo 1"/>
          <p:cNvSpPr>
            <a:spLocks noChangeArrowheads="1"/>
          </p:cNvSpPr>
          <p:nvPr/>
        </p:nvSpPr>
        <p:spPr bwMode="auto">
          <a:xfrm>
            <a:off x="7954963" y="44450"/>
            <a:ext cx="1154112" cy="338138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KAPANDJI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655762" y="255683"/>
            <a:ext cx="5832475" cy="5765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Rettangolo 1"/>
          <p:cNvSpPr>
            <a:spLocks noChangeArrowheads="1"/>
          </p:cNvSpPr>
          <p:nvPr/>
        </p:nvSpPr>
        <p:spPr bwMode="auto">
          <a:xfrm>
            <a:off x="1619250" y="6085036"/>
            <a:ext cx="5832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dirty="0"/>
              <a:t>https://www.youtube.com/watch?v=oP2aug5-iAE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sz="half" idx="3"/>
          </p:nvPr>
        </p:nvSpPr>
        <p:spPr>
          <a:xfrm>
            <a:off x="3132138" y="1268413"/>
            <a:ext cx="5483225" cy="1828800"/>
          </a:xfrm>
        </p:spPr>
        <p:txBody>
          <a:bodyPr/>
          <a:lstStyle/>
          <a:p>
            <a:pPr marL="533400" indent="-533400" eaLnBrk="1" hangingPunct="1">
              <a:buFontTx/>
              <a:buChar char="-"/>
              <a:defRPr/>
            </a:pPr>
            <a:r>
              <a:rPr lang="it-IT" altLang="it-IT" sz="1600" dirty="0">
                <a:latin typeface="Times New Roman" panose="02020603050405020304" pitchFamily="18" charset="0"/>
              </a:rPr>
              <a:t>Ipotonia: estensori del rachide, flessori della coscia</a:t>
            </a:r>
          </a:p>
          <a:p>
            <a:pPr marL="533400" indent="-533400" eaLnBrk="1" hangingPunct="1">
              <a:buFontTx/>
              <a:buChar char="-"/>
              <a:defRPr/>
            </a:pPr>
            <a:r>
              <a:rPr lang="it-IT" altLang="it-IT" sz="1600" dirty="0">
                <a:latin typeface="Times New Roman" panose="02020603050405020304" pitchFamily="18" charset="0"/>
              </a:rPr>
              <a:t>Retrazione: flessori del rachide, estensori della coscia</a:t>
            </a:r>
          </a:p>
          <a:p>
            <a:pPr marL="533400" indent="-533400" eaLnBrk="1" hangingPunct="1">
              <a:buFontTx/>
              <a:buChar char="-"/>
              <a:defRPr/>
            </a:pPr>
            <a:r>
              <a:rPr lang="it-IT" altLang="it-IT" sz="1600" dirty="0">
                <a:latin typeface="Times New Roman" panose="02020603050405020304" pitchFamily="18" charset="0"/>
              </a:rPr>
              <a:t>Rotazione delle pelvi indietro</a:t>
            </a:r>
          </a:p>
          <a:p>
            <a:pPr marL="533400" indent="-533400" eaLnBrk="1" hangingPunct="1">
              <a:buFontTx/>
              <a:buChar char="-"/>
              <a:defRPr/>
            </a:pPr>
            <a:r>
              <a:rPr lang="it-IT" altLang="it-IT" sz="1600" dirty="0">
                <a:latin typeface="Times New Roman" panose="02020603050405020304" pitchFamily="18" charset="0"/>
              </a:rPr>
              <a:t>Allontanamento delle ali iliache</a:t>
            </a:r>
          </a:p>
          <a:p>
            <a:pPr marL="533400" indent="-533400" eaLnBrk="1" hangingPunct="1">
              <a:buFontTx/>
              <a:buChar char="-"/>
              <a:defRPr/>
            </a:pPr>
            <a:r>
              <a:rPr lang="it-IT" altLang="it-IT" sz="1600" dirty="0">
                <a:latin typeface="Times New Roman" panose="02020603050405020304" pitchFamily="18" charset="0"/>
              </a:rPr>
              <a:t>Aumento dell’angolo lombo-sacrale</a:t>
            </a:r>
          </a:p>
          <a:p>
            <a:pPr marL="533400" indent="-533400" eaLnBrk="1" hangingPunct="1">
              <a:buFontTx/>
              <a:buChar char="-"/>
              <a:defRPr/>
            </a:pPr>
            <a:r>
              <a:rPr lang="it-IT" altLang="it-IT" sz="1600" dirty="0">
                <a:latin typeface="Times New Roman" panose="02020603050405020304" pitchFamily="18" charset="0"/>
              </a:rPr>
              <a:t>Riduzione dell’angolo sacrale</a:t>
            </a:r>
          </a:p>
          <a:p>
            <a:pPr marL="533400" indent="-533400" eaLnBrk="1" hangingPunct="1">
              <a:buFontTx/>
              <a:buChar char="-"/>
              <a:defRPr/>
            </a:pPr>
            <a:endParaRPr lang="it-IT" altLang="it-IT" sz="1600" dirty="0">
              <a:latin typeface="Times New Roman" panose="02020603050405020304" pitchFamily="18" charset="0"/>
            </a:endParaRPr>
          </a:p>
        </p:txBody>
      </p:sp>
      <p:sp>
        <p:nvSpPr>
          <p:cNvPr id="98307" name="Line 3"/>
          <p:cNvSpPr>
            <a:spLocks noChangeShapeType="1"/>
          </p:cNvSpPr>
          <p:nvPr/>
        </p:nvSpPr>
        <p:spPr bwMode="auto">
          <a:xfrm>
            <a:off x="5795963" y="3141663"/>
            <a:ext cx="0" cy="2889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68" name="Line 4"/>
          <p:cNvSpPr>
            <a:spLocks noChangeShapeType="1"/>
          </p:cNvSpPr>
          <p:nvPr/>
        </p:nvSpPr>
        <p:spPr bwMode="auto">
          <a:xfrm>
            <a:off x="5795963" y="3933825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8309" name="Line 5"/>
          <p:cNvSpPr>
            <a:spLocks noChangeShapeType="1"/>
          </p:cNvSpPr>
          <p:nvPr/>
        </p:nvSpPr>
        <p:spPr bwMode="auto">
          <a:xfrm>
            <a:off x="3276600" y="3141663"/>
            <a:ext cx="54721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8310" name="Text Box 6"/>
          <p:cNvSpPr txBox="1">
            <a:spLocks noChangeArrowheads="1"/>
          </p:cNvSpPr>
          <p:nvPr/>
        </p:nvSpPr>
        <p:spPr bwMode="auto">
          <a:xfrm>
            <a:off x="3203575" y="3429000"/>
            <a:ext cx="5256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“DORSO PIATTO”</a:t>
            </a:r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title" sz="quarter"/>
          </p:nvPr>
        </p:nvSpPr>
        <p:spPr/>
        <p:txBody>
          <a:bodyPr anchorCtr="1"/>
          <a:lstStyle/>
          <a:p>
            <a:pPr eaLnBrk="1" hangingPunct="1">
              <a:defRPr/>
            </a:pPr>
            <a:r>
              <a:rPr lang="it-IT" altLang="it-IT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SQUILIBRIO MUSCOLARE</a:t>
            </a:r>
            <a:br>
              <a:rPr lang="it-IT" altLang="it-IT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it-IT" altLang="it-IT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ATTEGGIAMENTO IN ANTIVERSIONE</a:t>
            </a:r>
          </a:p>
        </p:txBody>
      </p:sp>
      <p:sp>
        <p:nvSpPr>
          <p:cNvPr id="98312" name="Rectangle 8"/>
          <p:cNvSpPr>
            <a:spLocks noChangeArrowheads="1"/>
          </p:cNvSpPr>
          <p:nvPr/>
        </p:nvSpPr>
        <p:spPr bwMode="auto">
          <a:xfrm>
            <a:off x="3203575" y="3860800"/>
            <a:ext cx="548322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buSzTx/>
              <a:buFontTx/>
              <a:buChar char="-"/>
            </a:pPr>
            <a:r>
              <a:rPr lang="it-IT" altLang="it-IT" sz="1600">
                <a:latin typeface="Times New Roman" panose="02020603050405020304" pitchFamily="18" charset="0"/>
              </a:rPr>
              <a:t>Slittamento posteriore del nucleo polposo, ERNIE.</a:t>
            </a:r>
          </a:p>
          <a:p>
            <a:pPr eaLnBrk="1" hangingPunct="1">
              <a:buClrTx/>
              <a:buSzTx/>
              <a:buFontTx/>
              <a:buChar char="-"/>
            </a:pPr>
            <a:r>
              <a:rPr lang="it-IT" altLang="it-IT" sz="1600">
                <a:latin typeface="Times New Roman" panose="02020603050405020304" pitchFamily="18" charset="0"/>
              </a:rPr>
              <a:t>Trazione del leg. longitudinale posteriore</a:t>
            </a:r>
          </a:p>
          <a:p>
            <a:pPr eaLnBrk="1" hangingPunct="1">
              <a:buClrTx/>
              <a:buSzTx/>
              <a:buFontTx/>
              <a:buChar char="-"/>
            </a:pPr>
            <a:r>
              <a:rPr lang="it-IT" altLang="it-IT" sz="1600">
                <a:latin typeface="Times New Roman" panose="02020603050405020304" pitchFamily="18" charset="0"/>
              </a:rPr>
              <a:t>Detensione del leg. longitudinale anteriore</a:t>
            </a:r>
          </a:p>
          <a:p>
            <a:pPr eaLnBrk="1" hangingPunct="1">
              <a:buClrTx/>
              <a:buSzTx/>
              <a:buFontTx/>
              <a:buChar char="-"/>
            </a:pPr>
            <a:r>
              <a:rPr lang="it-IT" altLang="it-IT" sz="1600">
                <a:latin typeface="Times New Roman" panose="02020603050405020304" pitchFamily="18" charset="0"/>
              </a:rPr>
              <a:t>Diastasi delle faccette articolari apofisarie con trazione delle capsule articolari</a:t>
            </a:r>
          </a:p>
          <a:p>
            <a:pPr eaLnBrk="1" hangingPunct="1">
              <a:buClrTx/>
              <a:buSzTx/>
              <a:buFontTx/>
              <a:buChar char="-"/>
            </a:pPr>
            <a:r>
              <a:rPr lang="it-IT" altLang="it-IT" sz="1600">
                <a:latin typeface="Times New Roman" panose="02020603050405020304" pitchFamily="18" charset="0"/>
              </a:rPr>
              <a:t>Allontanamento delle apofisi spinose con tensione dei legamenti interspinosi</a:t>
            </a:r>
          </a:p>
          <a:p>
            <a:pPr eaLnBrk="1" hangingPunct="1">
              <a:buClrTx/>
              <a:buSzTx/>
              <a:buFontTx/>
              <a:buChar char="-"/>
            </a:pPr>
            <a:endParaRPr lang="it-IT" altLang="it-IT" sz="1600">
              <a:latin typeface="Times New Roman" panose="02020603050405020304" pitchFamily="18" charset="0"/>
            </a:endParaRPr>
          </a:p>
        </p:txBody>
      </p:sp>
      <p:sp>
        <p:nvSpPr>
          <p:cNvPr id="98313" name="Line 9"/>
          <p:cNvSpPr>
            <a:spLocks noChangeShapeType="1"/>
          </p:cNvSpPr>
          <p:nvPr/>
        </p:nvSpPr>
        <p:spPr bwMode="auto">
          <a:xfrm>
            <a:off x="3276600" y="5949950"/>
            <a:ext cx="54721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8314" name="Line 10"/>
          <p:cNvSpPr>
            <a:spLocks noChangeShapeType="1"/>
          </p:cNvSpPr>
          <p:nvPr/>
        </p:nvSpPr>
        <p:spPr bwMode="auto">
          <a:xfrm>
            <a:off x="5795963" y="5949950"/>
            <a:ext cx="0" cy="2889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8315" name="Text Box 11"/>
          <p:cNvSpPr txBox="1">
            <a:spLocks noChangeArrowheads="1"/>
          </p:cNvSpPr>
          <p:nvPr/>
        </p:nvSpPr>
        <p:spPr bwMode="auto">
          <a:xfrm>
            <a:off x="4500563" y="6237288"/>
            <a:ext cx="26638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LOMBALGIA</a:t>
            </a:r>
          </a:p>
        </p:txBody>
      </p:sp>
      <p:pic>
        <p:nvPicPr>
          <p:cNvPr id="36876" name="Picture 12" descr="contron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2" y="1140285"/>
            <a:ext cx="2879719" cy="26062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8317" name="Picture 13" descr="ver contrnut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2" y="3906442"/>
            <a:ext cx="2879715" cy="26909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9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9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animBg="1"/>
      <p:bldP spid="98309" grpId="0" animBg="1"/>
      <p:bldP spid="98310" grpId="0"/>
      <p:bldP spid="98312" grpId="0"/>
      <p:bldP spid="98313" grpId="0" animBg="1"/>
      <p:bldP spid="98314" grpId="0" animBg="1"/>
      <p:bldP spid="983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8650" y="404664"/>
            <a:ext cx="7886700" cy="644075"/>
          </a:xfrm>
        </p:spPr>
        <p:txBody>
          <a:bodyPr>
            <a:normAutofit fontScale="90000"/>
          </a:bodyPr>
          <a:lstStyle/>
          <a:p>
            <a:r>
              <a:rPr lang="it-IT" dirty="0"/>
              <a:t>QUANDO SIETE SEDUTI…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28650" y="1196752"/>
            <a:ext cx="7886700" cy="5328592"/>
          </a:xfrm>
        </p:spPr>
        <p:txBody>
          <a:bodyPr>
            <a:normAutofit fontScale="85000" lnSpcReduction="20000"/>
          </a:bodyPr>
          <a:lstStyle/>
          <a:p>
            <a:r>
              <a:rPr lang="it-IT" dirty="0"/>
              <a:t>Cercate di mantenere una postura ergonomica cioè «corretta». Cercate la giusta posizione: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MA NON RESTATE MAI FERMI TROPPO A LUNGO!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660" y="1916832"/>
            <a:ext cx="6120680" cy="360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35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Risultati immagini per chaise longu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41" b="21617"/>
          <a:stretch/>
        </p:blipFill>
        <p:spPr bwMode="auto">
          <a:xfrm>
            <a:off x="323528" y="332655"/>
            <a:ext cx="6795820" cy="36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Rettangolo 1"/>
          <p:cNvSpPr>
            <a:spLocks noChangeArrowheads="1"/>
          </p:cNvSpPr>
          <p:nvPr/>
        </p:nvSpPr>
        <p:spPr bwMode="auto">
          <a:xfrm>
            <a:off x="1044103" y="396403"/>
            <a:ext cx="57442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 dirty="0">
                <a:solidFill>
                  <a:srgbClr val="0070C0"/>
                </a:solidFill>
              </a:rPr>
              <a:t>Chaise longue LC 6 di Le </a:t>
            </a:r>
            <a:r>
              <a:rPr lang="it-IT" altLang="it-IT" sz="1800" b="1" dirty="0" err="1">
                <a:solidFill>
                  <a:srgbClr val="0070C0"/>
                </a:solidFill>
              </a:rPr>
              <a:t>Corbusier</a:t>
            </a:r>
            <a:r>
              <a:rPr lang="it-IT" altLang="it-IT" sz="1800" b="1" dirty="0">
                <a:solidFill>
                  <a:srgbClr val="0070C0"/>
                </a:solidFill>
              </a:rPr>
              <a:t>, anni '60</a:t>
            </a:r>
          </a:p>
        </p:txBody>
      </p:sp>
      <p:pic>
        <p:nvPicPr>
          <p:cNvPr id="1443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3829050"/>
            <a:ext cx="5240337" cy="284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tangolo 6"/>
          <p:cNvSpPr>
            <a:spLocks noChangeArrowheads="1"/>
          </p:cNvSpPr>
          <p:nvPr/>
        </p:nvSpPr>
        <p:spPr bwMode="auto">
          <a:xfrm>
            <a:off x="7519988" y="4005263"/>
            <a:ext cx="67037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8000" dirty="0">
                <a:solidFill>
                  <a:srgbClr val="FF0000"/>
                </a:solidFill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persona, vestiti, Gomito, conforto&#10;&#10;Il contenuto generato dall'IA potrebbe non essere corretto.">
            <a:extLst>
              <a:ext uri="{FF2B5EF4-FFF2-40B4-BE49-F238E27FC236}">
                <a16:creationId xmlns:a16="http://schemas.microsoft.com/office/drawing/2014/main" id="{E5CEFA94-388A-6C08-986F-D6B3A99A4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783" y="1039642"/>
            <a:ext cx="2514017" cy="4261566"/>
          </a:xfrm>
          <a:prstGeom prst="rect">
            <a:avLst/>
          </a:prstGeom>
        </p:spPr>
      </p:pic>
      <p:pic>
        <p:nvPicPr>
          <p:cNvPr id="4" name="Immagine 3" descr="Immagine che contiene bebè, pelle, Carne, persona&#10;&#10;Il contenuto generato dall'IA potrebbe non essere corretto.">
            <a:extLst>
              <a:ext uri="{FF2B5EF4-FFF2-40B4-BE49-F238E27FC236}">
                <a16:creationId xmlns:a16="http://schemas.microsoft.com/office/drawing/2014/main" id="{FB15220F-F0FA-7E4A-03A2-6B595BE74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039642"/>
            <a:ext cx="4131345" cy="2821406"/>
          </a:xfrm>
          <a:prstGeom prst="rect">
            <a:avLst/>
          </a:prstGeom>
        </p:spPr>
      </p:pic>
      <p:sp>
        <p:nvSpPr>
          <p:cNvPr id="6" name="Titolo 5">
            <a:extLst>
              <a:ext uri="{FF2B5EF4-FFF2-40B4-BE49-F238E27FC236}">
                <a16:creationId xmlns:a16="http://schemas.microsoft.com/office/drawing/2014/main" id="{3C6AD6AF-7BEC-38CC-B3B7-CB16D09D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6362"/>
          </a:xfrm>
        </p:spPr>
        <p:txBody>
          <a:bodyPr/>
          <a:lstStyle/>
          <a:p>
            <a:r>
              <a:rPr lang="it-IT" sz="3600" dirty="0"/>
              <a:t>POSIZIONE «FETALE»</a:t>
            </a:r>
          </a:p>
        </p:txBody>
      </p:sp>
      <p:pic>
        <p:nvPicPr>
          <p:cNvPr id="3" name="Immagine 2" descr="Immagine che contiene neonato, persona, bambino, Viso umano&#10;&#10;Il contenuto generato dall'IA potrebbe non essere corretto.">
            <a:extLst>
              <a:ext uri="{FF2B5EF4-FFF2-40B4-BE49-F238E27FC236}">
                <a16:creationId xmlns:a16="http://schemas.microsoft.com/office/drawing/2014/main" id="{61BF7B93-039E-841E-65A3-F9B674CD9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8" y="2834876"/>
            <a:ext cx="2143671" cy="353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92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Segnaposto contenuto 3" descr="pg27_f.gif"/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60"/>
          <a:stretch>
            <a:fillRect/>
          </a:stretch>
        </p:blipFill>
        <p:spPr>
          <a:xfrm>
            <a:off x="1412081" y="673697"/>
            <a:ext cx="6319837" cy="6122987"/>
          </a:xfrm>
        </p:spPr>
      </p:pic>
      <p:sp>
        <p:nvSpPr>
          <p:cNvPr id="3" name="Titolo 1"/>
          <p:cNvSpPr txBox="1">
            <a:spLocks/>
          </p:cNvSpPr>
          <p:nvPr/>
        </p:nvSpPr>
        <p:spPr bwMode="auto">
          <a:xfrm>
            <a:off x="250825" y="44450"/>
            <a:ext cx="82296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it-IT" kern="0" dirty="0">
                <a:effectLst/>
              </a:rPr>
              <a:t>LINEA DI APPIOMBO: POSTURA CORRETTA</a:t>
            </a:r>
          </a:p>
        </p:txBody>
      </p:sp>
      <p:sp>
        <p:nvSpPr>
          <p:cNvPr id="17412" name="Rettangolo 1"/>
          <p:cNvSpPr>
            <a:spLocks noChangeArrowheads="1"/>
          </p:cNvSpPr>
          <p:nvPr/>
        </p:nvSpPr>
        <p:spPr bwMode="auto">
          <a:xfrm>
            <a:off x="2411413" y="723900"/>
            <a:ext cx="50482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 b="1">
                <a:solidFill>
                  <a:srgbClr val="FF0000"/>
                </a:solidFill>
                <a:latin typeface="Arial Black" panose="020B0A04020102020204" pitchFamily="34" charset="0"/>
              </a:rPr>
              <a:t>L</a:t>
            </a:r>
          </a:p>
        </p:txBody>
      </p:sp>
      <p:sp>
        <p:nvSpPr>
          <p:cNvPr id="17413" name="Rettangolo 1"/>
          <p:cNvSpPr>
            <a:spLocks noChangeArrowheads="1"/>
          </p:cNvSpPr>
          <p:nvPr/>
        </p:nvSpPr>
        <p:spPr bwMode="auto">
          <a:xfrm>
            <a:off x="4930775" y="723900"/>
            <a:ext cx="50482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 b="1">
                <a:solidFill>
                  <a:srgbClr val="FF0000"/>
                </a:solidFill>
                <a:latin typeface="Arial Black" panose="020B0A04020102020204" pitchFamily="34" charset="0"/>
              </a:rPr>
              <a:t>L</a:t>
            </a:r>
          </a:p>
        </p:txBody>
      </p:sp>
      <p:sp>
        <p:nvSpPr>
          <p:cNvPr id="17414" name="Rettangolo 1"/>
          <p:cNvSpPr>
            <a:spLocks noChangeArrowheads="1"/>
          </p:cNvSpPr>
          <p:nvPr/>
        </p:nvSpPr>
        <p:spPr bwMode="auto">
          <a:xfrm>
            <a:off x="8388350" y="66675"/>
            <a:ext cx="649288" cy="338138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27</a:t>
            </a:r>
          </a:p>
        </p:txBody>
      </p:sp>
    </p:spTree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274F9-EE56-A169-57EA-6366672CB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7" name="Picture 4">
            <a:extLst>
              <a:ext uri="{FF2B5EF4-FFF2-40B4-BE49-F238E27FC236}">
                <a16:creationId xmlns:a16="http://schemas.microsoft.com/office/drawing/2014/main" id="{7956DEDF-58E8-19B3-B424-5D3F0518D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79" y="1552294"/>
            <a:ext cx="1919411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8" name="Picture 5">
            <a:extLst>
              <a:ext uri="{FF2B5EF4-FFF2-40B4-BE49-F238E27FC236}">
                <a16:creationId xmlns:a16="http://schemas.microsoft.com/office/drawing/2014/main" id="{A4E76931-4D6C-4690-6559-70943CC74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990" y="1552295"/>
            <a:ext cx="2559050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1" name="Rettangolo 1">
            <a:extLst>
              <a:ext uri="{FF2B5EF4-FFF2-40B4-BE49-F238E27FC236}">
                <a16:creationId xmlns:a16="http://schemas.microsoft.com/office/drawing/2014/main" id="{388935E4-F4EA-67E5-854E-B40CA981F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28" y="1558645"/>
            <a:ext cx="4468812" cy="40989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it-IT" altLang="it-IT" sz="1600">
              <a:solidFill>
                <a:srgbClr val="FF0000"/>
              </a:solidFill>
            </a:endParaRPr>
          </a:p>
        </p:txBody>
      </p:sp>
      <p:pic>
        <p:nvPicPr>
          <p:cNvPr id="41992" name="Picture 9" descr="Risultati immagini per PEDANE BAROPODOMETRICHE">
            <a:extLst>
              <a:ext uri="{FF2B5EF4-FFF2-40B4-BE49-F238E27FC236}">
                <a16:creationId xmlns:a16="http://schemas.microsoft.com/office/drawing/2014/main" id="{2469B883-1EF3-EDB6-445E-E0E56416B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3628552"/>
            <a:ext cx="3619500" cy="2032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3" name="Rettangolo 1">
            <a:extLst>
              <a:ext uri="{FF2B5EF4-FFF2-40B4-BE49-F238E27FC236}">
                <a16:creationId xmlns:a16="http://schemas.microsoft.com/office/drawing/2014/main" id="{69D40BC1-90A8-5FFD-ED2F-3108B91EB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628552"/>
            <a:ext cx="3619500" cy="20081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it-IT" altLang="it-IT" sz="1600">
              <a:solidFill>
                <a:srgbClr val="FF0000"/>
              </a:solidFill>
            </a:endParaRPr>
          </a:p>
        </p:txBody>
      </p:sp>
      <p:sp>
        <p:nvSpPr>
          <p:cNvPr id="41994" name="Rettangolo 1">
            <a:extLst>
              <a:ext uri="{FF2B5EF4-FFF2-40B4-BE49-F238E27FC236}">
                <a16:creationId xmlns:a16="http://schemas.microsoft.com/office/drawing/2014/main" id="{59B773E2-78AE-E49C-F981-1DEE04FB5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88" y="260350"/>
            <a:ext cx="649287" cy="338138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114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B04F90F-E15A-FD37-7E12-7BC8683DD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5328"/>
            <a:ext cx="8229600" cy="567408"/>
          </a:xfrm>
        </p:spPr>
        <p:txBody>
          <a:bodyPr/>
          <a:lstStyle/>
          <a:p>
            <a:r>
              <a:rPr lang="it-IT" sz="3200" dirty="0"/>
              <a:t>DISMETRIE DEGLI ARTI INFERIORI</a:t>
            </a:r>
          </a:p>
        </p:txBody>
      </p:sp>
    </p:spTree>
    <p:extLst>
      <p:ext uri="{BB962C8B-B14F-4D97-AF65-F5344CB8AC3E}">
        <p14:creationId xmlns:p14="http://schemas.microsoft.com/office/powerpoint/2010/main" val="1756496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AFB540-78FB-DF39-7F92-7E519EF58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it-IT" sz="2800" b="1" dirty="0">
                <a:effectLst/>
              </a:rPr>
              <a:t>Segno di Galeazzi</a:t>
            </a:r>
            <a:br>
              <a:rPr lang="it-IT" sz="2800" b="1" dirty="0">
                <a:effectLst/>
              </a:rPr>
            </a:br>
            <a:r>
              <a:rPr lang="it-IT" sz="2800" dirty="0">
                <a:effectLst/>
              </a:rPr>
              <a:t>(test di Galeazzi-</a:t>
            </a:r>
            <a:r>
              <a:rPr lang="it-IT" sz="2800" dirty="0" err="1">
                <a:effectLst/>
              </a:rPr>
              <a:t>Prettin</a:t>
            </a:r>
            <a:r>
              <a:rPr lang="it-IT" sz="2800" dirty="0">
                <a:effectLst/>
              </a:rPr>
              <a:t>/</a:t>
            </a:r>
            <a:r>
              <a:rPr lang="it-IT" sz="2800" dirty="0" err="1">
                <a:effectLst/>
              </a:rPr>
              <a:t>Allis</a:t>
            </a:r>
            <a:r>
              <a:rPr lang="it-IT" sz="2800" dirty="0">
                <a:effectLst/>
              </a:rPr>
              <a:t>). </a:t>
            </a:r>
            <a:endParaRPr lang="it-IT" sz="2800" dirty="0"/>
          </a:p>
        </p:txBody>
      </p:sp>
      <p:pic>
        <p:nvPicPr>
          <p:cNvPr id="5" name="Segnaposto contenuto 4" descr="Immagine che contiene schizzo, disegno, Line art, scheletro&#10;&#10;Il contenuto generato dall'IA potrebbe non essere corretto.">
            <a:extLst>
              <a:ext uri="{FF2B5EF4-FFF2-40B4-BE49-F238E27FC236}">
                <a16:creationId xmlns:a16="http://schemas.microsoft.com/office/drawing/2014/main" id="{E36A9E90-8DCE-F60B-3A0A-99CB8537E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912305" y="1249542"/>
            <a:ext cx="5319385" cy="3566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CD31DC2-D273-3671-968E-F6BF2866E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663" y="5013176"/>
            <a:ext cx="6048673" cy="123110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 altLang="it-IT" sz="2000" b="1" dirty="0">
                <a:latin typeface="+mj-lt"/>
              </a:rPr>
              <a:t>Gold standard</a:t>
            </a:r>
            <a:r>
              <a:rPr lang="it-IT" altLang="it-IT" sz="2000" dirty="0">
                <a:latin typeface="+mj-lt"/>
              </a:rPr>
              <a:t> diagnostico:</a:t>
            </a:r>
          </a:p>
          <a:p>
            <a:pPr lvl="0"/>
            <a:endParaRPr lang="it-IT" altLang="it-IT" sz="2000" dirty="0">
              <a:latin typeface="+mj-lt"/>
            </a:endParaRPr>
          </a:p>
          <a:p>
            <a:pPr lvl="0"/>
            <a:r>
              <a:rPr kumimoji="0" lang="it-IT" altLang="it-IT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Radiografia</a:t>
            </a:r>
            <a:r>
              <a:rPr lang="it-IT" altLang="it-IT" sz="2000" b="1" dirty="0">
                <a:latin typeface="+mj-lt"/>
              </a:rPr>
              <a:t> «</a:t>
            </a:r>
            <a:r>
              <a:rPr kumimoji="0" lang="it-IT" altLang="it-IT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sotto carico» degli arti inferiori e del bacino (N.B. v</a:t>
            </a:r>
            <a:r>
              <a:rPr lang="it-IT" altLang="it-IT" sz="2000" b="1" dirty="0">
                <a:latin typeface="+mj-lt"/>
              </a:rPr>
              <a:t>a eseguita in piedi</a:t>
            </a:r>
            <a:r>
              <a:rPr lang="it-IT" altLang="it-IT" sz="2000" dirty="0">
                <a:latin typeface="+mj-lt"/>
              </a:rPr>
              <a:t>!)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657639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03F1A-8908-08AE-1A2E-9643FDEB4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3">
            <a:extLst>
              <a:ext uri="{FF2B5EF4-FFF2-40B4-BE49-F238E27FC236}">
                <a16:creationId xmlns:a16="http://schemas.microsoft.com/office/drawing/2014/main" id="{292C1BD5-AC31-C6BF-EC2C-1BEAFCEBF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15900"/>
            <a:ext cx="1974850" cy="477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7" descr="Iperpronazione - Piede piatto">
            <a:extLst>
              <a:ext uri="{FF2B5EF4-FFF2-40B4-BE49-F238E27FC236}">
                <a16:creationId xmlns:a16="http://schemas.microsoft.com/office/drawing/2014/main" id="{A54E0886-E577-E9D7-7D06-19675886D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5051425"/>
            <a:ext cx="1974850" cy="161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0" name="Rettangolo 1">
            <a:extLst>
              <a:ext uri="{FF2B5EF4-FFF2-40B4-BE49-F238E27FC236}">
                <a16:creationId xmlns:a16="http://schemas.microsoft.com/office/drawing/2014/main" id="{FA7B71C5-FC87-D504-7D58-070E94AE6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34950"/>
            <a:ext cx="1974850" cy="643413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it-IT" altLang="it-IT" sz="1600">
              <a:solidFill>
                <a:srgbClr val="FF0000"/>
              </a:solidFill>
            </a:endParaRPr>
          </a:p>
        </p:txBody>
      </p:sp>
      <p:sp>
        <p:nvSpPr>
          <p:cNvPr id="41994" name="Rettangolo 1">
            <a:extLst>
              <a:ext uri="{FF2B5EF4-FFF2-40B4-BE49-F238E27FC236}">
                <a16:creationId xmlns:a16="http://schemas.microsoft.com/office/drawing/2014/main" id="{642D6978-D201-CA34-5F33-61A0183E1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88" y="260350"/>
            <a:ext cx="649287" cy="338138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114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70AF38E-6B48-F1F2-902A-FB2757035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102" y="1325267"/>
            <a:ext cx="5766585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tella a 4 punte 2">
            <a:extLst>
              <a:ext uri="{FF2B5EF4-FFF2-40B4-BE49-F238E27FC236}">
                <a16:creationId xmlns:a16="http://schemas.microsoft.com/office/drawing/2014/main" id="{C2AD2DB7-6F68-B933-1203-B0DB9249F658}"/>
              </a:ext>
            </a:extLst>
          </p:cNvPr>
          <p:cNvSpPr/>
          <p:nvPr/>
        </p:nvSpPr>
        <p:spPr>
          <a:xfrm>
            <a:off x="5824052" y="4653136"/>
            <a:ext cx="133669" cy="162191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5" name="Stella a 4 punte 4">
            <a:extLst>
              <a:ext uri="{FF2B5EF4-FFF2-40B4-BE49-F238E27FC236}">
                <a16:creationId xmlns:a16="http://schemas.microsoft.com/office/drawing/2014/main" id="{93198F55-261E-8135-A3B2-5CC1D9480C46}"/>
              </a:ext>
            </a:extLst>
          </p:cNvPr>
          <p:cNvSpPr/>
          <p:nvPr/>
        </p:nvSpPr>
        <p:spPr>
          <a:xfrm>
            <a:off x="7236296" y="4149080"/>
            <a:ext cx="133669" cy="162191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6" name="Rettangolo 1">
            <a:extLst>
              <a:ext uri="{FF2B5EF4-FFF2-40B4-BE49-F238E27FC236}">
                <a16:creationId xmlns:a16="http://schemas.microsoft.com/office/drawing/2014/main" id="{44D6456A-1AE9-770A-86DA-DFA6CA27F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6845" y="1399965"/>
            <a:ext cx="312320" cy="5847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/>
              <a:t>DX</a:t>
            </a:r>
          </a:p>
        </p:txBody>
      </p:sp>
      <p:sp>
        <p:nvSpPr>
          <p:cNvPr id="7" name="Rettangolo 1">
            <a:extLst>
              <a:ext uri="{FF2B5EF4-FFF2-40B4-BE49-F238E27FC236}">
                <a16:creationId xmlns:a16="http://schemas.microsoft.com/office/drawing/2014/main" id="{161E4F28-ED5B-9699-6A9C-AF3258B34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88" y="1335416"/>
            <a:ext cx="401485" cy="5847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/>
              <a:t>SIN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345E1C5D-2153-C2C8-230F-D321CB49643B}"/>
              </a:ext>
            </a:extLst>
          </p:cNvPr>
          <p:cNvCxnSpPr/>
          <p:nvPr/>
        </p:nvCxnSpPr>
        <p:spPr>
          <a:xfrm flipH="1">
            <a:off x="5142320" y="2310688"/>
            <a:ext cx="439542" cy="39763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D48578DB-AF08-8168-4590-FF6955B06F2C}"/>
              </a:ext>
            </a:extLst>
          </p:cNvPr>
          <p:cNvCxnSpPr/>
          <p:nvPr/>
        </p:nvCxnSpPr>
        <p:spPr>
          <a:xfrm>
            <a:off x="6034602" y="2310688"/>
            <a:ext cx="673658" cy="39763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0060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792163"/>
          </a:xfrm>
        </p:spPr>
        <p:txBody>
          <a:bodyPr/>
          <a:lstStyle/>
          <a:p>
            <a:pPr>
              <a:defRPr/>
            </a:pPr>
            <a:r>
              <a:rPr lang="it-IT" dirty="0"/>
              <a:t>SCOLIOSI «IDIOPATICA»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323850" y="692150"/>
            <a:ext cx="8712200" cy="936625"/>
          </a:xfrm>
        </p:spPr>
        <p:txBody>
          <a:bodyPr/>
          <a:lstStyle/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2400" dirty="0">
                <a:effectLst/>
              </a:rPr>
              <a:t>«</a:t>
            </a:r>
            <a:r>
              <a:rPr lang="it-IT" sz="2400" b="1" dirty="0">
                <a:effectLst/>
              </a:rPr>
              <a:t>dismorfismo</a:t>
            </a:r>
            <a:r>
              <a:rPr lang="it-IT" sz="2400" dirty="0">
                <a:effectLst/>
              </a:rPr>
              <a:t>» che implica gradi diversi di </a:t>
            </a: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2400" b="1" dirty="0">
                <a:effectLst/>
              </a:rPr>
              <a:t>curvatura laterale e rotazione </a:t>
            </a:r>
            <a:r>
              <a:rPr lang="it-IT" sz="2400" dirty="0">
                <a:effectLst/>
              </a:rPr>
              <a:t>della colonna vertebrale</a:t>
            </a:r>
            <a:endParaRPr lang="it-IT" sz="2400" dirty="0"/>
          </a:p>
        </p:txBody>
      </p:sp>
      <p:pic>
        <p:nvPicPr>
          <p:cNvPr id="18436" name="Segnaposto contenuto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9575" y="1628775"/>
            <a:ext cx="8194675" cy="5222875"/>
          </a:xfrm>
        </p:spPr>
      </p:pic>
    </p:spTree>
  </p:cSld>
  <p:clrMapOvr>
    <a:masterClrMapping/>
  </p:clrMapOvr>
  <p:transition spd="med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792163"/>
          </a:xfrm>
        </p:spPr>
        <p:txBody>
          <a:bodyPr/>
          <a:lstStyle/>
          <a:p>
            <a:pPr>
              <a:defRPr/>
            </a:pPr>
            <a:r>
              <a:rPr lang="it-IT" sz="3200" dirty="0"/>
              <a:t>SCOLIOSI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323850" y="620713"/>
            <a:ext cx="8712200" cy="936625"/>
          </a:xfrm>
        </p:spPr>
        <p:txBody>
          <a:bodyPr/>
          <a:lstStyle/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2400" dirty="0">
                <a:effectLst/>
              </a:rPr>
              <a:t>«</a:t>
            </a:r>
            <a:r>
              <a:rPr lang="it-IT" sz="2400" b="1" dirty="0">
                <a:effectLst/>
              </a:rPr>
              <a:t>dismorfismo</a:t>
            </a:r>
            <a:r>
              <a:rPr lang="it-IT" sz="2400" dirty="0">
                <a:effectLst/>
              </a:rPr>
              <a:t>» che implica gradi diversi di  </a:t>
            </a: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2400" b="1" dirty="0">
                <a:effectLst/>
              </a:rPr>
              <a:t>curvatura laterale e rotazione </a:t>
            </a:r>
            <a:r>
              <a:rPr lang="it-IT" sz="2400" dirty="0">
                <a:effectLst/>
              </a:rPr>
              <a:t>della colonna vertebrale</a:t>
            </a:r>
            <a:endParaRPr lang="it-IT" sz="2400" dirty="0"/>
          </a:p>
        </p:txBody>
      </p:sp>
      <p:pic>
        <p:nvPicPr>
          <p:cNvPr id="19460" name="Picture 7" descr="Risultati immagini per SCOLIOS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13" y="1569717"/>
            <a:ext cx="7952373" cy="4832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Rettangolo 1"/>
          <p:cNvSpPr>
            <a:spLocks noChangeArrowheads="1"/>
          </p:cNvSpPr>
          <p:nvPr/>
        </p:nvSpPr>
        <p:spPr bwMode="auto">
          <a:xfrm>
            <a:off x="8459788" y="44450"/>
            <a:ext cx="649287" cy="338138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133</a:t>
            </a:r>
          </a:p>
        </p:txBody>
      </p:sp>
    </p:spTree>
  </p:cSld>
  <p:clrMapOvr>
    <a:masterClrMapping/>
  </p:clrMapOvr>
  <p:transition spd="med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792163"/>
          </a:xfrm>
        </p:spPr>
        <p:txBody>
          <a:bodyPr/>
          <a:lstStyle/>
          <a:p>
            <a:pPr>
              <a:defRPr/>
            </a:pPr>
            <a:r>
              <a:rPr lang="it-IT" sz="3200" dirty="0"/>
              <a:t>SCOLIOSI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323850" y="620713"/>
            <a:ext cx="8712200" cy="936625"/>
          </a:xfrm>
        </p:spPr>
        <p:txBody>
          <a:bodyPr/>
          <a:lstStyle/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2400" dirty="0">
                <a:effectLst/>
              </a:rPr>
              <a:t>«</a:t>
            </a:r>
            <a:r>
              <a:rPr lang="it-IT" sz="2400" b="1" dirty="0">
                <a:effectLst/>
              </a:rPr>
              <a:t>dismorfismo</a:t>
            </a:r>
            <a:r>
              <a:rPr lang="it-IT" sz="2400" dirty="0">
                <a:effectLst/>
              </a:rPr>
              <a:t>» che implica gradi diversi di </a:t>
            </a: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2400" b="1" dirty="0">
                <a:effectLst/>
              </a:rPr>
              <a:t>curvatura laterale e rotazione </a:t>
            </a:r>
            <a:r>
              <a:rPr lang="it-IT" sz="2400" dirty="0">
                <a:effectLst/>
              </a:rPr>
              <a:t>della colonna vertebrale</a:t>
            </a:r>
            <a:endParaRPr lang="it-IT" sz="2400" dirty="0"/>
          </a:p>
        </p:txBody>
      </p:sp>
      <p:pic>
        <p:nvPicPr>
          <p:cNvPr id="20484" name="Picture 5" descr="Risultati immagini per SCOLIOS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905000"/>
            <a:ext cx="568801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Rettangolo 1"/>
          <p:cNvSpPr>
            <a:spLocks noChangeArrowheads="1"/>
          </p:cNvSpPr>
          <p:nvPr/>
        </p:nvSpPr>
        <p:spPr bwMode="auto">
          <a:xfrm>
            <a:off x="8459788" y="44450"/>
            <a:ext cx="649287" cy="338138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133</a:t>
            </a:r>
          </a:p>
        </p:txBody>
      </p:sp>
    </p:spTree>
  </p:cSld>
  <p:clrMapOvr>
    <a:masterClrMapping/>
  </p:clrMapOvr>
  <p:transition spd="med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it-IT" sz="3200" dirty="0"/>
              <a:t>ROTAZIONE AUTOMATICA DEL RACHIDE DURANTE LA FLESSIONE LATERALE</a:t>
            </a:r>
          </a:p>
        </p:txBody>
      </p:sp>
      <p:graphicFrame>
        <p:nvGraphicFramePr>
          <p:cNvPr id="23555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1763713" y="1350963"/>
          <a:ext cx="5616575" cy="544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1838095" imgH="1781424" progId="MSPhotoEd.3">
                  <p:embed/>
                </p:oleObj>
              </mc:Choice>
              <mc:Fallback>
                <p:oleObj name="Fotografia di Photo Editor" r:id="rId2" imgW="1838095" imgH="1781424" progId="MSPhotoEd.3">
                  <p:embed/>
                  <p:pic>
                    <p:nvPicPr>
                      <p:cNvPr id="23555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350963"/>
                        <a:ext cx="5616575" cy="544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Rettangolo 1"/>
          <p:cNvSpPr>
            <a:spLocks noChangeArrowheads="1"/>
          </p:cNvSpPr>
          <p:nvPr/>
        </p:nvSpPr>
        <p:spPr bwMode="auto">
          <a:xfrm>
            <a:off x="8027988" y="44450"/>
            <a:ext cx="1152525" cy="338138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KAPANDJI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792163"/>
          </a:xfrm>
        </p:spPr>
        <p:txBody>
          <a:bodyPr/>
          <a:lstStyle/>
          <a:p>
            <a:pPr>
              <a:defRPr/>
            </a:pPr>
            <a:r>
              <a:rPr lang="it-IT" sz="3200" dirty="0"/>
              <a:t>SCOLIOSI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323850" y="620713"/>
            <a:ext cx="8712200" cy="936625"/>
          </a:xfrm>
        </p:spPr>
        <p:txBody>
          <a:bodyPr/>
          <a:lstStyle/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2400" dirty="0">
                <a:effectLst/>
              </a:rPr>
              <a:t>«</a:t>
            </a:r>
            <a:r>
              <a:rPr lang="it-IT" sz="2400" b="1" dirty="0">
                <a:effectLst/>
              </a:rPr>
              <a:t>dismorfismo</a:t>
            </a:r>
            <a:r>
              <a:rPr lang="it-IT" sz="2400" dirty="0">
                <a:effectLst/>
              </a:rPr>
              <a:t>» che implica gradi diversi di </a:t>
            </a: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2400" b="1" dirty="0">
                <a:effectLst/>
              </a:rPr>
              <a:t>curvatura laterale e rotazione </a:t>
            </a:r>
            <a:r>
              <a:rPr lang="it-IT" sz="2400" dirty="0">
                <a:effectLst/>
              </a:rPr>
              <a:t>della colonna vertebrale</a:t>
            </a:r>
            <a:endParaRPr lang="it-IT" sz="2400" dirty="0"/>
          </a:p>
        </p:txBody>
      </p:sp>
      <p:pic>
        <p:nvPicPr>
          <p:cNvPr id="21508" name="Picture 9" descr="Risultati immagini per SCOLIOS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388" y="1566859"/>
            <a:ext cx="6423124" cy="5074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Rettangolo 1"/>
          <p:cNvSpPr>
            <a:spLocks noChangeArrowheads="1"/>
          </p:cNvSpPr>
          <p:nvPr/>
        </p:nvSpPr>
        <p:spPr bwMode="auto">
          <a:xfrm>
            <a:off x="8459788" y="44450"/>
            <a:ext cx="649287" cy="338138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133</a:t>
            </a:r>
          </a:p>
        </p:txBody>
      </p:sp>
    </p:spTree>
  </p:cSld>
  <p:clrMapOvr>
    <a:masterClrMapping/>
  </p:clrMapOvr>
  <p:transition spd="med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it-IT" sz="3200" dirty="0"/>
              <a:t>SCOLIOSI = FISSAZIONE DELLA ROTAZIONE IN FLESSIONE ANTERIORE</a:t>
            </a:r>
          </a:p>
        </p:txBody>
      </p:sp>
      <p:graphicFrame>
        <p:nvGraphicFramePr>
          <p:cNvPr id="2457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403350" y="1463675"/>
          <a:ext cx="5616575" cy="534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1952898" imgH="1857143" progId="MSPhotoEd.3">
                  <p:embed/>
                </p:oleObj>
              </mc:Choice>
              <mc:Fallback>
                <p:oleObj name="Fotografia di Photo Editor" r:id="rId2" imgW="1952898" imgH="1857143" progId="MSPhotoEd.3">
                  <p:embed/>
                  <p:pic>
                    <p:nvPicPr>
                      <p:cNvPr id="24579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463675"/>
                        <a:ext cx="5616575" cy="534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6"/>
          <p:cNvSpPr>
            <a:spLocks noChangeArrowheads="1"/>
          </p:cNvSpPr>
          <p:nvPr/>
        </p:nvSpPr>
        <p:spPr bwMode="auto">
          <a:xfrm>
            <a:off x="250825" y="3500438"/>
            <a:ext cx="1655763" cy="1296987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>
                <a:solidFill>
                  <a:srgbClr val="FF0000"/>
                </a:solidFill>
                <a:latin typeface="Arial" panose="020B0604020202020204" pitchFamily="34" charset="0"/>
              </a:rPr>
              <a:t>NORMALE: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>
                <a:solidFill>
                  <a:srgbClr val="FF0000"/>
                </a:solidFill>
                <a:latin typeface="Arial" panose="020B0604020202020204" pitchFamily="34" charset="0"/>
              </a:rPr>
              <a:t>PROFILO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>
                <a:solidFill>
                  <a:srgbClr val="FF0000"/>
                </a:solidFill>
                <a:latin typeface="Arial" panose="020B0604020202020204" pitchFamily="34" charset="0"/>
              </a:rPr>
              <a:t>DORSALE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>
                <a:solidFill>
                  <a:srgbClr val="FF0000"/>
                </a:solidFill>
                <a:latin typeface="Arial" panose="020B0604020202020204" pitchFamily="34" charset="0"/>
              </a:rPr>
              <a:t>SIMMETRICO</a:t>
            </a:r>
          </a:p>
        </p:txBody>
      </p:sp>
      <p:sp>
        <p:nvSpPr>
          <p:cNvPr id="24581" name="Rectangle 9"/>
          <p:cNvSpPr>
            <a:spLocks noChangeArrowheads="1"/>
          </p:cNvSpPr>
          <p:nvPr/>
        </p:nvSpPr>
        <p:spPr bwMode="auto">
          <a:xfrm>
            <a:off x="6659563" y="3357563"/>
            <a:ext cx="2339975" cy="1584325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>
                <a:solidFill>
                  <a:srgbClr val="FF0000"/>
                </a:solidFill>
                <a:latin typeface="Arial" panose="020B0604020202020204" pitchFamily="34" charset="0"/>
              </a:rPr>
              <a:t>SCOLIOSI: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>
                <a:solidFill>
                  <a:srgbClr val="FF0000"/>
                </a:solidFill>
                <a:latin typeface="Arial" panose="020B0604020202020204" pitchFamily="34" charset="0"/>
              </a:rPr>
              <a:t>SPORGENZA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>
                <a:solidFill>
                  <a:srgbClr val="FF0000"/>
                </a:solidFill>
                <a:latin typeface="Arial" panose="020B0604020202020204" pitchFamily="34" charset="0"/>
              </a:rPr>
              <a:t>DAL LATO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>
                <a:solidFill>
                  <a:srgbClr val="FF0000"/>
                </a:solidFill>
                <a:latin typeface="Arial" panose="020B0604020202020204" pitchFamily="34" charset="0"/>
              </a:rPr>
              <a:t>DELLA CONVESSITA’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it-IT" sz="1800">
                <a:solidFill>
                  <a:srgbClr val="FF0000"/>
                </a:solidFill>
                <a:latin typeface="Arial" panose="020B0604020202020204" pitchFamily="34" charset="0"/>
              </a:rPr>
              <a:t>DELLA CURVA</a:t>
            </a:r>
          </a:p>
        </p:txBody>
      </p:sp>
      <p:sp>
        <p:nvSpPr>
          <p:cNvPr id="24582" name="Rettangolo 1"/>
          <p:cNvSpPr>
            <a:spLocks noChangeArrowheads="1"/>
          </p:cNvSpPr>
          <p:nvPr/>
        </p:nvSpPr>
        <p:spPr bwMode="auto">
          <a:xfrm>
            <a:off x="7885113" y="138113"/>
            <a:ext cx="1152525" cy="338137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KAPANDJI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FCF9D-73F7-196F-9C44-768D6CFD2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9" name="Picture 12" descr="Risultati immagini per PAUSA">
            <a:hlinkClick r:id="rId3"/>
            <a:extLst>
              <a:ext uri="{FF2B5EF4-FFF2-40B4-BE49-F238E27FC236}">
                <a16:creationId xmlns:a16="http://schemas.microsoft.com/office/drawing/2014/main" id="{B1472B91-D26E-5B83-B1D2-66E9E1F43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196752"/>
            <a:ext cx="6306790" cy="4207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3696286"/>
      </p:ext>
    </p:extLst>
  </p:cSld>
  <p:clrMapOvr>
    <a:masterClrMapping/>
  </p:clrMapOvr>
  <p:transition spd="med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Risultati immagini per PAUSA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188913"/>
            <a:ext cx="3949700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5" name="Picture 4" descr="Risultati immagini per PAUSA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100" y="220663"/>
            <a:ext cx="4224338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Picture 6" descr="Risultati immagini per PAUSA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924175"/>
            <a:ext cx="37433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Picture 8" descr="Risultati immagini per PAUSA">
            <a:hlinkClick r:id="rId9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924175"/>
            <a:ext cx="333375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10" descr="Risultati immagini per PAUSA">
            <a:hlinkClick r:id="rId11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313" y="2914650"/>
            <a:ext cx="25241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9" name="Picture 12" descr="Risultati immagini per PAUSA">
            <a:hlinkClick r:id="rId13"/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2205038"/>
            <a:ext cx="3138487" cy="209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8948634"/>
      </p:ext>
    </p:extLst>
  </p:cSld>
  <p:clrMapOvr>
    <a:masterClrMapping/>
  </p:clrMapOvr>
  <p:transition spd="med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Segnaposto contenuto 2"/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3700" y="3014663"/>
            <a:ext cx="1427163" cy="733425"/>
          </a:xfrm>
        </p:spPr>
      </p:pic>
      <p:sp>
        <p:nvSpPr>
          <p:cNvPr id="5" name="Titolo 1"/>
          <p:cNvSpPr txBox="1">
            <a:spLocks/>
          </p:cNvSpPr>
          <p:nvPr/>
        </p:nvSpPr>
        <p:spPr bwMode="auto">
          <a:xfrm>
            <a:off x="119063" y="230188"/>
            <a:ext cx="18113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1400" kern="0" dirty="0">
                <a:effectLst/>
              </a:rPr>
              <a:t>OSSIFICAZIONE</a:t>
            </a:r>
          </a:p>
        </p:txBody>
      </p:sp>
      <p:sp>
        <p:nvSpPr>
          <p:cNvPr id="6" name="Segnaposto contenuto 2"/>
          <p:cNvSpPr txBox="1">
            <a:spLocks/>
          </p:cNvSpPr>
          <p:nvPr/>
        </p:nvSpPr>
        <p:spPr>
          <a:xfrm>
            <a:off x="733425" y="863600"/>
            <a:ext cx="2447925" cy="15843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>
              <a:defRPr/>
            </a:pPr>
            <a:r>
              <a:rPr lang="it-IT" kern="0" dirty="0">
                <a:effectLst/>
              </a:rPr>
              <a:t>CCC</a:t>
            </a:r>
          </a:p>
        </p:txBody>
      </p:sp>
      <p:sp>
        <p:nvSpPr>
          <p:cNvPr id="7" name="Ovale 6"/>
          <p:cNvSpPr/>
          <p:nvPr/>
        </p:nvSpPr>
        <p:spPr>
          <a:xfrm>
            <a:off x="4572000" y="5445125"/>
            <a:ext cx="3455988" cy="1079500"/>
          </a:xfrm>
          <a:prstGeom prst="ellipse">
            <a:avLst/>
          </a:prstGeom>
          <a:noFill/>
          <a:ln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8" name="Stella a 4 punte 7"/>
          <p:cNvSpPr/>
          <p:nvPr/>
        </p:nvSpPr>
        <p:spPr>
          <a:xfrm>
            <a:off x="1849438" y="5719763"/>
            <a:ext cx="215900" cy="215900"/>
          </a:xfrm>
          <a:prstGeom prst="star4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9" name="Freccia a sinistra 8"/>
          <p:cNvSpPr/>
          <p:nvPr/>
        </p:nvSpPr>
        <p:spPr>
          <a:xfrm>
            <a:off x="1147763" y="6259513"/>
            <a:ext cx="285750" cy="287337"/>
          </a:xfrm>
          <a:prstGeom prst="leftArrow">
            <a:avLst>
              <a:gd name="adj1" fmla="val 50000"/>
              <a:gd name="adj2" fmla="val 104707"/>
            </a:avLst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11" name="Freccia a sinistra 10"/>
          <p:cNvSpPr/>
          <p:nvPr/>
        </p:nvSpPr>
        <p:spPr>
          <a:xfrm rot="10800000">
            <a:off x="441325" y="6237288"/>
            <a:ext cx="288925" cy="165100"/>
          </a:xfrm>
          <a:prstGeom prst="leftArrow">
            <a:avLst>
              <a:gd name="adj1" fmla="val 50000"/>
              <a:gd name="adj2" fmla="val 100000"/>
            </a:avLst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cxnSp>
        <p:nvCxnSpPr>
          <p:cNvPr id="12" name="Connettore 1 11"/>
          <p:cNvCxnSpPr/>
          <p:nvPr/>
        </p:nvCxnSpPr>
        <p:spPr>
          <a:xfrm>
            <a:off x="5688013" y="3213100"/>
            <a:ext cx="309562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/>
          <p:cNvCxnSpPr/>
          <p:nvPr/>
        </p:nvCxnSpPr>
        <p:spPr>
          <a:xfrm flipV="1">
            <a:off x="441325" y="5654675"/>
            <a:ext cx="990600" cy="63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/>
          <p:cNvCxnSpPr/>
          <p:nvPr/>
        </p:nvCxnSpPr>
        <p:spPr>
          <a:xfrm>
            <a:off x="6092825" y="2530475"/>
            <a:ext cx="2328863" cy="6350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6" name="Rettangolo 1"/>
          <p:cNvSpPr>
            <a:spLocks noChangeArrowheads="1"/>
          </p:cNvSpPr>
          <p:nvPr/>
        </p:nvSpPr>
        <p:spPr bwMode="auto">
          <a:xfrm>
            <a:off x="2438400" y="1203325"/>
            <a:ext cx="504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600">
                <a:latin typeface="Tahoma" pitchFamily="34" charset="0"/>
              </a:rPr>
              <a:t>A</a:t>
            </a:r>
          </a:p>
        </p:txBody>
      </p:sp>
      <p:sp>
        <p:nvSpPr>
          <p:cNvPr id="16" name="Sottotitolo 2"/>
          <p:cNvSpPr txBox="1">
            <a:spLocks/>
          </p:cNvSpPr>
          <p:nvPr/>
        </p:nvSpPr>
        <p:spPr>
          <a:xfrm>
            <a:off x="611188" y="1870075"/>
            <a:ext cx="4608512" cy="6953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>
              <a:defRPr/>
            </a:pPr>
            <a:r>
              <a:rPr lang="it-IT" kern="0" dirty="0"/>
              <a:t>SPLANCNOCRANIO</a:t>
            </a:r>
          </a:p>
        </p:txBody>
      </p:sp>
      <p:sp>
        <p:nvSpPr>
          <p:cNvPr id="17" name="Stella a 4 punte 16"/>
          <p:cNvSpPr/>
          <p:nvPr/>
        </p:nvSpPr>
        <p:spPr>
          <a:xfrm>
            <a:off x="1849438" y="6237288"/>
            <a:ext cx="215900" cy="215900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18" name="Ovale 17"/>
          <p:cNvSpPr/>
          <p:nvPr/>
        </p:nvSpPr>
        <p:spPr>
          <a:xfrm>
            <a:off x="8421688" y="5768975"/>
            <a:ext cx="250825" cy="21590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11280" name="Rettangolo 1"/>
          <p:cNvSpPr>
            <a:spLocks noChangeArrowheads="1"/>
          </p:cNvSpPr>
          <p:nvPr/>
        </p:nvSpPr>
        <p:spPr bwMode="auto">
          <a:xfrm>
            <a:off x="6016625" y="858838"/>
            <a:ext cx="2228850" cy="33813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600">
                <a:solidFill>
                  <a:srgbClr val="FF0000"/>
                </a:solidFill>
                <a:latin typeface="Tahoma" pitchFamily="34" charset="0"/>
              </a:rPr>
              <a:t>SPLANCNOCRANIO</a:t>
            </a:r>
          </a:p>
        </p:txBody>
      </p:sp>
      <p:sp>
        <p:nvSpPr>
          <p:cNvPr id="20" name="Rettangolo 19"/>
          <p:cNvSpPr/>
          <p:nvPr/>
        </p:nvSpPr>
        <p:spPr>
          <a:xfrm>
            <a:off x="1979613" y="3009900"/>
            <a:ext cx="1254125" cy="3397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dirty="0">
                <a:solidFill>
                  <a:schemeClr val="accent6">
                    <a:lumMod val="50000"/>
                  </a:schemeClr>
                </a:solidFill>
              </a:rPr>
              <a:t>T </a:t>
            </a:r>
            <a:r>
              <a:rPr lang="it-IT" dirty="0" err="1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it-IT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it-IT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it-IT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50000"/>
                  </a:schemeClr>
                </a:solidFill>
              </a:rPr>
              <a:t>T</a:t>
            </a:r>
            <a:endParaRPr lang="it-IT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282" name="Rettangolo 1"/>
          <p:cNvSpPr>
            <a:spLocks noChangeArrowheads="1"/>
          </p:cNvSpPr>
          <p:nvPr/>
        </p:nvSpPr>
        <p:spPr bwMode="auto">
          <a:xfrm>
            <a:off x="6519863" y="1362075"/>
            <a:ext cx="2228850" cy="3381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600">
                <a:latin typeface="Tahoma" pitchFamily="34" charset="0"/>
              </a:rPr>
              <a:t>SPLANCNOCRANIO</a:t>
            </a:r>
          </a:p>
        </p:txBody>
      </p:sp>
      <p:sp>
        <p:nvSpPr>
          <p:cNvPr id="24" name="Stella a 4 punte 23"/>
          <p:cNvSpPr/>
          <p:nvPr/>
        </p:nvSpPr>
        <p:spPr>
          <a:xfrm>
            <a:off x="827088" y="4652963"/>
            <a:ext cx="215900" cy="215900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11284" name="Rettangolo 1"/>
          <p:cNvSpPr>
            <a:spLocks noChangeArrowheads="1"/>
          </p:cNvSpPr>
          <p:nvPr/>
        </p:nvSpPr>
        <p:spPr bwMode="auto">
          <a:xfrm>
            <a:off x="1763713" y="4602163"/>
            <a:ext cx="50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2000" b="1">
                <a:solidFill>
                  <a:srgbClr val="FF0000"/>
                </a:solidFill>
                <a:latin typeface="Tahoma" pitchFamily="34" charset="0"/>
              </a:rPr>
              <a:t>??</a:t>
            </a:r>
          </a:p>
        </p:txBody>
      </p:sp>
      <p:pic>
        <p:nvPicPr>
          <p:cNvPr id="11285" name="Segnaposto contenuto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4051300"/>
            <a:ext cx="207645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6" name="Segnaposto contenuto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088" y="3619500"/>
            <a:ext cx="6350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87" name="Rettangolo 1"/>
          <p:cNvSpPr>
            <a:spLocks noChangeArrowheads="1"/>
          </p:cNvSpPr>
          <p:nvPr/>
        </p:nvSpPr>
        <p:spPr bwMode="auto">
          <a:xfrm>
            <a:off x="3000375" y="1206500"/>
            <a:ext cx="504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600" b="1">
                <a:solidFill>
                  <a:srgbClr val="FF0000"/>
                </a:solidFill>
                <a:latin typeface="Tahoma" pitchFamily="34" charset="0"/>
              </a:rPr>
              <a:t>1</a:t>
            </a:r>
          </a:p>
        </p:txBody>
      </p:sp>
      <p:cxnSp>
        <p:nvCxnSpPr>
          <p:cNvPr id="28" name="Connettore 1 27"/>
          <p:cNvCxnSpPr/>
          <p:nvPr/>
        </p:nvCxnSpPr>
        <p:spPr>
          <a:xfrm>
            <a:off x="5840413" y="2852738"/>
            <a:ext cx="3095625" cy="0"/>
          </a:xfrm>
          <a:prstGeom prst="line">
            <a:avLst/>
          </a:prstGeom>
          <a:ln w="317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tella a 4 punte 28"/>
          <p:cNvSpPr/>
          <p:nvPr/>
        </p:nvSpPr>
        <p:spPr>
          <a:xfrm>
            <a:off x="2411413" y="6237288"/>
            <a:ext cx="215900" cy="215900"/>
          </a:xfrm>
          <a:prstGeom prst="star4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11290" name="Rettangolo 1"/>
          <p:cNvSpPr>
            <a:spLocks noChangeArrowheads="1"/>
          </p:cNvSpPr>
          <p:nvPr/>
        </p:nvSpPr>
        <p:spPr bwMode="auto">
          <a:xfrm>
            <a:off x="1497013" y="534988"/>
            <a:ext cx="5667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600" dirty="0">
                <a:solidFill>
                  <a:srgbClr val="FF0000"/>
                </a:solidFill>
                <a:latin typeface="Tahoma" pitchFamily="34" charset="0"/>
              </a:rPr>
              <a:t>SPL</a:t>
            </a:r>
          </a:p>
        </p:txBody>
      </p:sp>
      <p:sp>
        <p:nvSpPr>
          <p:cNvPr id="11291" name="Rettangolo 1"/>
          <p:cNvSpPr>
            <a:spLocks noChangeArrowheads="1"/>
          </p:cNvSpPr>
          <p:nvPr/>
        </p:nvSpPr>
        <p:spPr bwMode="auto">
          <a:xfrm>
            <a:off x="5794375" y="247650"/>
            <a:ext cx="2228850" cy="33813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it-IT" altLang="it-IT" sz="16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30" name="Ovale 29"/>
          <p:cNvSpPr/>
          <p:nvPr/>
        </p:nvSpPr>
        <p:spPr>
          <a:xfrm>
            <a:off x="7793038" y="4078288"/>
            <a:ext cx="1079500" cy="468312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cxnSp>
        <p:nvCxnSpPr>
          <p:cNvPr id="31" name="Connettore 1 30"/>
          <p:cNvCxnSpPr/>
          <p:nvPr/>
        </p:nvCxnSpPr>
        <p:spPr>
          <a:xfrm>
            <a:off x="5840413" y="3500438"/>
            <a:ext cx="309562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94" name="Rettangolo 1"/>
          <p:cNvSpPr>
            <a:spLocks noChangeArrowheads="1"/>
          </p:cNvSpPr>
          <p:nvPr/>
        </p:nvSpPr>
        <p:spPr bwMode="auto">
          <a:xfrm>
            <a:off x="2657475" y="896938"/>
            <a:ext cx="504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600" dirty="0">
                <a:solidFill>
                  <a:srgbClr val="000000"/>
                </a:solidFill>
                <a:latin typeface="Tahoma" pitchFamily="34" charset="0"/>
              </a:rPr>
              <a:t>A</a:t>
            </a:r>
          </a:p>
        </p:txBody>
      </p:sp>
      <p:sp>
        <p:nvSpPr>
          <p:cNvPr id="33" name="Ovale 32"/>
          <p:cNvSpPr/>
          <p:nvPr/>
        </p:nvSpPr>
        <p:spPr>
          <a:xfrm>
            <a:off x="3421063" y="5805488"/>
            <a:ext cx="1655762" cy="503237"/>
          </a:xfrm>
          <a:prstGeom prst="ellipse">
            <a:avLst/>
          </a:prstGeom>
          <a:noFill/>
          <a:ln>
            <a:solidFill>
              <a:schemeClr val="tx2">
                <a:lumMod val="50000"/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pPr algn="ctr" eaLnBrk="1" hangingPunct="1">
              <a:defRPr/>
            </a:pPr>
            <a:endParaRPr lang="it-IT" b="1" dirty="0">
              <a:solidFill>
                <a:schemeClr val="bg1"/>
              </a:solidFill>
            </a:endParaRPr>
          </a:p>
        </p:txBody>
      </p:sp>
      <p:sp>
        <p:nvSpPr>
          <p:cNvPr id="34" name="Arco 33"/>
          <p:cNvSpPr/>
          <p:nvPr/>
        </p:nvSpPr>
        <p:spPr>
          <a:xfrm rot="16200000">
            <a:off x="7734301" y="4343400"/>
            <a:ext cx="431800" cy="1584325"/>
          </a:xfrm>
          <a:prstGeom prst="arc">
            <a:avLst>
              <a:gd name="adj1" fmla="val 16200000"/>
              <a:gd name="adj2" fmla="val 564919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35" name="Ovale 34"/>
          <p:cNvSpPr/>
          <p:nvPr/>
        </p:nvSpPr>
        <p:spPr>
          <a:xfrm rot="1601307">
            <a:off x="7932738" y="5060950"/>
            <a:ext cx="309562" cy="503238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36" name="Stella a 4 punte 35"/>
          <p:cNvSpPr/>
          <p:nvPr/>
        </p:nvSpPr>
        <p:spPr>
          <a:xfrm>
            <a:off x="2411413" y="5734050"/>
            <a:ext cx="215900" cy="215900"/>
          </a:xfrm>
          <a:prstGeom prst="star4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41" name="Ovale 40"/>
          <p:cNvSpPr/>
          <p:nvPr/>
        </p:nvSpPr>
        <p:spPr>
          <a:xfrm>
            <a:off x="5400675" y="4794250"/>
            <a:ext cx="1511300" cy="360363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cxnSp>
        <p:nvCxnSpPr>
          <p:cNvPr id="42" name="Connettore 1 41"/>
          <p:cNvCxnSpPr/>
          <p:nvPr/>
        </p:nvCxnSpPr>
        <p:spPr>
          <a:xfrm>
            <a:off x="4392613" y="3213100"/>
            <a:ext cx="309562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01" name="Rettangolo 1"/>
          <p:cNvSpPr>
            <a:spLocks noChangeArrowheads="1"/>
          </p:cNvSpPr>
          <p:nvPr/>
        </p:nvSpPr>
        <p:spPr bwMode="auto">
          <a:xfrm>
            <a:off x="3094038" y="144463"/>
            <a:ext cx="1296987" cy="584200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it-IT" altLang="it-IT" sz="1600">
                <a:latin typeface="Tahoma" pitchFamily="34" charset="0"/>
              </a:rPr>
              <a:t>Martini,Cap. Embriologia</a:t>
            </a:r>
          </a:p>
        </p:txBody>
      </p:sp>
      <p:sp>
        <p:nvSpPr>
          <p:cNvPr id="11302" name="Rettangolo 1"/>
          <p:cNvSpPr>
            <a:spLocks noChangeArrowheads="1"/>
          </p:cNvSpPr>
          <p:nvPr/>
        </p:nvSpPr>
        <p:spPr bwMode="auto">
          <a:xfrm>
            <a:off x="4211638" y="1200150"/>
            <a:ext cx="1350962" cy="33813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it-IT" altLang="it-IT" sz="1600">
                <a:solidFill>
                  <a:srgbClr val="FF0000"/>
                </a:solidFill>
                <a:latin typeface="Tahoma" pitchFamily="34" charset="0"/>
              </a:rPr>
              <a:t>MARTINI</a:t>
            </a:r>
          </a:p>
        </p:txBody>
      </p:sp>
      <p:sp>
        <p:nvSpPr>
          <p:cNvPr id="47" name="Ovale 46"/>
          <p:cNvSpPr/>
          <p:nvPr/>
        </p:nvSpPr>
        <p:spPr>
          <a:xfrm rot="16200000">
            <a:off x="3203575" y="4508501"/>
            <a:ext cx="2376487" cy="360362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cxnSp>
        <p:nvCxnSpPr>
          <p:cNvPr id="48" name="Connettore 1 47"/>
          <p:cNvCxnSpPr/>
          <p:nvPr/>
        </p:nvCxnSpPr>
        <p:spPr>
          <a:xfrm>
            <a:off x="4545013" y="3365500"/>
            <a:ext cx="3095625" cy="0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e 48"/>
          <p:cNvSpPr/>
          <p:nvPr/>
        </p:nvSpPr>
        <p:spPr>
          <a:xfrm rot="16200000">
            <a:off x="8362157" y="6106318"/>
            <a:ext cx="368300" cy="512763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11306" name="Rettangolo 1"/>
          <p:cNvSpPr>
            <a:spLocks noChangeArrowheads="1"/>
          </p:cNvSpPr>
          <p:nvPr/>
        </p:nvSpPr>
        <p:spPr bwMode="auto">
          <a:xfrm>
            <a:off x="8245475" y="66675"/>
            <a:ext cx="863600" cy="338138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it-IT" altLang="it-IT" sz="1600">
                <a:latin typeface="Tahoma" pitchFamily="34" charset="0"/>
              </a:rPr>
              <a:t>V3,11</a:t>
            </a:r>
          </a:p>
        </p:txBody>
      </p:sp>
      <p:sp>
        <p:nvSpPr>
          <p:cNvPr id="11307" name="Rettangolo 1"/>
          <p:cNvSpPr>
            <a:spLocks noChangeArrowheads="1"/>
          </p:cNvSpPr>
          <p:nvPr/>
        </p:nvSpPr>
        <p:spPr bwMode="auto">
          <a:xfrm>
            <a:off x="8459788" y="498475"/>
            <a:ext cx="649287" cy="338138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it-IT" altLang="it-IT" sz="1600">
                <a:latin typeface="Tahoma" pitchFamily="34" charset="0"/>
              </a:rPr>
              <a:t>342</a:t>
            </a:r>
          </a:p>
        </p:txBody>
      </p:sp>
      <p:sp>
        <p:nvSpPr>
          <p:cNvPr id="52" name="Ovale 51"/>
          <p:cNvSpPr/>
          <p:nvPr/>
        </p:nvSpPr>
        <p:spPr>
          <a:xfrm>
            <a:off x="2843213" y="4810125"/>
            <a:ext cx="2376487" cy="360363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cxnSp>
        <p:nvCxnSpPr>
          <p:cNvPr id="55" name="Connettore 2 54"/>
          <p:cNvCxnSpPr/>
          <p:nvPr/>
        </p:nvCxnSpPr>
        <p:spPr>
          <a:xfrm flipV="1">
            <a:off x="882650" y="5300663"/>
            <a:ext cx="17463" cy="64293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0201_03.jpg">
            <a:extLst>
              <a:ext uri="{FF2B5EF4-FFF2-40B4-BE49-F238E27FC236}">
                <a16:creationId xmlns:a16="http://schemas.microsoft.com/office/drawing/2014/main" id="{FBACB63D-AC31-BB8C-A41D-EF2D691AC85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</a:blip>
          <a:srcRect t="83218" r="54167"/>
          <a:stretch>
            <a:fillRect/>
          </a:stretch>
        </p:blipFill>
        <p:spPr>
          <a:xfrm>
            <a:off x="4779680" y="3791557"/>
            <a:ext cx="2805678" cy="4899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58228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it-IT" dirty="0"/>
              <a:t>“ANELLO PELVICO” = BACINO</a:t>
            </a:r>
          </a:p>
        </p:txBody>
      </p:sp>
      <p:graphicFrame>
        <p:nvGraphicFramePr>
          <p:cNvPr id="43011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123825" y="908050"/>
          <a:ext cx="4321175" cy="489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2429214" imgH="2752381" progId="MSPhotoEd.3">
                  <p:embed/>
                </p:oleObj>
              </mc:Choice>
              <mc:Fallback>
                <p:oleObj name="Fotografia di Photo Editor" r:id="rId2" imgW="2429214" imgH="2752381" progId="MSPhotoEd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25" y="908050"/>
                        <a:ext cx="4321175" cy="489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4518025" y="909638"/>
          <a:ext cx="4576763" cy="489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4" imgW="1781424" imgH="1905266" progId="MSPhotoEd.3">
                  <p:embed/>
                </p:oleObj>
              </mc:Choice>
              <mc:Fallback>
                <p:oleObj name="Fotografia di Photo Editor" r:id="rId4" imgW="1781424" imgH="1905266" progId="MSPhotoEd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8025" y="909638"/>
                        <a:ext cx="4576763" cy="489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68313" y="5964238"/>
            <a:ext cx="8229600" cy="77787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GB" altLang="it-IT" sz="3200" kern="0" dirty="0" err="1">
                <a:effectLst/>
              </a:rPr>
              <a:t>Importanza</a:t>
            </a:r>
            <a:r>
              <a:rPr lang="en-GB" altLang="it-IT" sz="3200" kern="0" dirty="0">
                <a:effectLst/>
              </a:rPr>
              <a:t> </a:t>
            </a:r>
            <a:r>
              <a:rPr lang="en-GB" altLang="it-IT" sz="3200" kern="0" dirty="0" err="1">
                <a:effectLst/>
              </a:rPr>
              <a:t>della</a:t>
            </a:r>
            <a:r>
              <a:rPr lang="en-GB" altLang="it-IT" sz="3200" kern="0" dirty="0">
                <a:effectLst/>
              </a:rPr>
              <a:t> </a:t>
            </a:r>
            <a:r>
              <a:rPr lang="en-GB" altLang="it-IT" sz="3200" b="1" kern="0" dirty="0" err="1">
                <a:effectLst/>
              </a:rPr>
              <a:t>simmetria</a:t>
            </a:r>
            <a:r>
              <a:rPr lang="en-GB" altLang="it-IT" sz="3200" kern="0" dirty="0">
                <a:effectLst/>
              </a:rPr>
              <a:t> del </a:t>
            </a:r>
            <a:r>
              <a:rPr lang="en-GB" altLang="it-IT" sz="3200" kern="0" dirty="0" err="1">
                <a:effectLst/>
              </a:rPr>
              <a:t>bacino</a:t>
            </a:r>
            <a:endParaRPr lang="en-GB" altLang="it-IT" sz="3200" kern="0" dirty="0">
              <a:effectLst/>
            </a:endParaRPr>
          </a:p>
          <a:p>
            <a:pPr eaLnBrk="1" hangingPunct="1">
              <a:defRPr/>
            </a:pPr>
            <a:endParaRPr lang="en-GB" altLang="it-IT" sz="3200" kern="0" dirty="0">
              <a:effectLst/>
            </a:endParaRPr>
          </a:p>
        </p:txBody>
      </p:sp>
      <p:sp>
        <p:nvSpPr>
          <p:cNvPr id="6" name="Ovale 5"/>
          <p:cNvSpPr/>
          <p:nvPr/>
        </p:nvSpPr>
        <p:spPr>
          <a:xfrm>
            <a:off x="2124075" y="908050"/>
            <a:ext cx="396875" cy="360363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43015" name="Rettangolo 1"/>
          <p:cNvSpPr>
            <a:spLocks noChangeArrowheads="1"/>
          </p:cNvSpPr>
          <p:nvPr/>
        </p:nvSpPr>
        <p:spPr bwMode="auto">
          <a:xfrm>
            <a:off x="7956550" y="-6350"/>
            <a:ext cx="1152525" cy="339725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KAPANDJI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Segnaposto contenuto 3" descr="pg138_a.gif"/>
          <p:cNvPicPr>
            <a:picLocks noGrp="1" noChangeAspect="1"/>
          </p:cNvPicPr>
          <p:nvPr>
            <p:ph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9" r="7171" b="30332"/>
          <a:stretch/>
        </p:blipFill>
        <p:spPr>
          <a:xfrm>
            <a:off x="180889" y="255588"/>
            <a:ext cx="8783599" cy="6291174"/>
          </a:xfrm>
        </p:spPr>
      </p:pic>
      <p:sp>
        <p:nvSpPr>
          <p:cNvPr id="3" name="Rettangolo 1"/>
          <p:cNvSpPr>
            <a:spLocks noChangeArrowheads="1"/>
          </p:cNvSpPr>
          <p:nvPr/>
        </p:nvSpPr>
        <p:spPr bwMode="auto">
          <a:xfrm>
            <a:off x="8243193" y="426566"/>
            <a:ext cx="649287" cy="338138"/>
          </a:xfrm>
          <a:prstGeom prst="rect">
            <a:avLst/>
          </a:prstGeom>
          <a:solidFill>
            <a:schemeClr val="tx1"/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it-IT" altLang="it-IT" sz="1600" dirty="0">
                <a:solidFill>
                  <a:schemeClr val="accent4">
                    <a:lumMod val="10000"/>
                  </a:schemeClr>
                </a:solidFill>
              </a:rPr>
              <a:t>138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Segnaposto contenuto 3" descr="pg139_c.gif"/>
          <p:cNvPicPr>
            <a:picLocks noGrp="1" noChangeAspect="1"/>
          </p:cNvPicPr>
          <p:nvPr>
            <p:ph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5" t="3466" r="7039" b="35789"/>
          <a:stretch/>
        </p:blipFill>
        <p:spPr>
          <a:xfrm>
            <a:off x="179513" y="620688"/>
            <a:ext cx="8727766" cy="5688632"/>
          </a:xfrm>
        </p:spPr>
      </p:pic>
      <p:sp>
        <p:nvSpPr>
          <p:cNvPr id="3" name="Rettangolo 1"/>
          <p:cNvSpPr>
            <a:spLocks noChangeArrowheads="1"/>
          </p:cNvSpPr>
          <p:nvPr/>
        </p:nvSpPr>
        <p:spPr bwMode="auto">
          <a:xfrm>
            <a:off x="8244408" y="260648"/>
            <a:ext cx="649287" cy="338138"/>
          </a:xfrm>
          <a:prstGeom prst="rect">
            <a:avLst/>
          </a:prstGeom>
          <a:solidFill>
            <a:schemeClr val="tx1"/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it-IT" altLang="it-IT" sz="1600" dirty="0">
                <a:solidFill>
                  <a:schemeClr val="accent4">
                    <a:lumMod val="10000"/>
                  </a:schemeClr>
                </a:solidFill>
              </a:rPr>
              <a:t>139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146250"/>
          </a:xfrm>
        </p:spPr>
        <p:txBody>
          <a:bodyPr/>
          <a:lstStyle/>
          <a:p>
            <a:pPr algn="ctr"/>
            <a:r>
              <a:rPr lang="it-IT" dirty="0"/>
              <a:t>ANTIVERSIONE = NUTAZIONE</a:t>
            </a:r>
            <a:br>
              <a:rPr lang="it-IT" dirty="0"/>
            </a:br>
            <a:r>
              <a:rPr lang="it-IT" dirty="0"/>
              <a:t>RETROVERSIONE = CONTRONUTAZIONE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3914336" y="2685776"/>
            <a:ext cx="5117123" cy="3263504"/>
          </a:xfrm>
        </p:spPr>
        <p:txBody>
          <a:bodyPr>
            <a:normAutofit fontScale="92500" lnSpcReduction="20000"/>
          </a:bodyPr>
          <a:lstStyle/>
          <a:p>
            <a:r>
              <a:rPr lang="it-IT" dirty="0">
                <a:hlinkClick r:id="rId2"/>
              </a:rPr>
              <a:t>https://www.youtube.com/watch?v=LahJTpJKJu4</a:t>
            </a:r>
          </a:p>
          <a:p>
            <a:pPr marL="0" indent="0">
              <a:buNone/>
            </a:pPr>
            <a:endParaRPr lang="it-IT" dirty="0">
              <a:hlinkClick r:id="rId2"/>
            </a:endParaRPr>
          </a:p>
          <a:p>
            <a:r>
              <a:rPr lang="it-IT" dirty="0">
                <a:hlinkClick r:id="rId3"/>
              </a:rPr>
              <a:t>https://www.youtube.com/watch?v=p3U6aKcSnHw</a:t>
            </a:r>
            <a:endParaRPr lang="it-IT" dirty="0"/>
          </a:p>
          <a:p>
            <a:endParaRPr lang="it-IT" dirty="0"/>
          </a:p>
          <a:p>
            <a:r>
              <a:rPr lang="it-IT" dirty="0">
                <a:hlinkClick r:id="rId2"/>
              </a:rPr>
              <a:t>https://www.youtube.com/watch?v=4K2TMs5ff-w</a:t>
            </a:r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147711" y="2685776"/>
            <a:ext cx="4315265" cy="3263504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in ORTOSTATISMO (POSIZIONE ERETTA, dal 46° al 55°secondo).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dirty="0"/>
              <a:t>In CLINOSTATISMO (POSIZIONE ORIZZONTALE, SUPINA)</a:t>
            </a:r>
          </a:p>
          <a:p>
            <a:endParaRPr lang="it-IT" dirty="0"/>
          </a:p>
          <a:p>
            <a:r>
              <a:rPr lang="it-IT" dirty="0"/>
              <a:t>In POSIZIONE SEDUTA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934154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32583" y="44624"/>
            <a:ext cx="8409842" cy="1440160"/>
          </a:xfrm>
        </p:spPr>
        <p:txBody>
          <a:bodyPr/>
          <a:lstStyle/>
          <a:p>
            <a:pPr algn="ctr"/>
            <a:r>
              <a:rPr lang="it-IT" dirty="0"/>
              <a:t>Ci sono molti prodotti ergonomici sul mercato…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1556792"/>
            <a:ext cx="7886700" cy="3300864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Aiutano a non restare «fermi» per ore:</a:t>
            </a:r>
          </a:p>
          <a:p>
            <a:r>
              <a:rPr lang="it-IT" dirty="0">
                <a:hlinkClick r:id="rId2"/>
              </a:rPr>
              <a:t>https://www.youtube.com/watch?v=z3QkdfOuASI&amp;feature=emb_rel_end</a:t>
            </a:r>
            <a:endParaRPr lang="it-IT" dirty="0"/>
          </a:p>
          <a:p>
            <a:endParaRPr lang="it-IT" dirty="0"/>
          </a:p>
          <a:p>
            <a:r>
              <a:rPr lang="it-IT" dirty="0"/>
              <a:t>Ma… state ATTENTI  a non esagerare!</a:t>
            </a:r>
          </a:p>
          <a:p>
            <a:r>
              <a:rPr lang="it-IT" dirty="0">
                <a:hlinkClick r:id="rId3"/>
              </a:rPr>
              <a:t>https://www.youtube.com/watch?v=sZ93F03p5OY</a:t>
            </a:r>
            <a:endParaRPr lang="it-IT" dirty="0"/>
          </a:p>
          <a:p>
            <a:endParaRPr lang="it-IT" dirty="0"/>
          </a:p>
          <a:p>
            <a:r>
              <a:rPr lang="it-IT" dirty="0"/>
              <a:t>Ogni tanto, rilassatevi…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3933056"/>
            <a:ext cx="3701574" cy="2597237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4922949"/>
            <a:ext cx="4107656" cy="1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035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8650" y="332656"/>
            <a:ext cx="7886700" cy="994172"/>
          </a:xfrm>
        </p:spPr>
        <p:txBody>
          <a:bodyPr/>
          <a:lstStyle/>
          <a:p>
            <a:r>
              <a:rPr lang="it-IT" dirty="0"/>
              <a:t>Infine, per la </a:t>
            </a:r>
            <a:r>
              <a:rPr lang="it-IT" b="1" dirty="0"/>
              <a:t>SPONDILOLISTESI e la SPONDILOLISI</a:t>
            </a:r>
            <a:r>
              <a:rPr lang="it-IT" dirty="0"/>
              <a:t>: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28650" y="2452341"/>
            <a:ext cx="7886700" cy="309120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it-IT" dirty="0">
              <a:hlinkClick r:id="rId2"/>
            </a:endParaRPr>
          </a:p>
          <a:p>
            <a:r>
              <a:rPr lang="it-IT" dirty="0"/>
              <a:t>Filmato con esercizi (spondilolistesi):</a:t>
            </a:r>
          </a:p>
          <a:p>
            <a:endParaRPr lang="it-IT" dirty="0">
              <a:hlinkClick r:id="rId2"/>
            </a:endParaRPr>
          </a:p>
          <a:p>
            <a:pPr marL="0" indent="0">
              <a:buNone/>
            </a:pPr>
            <a:r>
              <a:rPr lang="it-IT" dirty="0">
                <a:hlinkClick r:id="rId2"/>
              </a:rPr>
              <a:t>https://www.youtube.com/watch?v=NEaxyqKuOUU</a:t>
            </a:r>
            <a:endParaRPr lang="it-IT" dirty="0"/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Questo filmato è per quando dovrete superare l’esame di clinica Ortopedica!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hlinkClick r:id="rId3"/>
              </a:rPr>
              <a:t>https://www.youtube.com/watch?v=kkcPq81KMIQ</a:t>
            </a:r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068355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Segnaposto contenuto 3" descr="pg115_d.gif"/>
          <p:cNvPicPr>
            <a:picLocks noGrp="1" noChangeAspect="1"/>
          </p:cNvPicPr>
          <p:nvPr>
            <p:ph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0" b="34601"/>
          <a:stretch/>
        </p:blipFill>
        <p:spPr>
          <a:xfrm>
            <a:off x="179512" y="115888"/>
            <a:ext cx="5516563" cy="3384376"/>
          </a:xfrm>
        </p:spPr>
      </p:pic>
      <p:pic>
        <p:nvPicPr>
          <p:cNvPr id="23555" name="Segnaposto contenuto 3" descr="pg115_e.gif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9" t="2658" r="7344" b="31933"/>
          <a:stretch/>
        </p:blipFill>
        <p:spPr bwMode="auto">
          <a:xfrm>
            <a:off x="3995936" y="3140968"/>
            <a:ext cx="4968552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Rettangolo 1"/>
          <p:cNvSpPr>
            <a:spLocks noChangeArrowheads="1"/>
          </p:cNvSpPr>
          <p:nvPr/>
        </p:nvSpPr>
        <p:spPr bwMode="auto">
          <a:xfrm>
            <a:off x="8386763" y="115888"/>
            <a:ext cx="649287" cy="338137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115</a:t>
            </a:r>
          </a:p>
        </p:txBody>
      </p:sp>
    </p:spTree>
    <p:extLst>
      <p:ext uri="{BB962C8B-B14F-4D97-AF65-F5344CB8AC3E}">
        <p14:creationId xmlns:p14="http://schemas.microsoft.com/office/powerpoint/2010/main" val="9311611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Segnaposto contenuto 3" descr="413c.gif"/>
          <p:cNvPicPr>
            <a:picLocks noGrp="1" noChangeAspect="1"/>
          </p:cNvPicPr>
          <p:nvPr>
            <p:ph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2" r="9363" b="24427"/>
          <a:stretch/>
        </p:blipFill>
        <p:spPr>
          <a:xfrm>
            <a:off x="179512" y="189036"/>
            <a:ext cx="5112568" cy="4680124"/>
          </a:xfrm>
        </p:spPr>
      </p:pic>
      <p:pic>
        <p:nvPicPr>
          <p:cNvPr id="24579" name="Segnaposto contenuto 3" descr="413d.gif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0" r="1895" b="35294"/>
          <a:stretch/>
        </p:blipFill>
        <p:spPr bwMode="auto">
          <a:xfrm>
            <a:off x="4184390" y="3933056"/>
            <a:ext cx="4492066" cy="269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Rettangolo 1"/>
          <p:cNvSpPr>
            <a:spLocks noChangeArrowheads="1"/>
          </p:cNvSpPr>
          <p:nvPr/>
        </p:nvSpPr>
        <p:spPr bwMode="auto">
          <a:xfrm>
            <a:off x="6444208" y="980728"/>
            <a:ext cx="144145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OSSO DELL’ANCA</a:t>
            </a:r>
          </a:p>
        </p:txBody>
      </p:sp>
      <p:sp>
        <p:nvSpPr>
          <p:cNvPr id="24582" name="Rettangolo 1"/>
          <p:cNvSpPr>
            <a:spLocks noChangeArrowheads="1"/>
          </p:cNvSpPr>
          <p:nvPr/>
        </p:nvSpPr>
        <p:spPr bwMode="auto">
          <a:xfrm>
            <a:off x="8244408" y="189036"/>
            <a:ext cx="649287" cy="338137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412</a:t>
            </a:r>
          </a:p>
        </p:txBody>
      </p:sp>
      <p:sp>
        <p:nvSpPr>
          <p:cNvPr id="24583" name="Rettangolo 1"/>
          <p:cNvSpPr>
            <a:spLocks noChangeArrowheads="1"/>
          </p:cNvSpPr>
          <p:nvPr/>
        </p:nvSpPr>
        <p:spPr bwMode="auto">
          <a:xfrm>
            <a:off x="7401723" y="4638398"/>
            <a:ext cx="1274733" cy="66281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it-IT" altLang="it-IT" sz="16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9394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ESENTER_VERSION" val="6"/>
  <p:tag name="ARTICULATE_PROJECT_CHECK" val="0"/>
  <p:tag name="ARTICULATE_PROJECT_OPEN" val="0"/>
</p:tagLst>
</file>

<file path=ppt/theme/theme1.xml><?xml version="1.0" encoding="utf-8"?>
<a:theme xmlns:a="http://schemas.openxmlformats.org/drawingml/2006/main" name="1_Strutturato">
  <a:themeElements>
    <a:clrScheme name="1_Strutturato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1_Strutturat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trutturato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to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3158</TotalTime>
  <Words>950</Words>
  <Application>Microsoft Office PowerPoint</Application>
  <PresentationFormat>Presentazione su schermo (4:3)</PresentationFormat>
  <Paragraphs>208</Paragraphs>
  <Slides>46</Slides>
  <Notes>7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46</vt:i4>
      </vt:variant>
    </vt:vector>
  </HeadingPairs>
  <TitlesOfParts>
    <vt:vector size="54" baseType="lpstr">
      <vt:lpstr>Arial</vt:lpstr>
      <vt:lpstr>Arial Black</vt:lpstr>
      <vt:lpstr>Calibri</vt:lpstr>
      <vt:lpstr>Tahoma</vt:lpstr>
      <vt:lpstr>Times New Roman</vt:lpstr>
      <vt:lpstr>Wingdings</vt:lpstr>
      <vt:lpstr>1_Strutturato</vt:lpstr>
      <vt:lpstr>Fotografia di Photo Editor</vt:lpstr>
      <vt:lpstr>PARTE «FISSA» DELLA CV: OSSO SACRO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Fenotipo STATICO / DINAMICO</vt:lpstr>
      <vt:lpstr>INFLUENZA DELLA MUSCOLATURA SULLA LORDOSI LOMBARE</vt:lpstr>
      <vt:lpstr>INFLUENZA DELLA MUSCOLATURA SULLA LORDOSI LOMBARE</vt:lpstr>
      <vt:lpstr>INFLUENZA DELLA MUSCOLATURA SULLA LORDOSI LOMBARE</vt:lpstr>
      <vt:lpstr>Presentazione standard di PowerPoint</vt:lpstr>
      <vt:lpstr>Presentazione standard di PowerPoint</vt:lpstr>
      <vt:lpstr>ORTOSTATISMO e in CLINOSTATISMO:   Stessa immagine RUOTATA di 90°                                                    Il muscolo PSOAS                                                 trascina le vertebre lombari verso la coscia                                       causando l’antiversione del bacino                                       con iper-lordosi.</vt:lpstr>
      <vt:lpstr>TENDENZA ALL’ANTIVERSIONE</vt:lpstr>
      <vt:lpstr>Presentazione standard di PowerPoint</vt:lpstr>
      <vt:lpstr>SQUILIBRIO MUSCOLARE CON ATTEGGIAMENTO IN ANTIVERSIONE</vt:lpstr>
      <vt:lpstr>SPONDILOLISTESI / SPONDILOLISI</vt:lpstr>
      <vt:lpstr>Presentazione standard di PowerPoint</vt:lpstr>
      <vt:lpstr>SQUILIBRIO MUSCOLARE ATTEGGIAMENTO IN ANTIVERSIONE</vt:lpstr>
      <vt:lpstr>QUANDO SIETE SEDUTI…</vt:lpstr>
      <vt:lpstr>Presentazione standard di PowerPoint</vt:lpstr>
      <vt:lpstr>POSIZIONE «FETALE»</vt:lpstr>
      <vt:lpstr>Presentazione standard di PowerPoint</vt:lpstr>
      <vt:lpstr>DISMETRIE DEGLI ARTI INFERIORI</vt:lpstr>
      <vt:lpstr>Segno di Galeazzi (test di Galeazzi-Prettin/Allis). </vt:lpstr>
      <vt:lpstr>Presentazione standard di PowerPoint</vt:lpstr>
      <vt:lpstr>SCOLIOSI «IDIOPATICA»</vt:lpstr>
      <vt:lpstr>SCOLIOSI</vt:lpstr>
      <vt:lpstr>SCOLIOSI</vt:lpstr>
      <vt:lpstr>ROTAZIONE AUTOMATICA DEL RACHIDE DURANTE LA FLESSIONE LATERALE</vt:lpstr>
      <vt:lpstr>SCOLIOSI</vt:lpstr>
      <vt:lpstr>SCOLIOSI = FISSAZIONE DELLA ROTAZIONE IN FLESSIONE ANTERIORE</vt:lpstr>
      <vt:lpstr>Presentazione standard di PowerPoint</vt:lpstr>
      <vt:lpstr>Presentazione standard di PowerPoint</vt:lpstr>
      <vt:lpstr>Presentazione standard di PowerPoint</vt:lpstr>
      <vt:lpstr>“ANELLO PELVICO” = BACINO</vt:lpstr>
      <vt:lpstr>Presentazione standard di PowerPoint</vt:lpstr>
      <vt:lpstr>Presentazione standard di PowerPoint</vt:lpstr>
      <vt:lpstr>ANTIVERSIONE = NUTAZIONE RETROVERSIONE = CONTRONUTAZIONE</vt:lpstr>
      <vt:lpstr>Ci sono molti prodotti ergonomici sul mercato…</vt:lpstr>
      <vt:lpstr>Infine, per la SPONDILOLISTESI e la SPONDILOLISI: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Fabrizio Crisafulli</dc:creator>
  <cp:lastModifiedBy>gabriella cusella</cp:lastModifiedBy>
  <cp:revision>352</cp:revision>
  <dcterms:created xsi:type="dcterms:W3CDTF">2002-09-16T09:40:28Z</dcterms:created>
  <dcterms:modified xsi:type="dcterms:W3CDTF">2026-02-16T14:37:04Z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UseProject">
    <vt:lpwstr>1</vt:lpwstr>
  </property>
  <property fmtid="{D5CDD505-2E9C-101B-9397-08002B2CF9AE}" pid="3" name="ArticulatePath">
    <vt:lpwstr>Cap1</vt:lpwstr>
  </property>
  <property fmtid="{D5CDD505-2E9C-101B-9397-08002B2CF9AE}" pid="4" name="ArticulateGUID">
    <vt:lpwstr>1A36A2F8-C520-479C-AF55-7827F99676CC</vt:lpwstr>
  </property>
  <property fmtid="{D5CDD505-2E9C-101B-9397-08002B2CF9AE}" pid="5" name="ArticulateProjectFull">
    <vt:lpwstr>C:\Users\pdelvecchio.EDI\Desktop\Sedra\PPT\Capitolo1.ppta</vt:lpwstr>
  </property>
</Properties>
</file>